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28"/>
  </p:notesMasterIdLst>
  <p:handoutMasterIdLst>
    <p:handoutMasterId r:id="rId29"/>
  </p:handoutMasterIdLst>
  <p:sldIdLst>
    <p:sldId id="330" r:id="rId2"/>
    <p:sldId id="272" r:id="rId3"/>
    <p:sldId id="280" r:id="rId4"/>
    <p:sldId id="257" r:id="rId5"/>
    <p:sldId id="292" r:id="rId6"/>
    <p:sldId id="294" r:id="rId7"/>
    <p:sldId id="293" r:id="rId8"/>
    <p:sldId id="258" r:id="rId9"/>
    <p:sldId id="308" r:id="rId10"/>
    <p:sldId id="307" r:id="rId11"/>
    <p:sldId id="309" r:id="rId12"/>
    <p:sldId id="316" r:id="rId13"/>
    <p:sldId id="322" r:id="rId14"/>
    <p:sldId id="317" r:id="rId15"/>
    <p:sldId id="323" r:id="rId16"/>
    <p:sldId id="318" r:id="rId17"/>
    <p:sldId id="324" r:id="rId18"/>
    <p:sldId id="319" r:id="rId19"/>
    <p:sldId id="325" r:id="rId20"/>
    <p:sldId id="320" r:id="rId21"/>
    <p:sldId id="329" r:id="rId22"/>
    <p:sldId id="300" r:id="rId23"/>
    <p:sldId id="331" r:id="rId24"/>
    <p:sldId id="306" r:id="rId25"/>
    <p:sldId id="328" r:id="rId26"/>
    <p:sldId id="268" r:id="rId27"/>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97" autoAdjust="0"/>
    <p:restoredTop sz="95153"/>
  </p:normalViewPr>
  <p:slideViewPr>
    <p:cSldViewPr snapToGrid="0" snapToObjects="1">
      <p:cViewPr varScale="1">
        <p:scale>
          <a:sx n="92" d="100"/>
          <a:sy n="92" d="100"/>
        </p:scale>
        <p:origin x="1005" y="60"/>
      </p:cViewPr>
      <p:guideLst/>
    </p:cSldViewPr>
  </p:slideViewPr>
  <p:notesTextViewPr>
    <p:cViewPr>
      <p:scale>
        <a:sx n="1" d="1"/>
        <a:sy n="1" d="1"/>
      </p:scale>
      <p:origin x="0" y="0"/>
    </p:cViewPr>
  </p:notesTextViewPr>
  <p:notesViewPr>
    <p:cSldViewPr snapToGrid="0" snapToObjects="1">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0F265C-9DF2-E8FB-C281-49A95720C62B}"/>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C688A12-072E-E9DD-75D8-792036B5CAB6}"/>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A85F0298-9D9B-42EE-9FBC-5BF5BA8C94E8}" type="datetimeFigureOut">
              <a:rPr lang="en-GB" smtClean="0"/>
              <a:t>28/09/2026</a:t>
            </a:fld>
            <a:endParaRPr lang="en-GB"/>
          </a:p>
        </p:txBody>
      </p:sp>
      <p:sp>
        <p:nvSpPr>
          <p:cNvPr id="4" name="Footer Placeholder 3">
            <a:extLst>
              <a:ext uri="{FF2B5EF4-FFF2-40B4-BE49-F238E27FC236}">
                <a16:creationId xmlns:a16="http://schemas.microsoft.com/office/drawing/2014/main" id="{A4286D79-EFC6-014D-40F3-68F8FB024E05}"/>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0CA9D36-8240-DBBB-128E-9E573BE9AC2B}"/>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83C436C1-A97E-48B9-A38A-E4B8449736C9}" type="slidenum">
              <a:rPr lang="en-GB" smtClean="0"/>
              <a:t>‹#›</a:t>
            </a:fld>
            <a:endParaRPr lang="en-GB"/>
          </a:p>
        </p:txBody>
      </p:sp>
    </p:spTree>
    <p:extLst>
      <p:ext uri="{BB962C8B-B14F-4D97-AF65-F5344CB8AC3E}">
        <p14:creationId xmlns:p14="http://schemas.microsoft.com/office/powerpoint/2010/main" val="1291430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176F15EC-E103-EA4C-8F3D-F70BFBFE368F}" type="datetimeFigureOut">
              <a:rPr lang="en-BD" smtClean="0"/>
              <a:t>09/28/2026</a:t>
            </a:fld>
            <a:endParaRPr lang="en-BD"/>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915D39E-BF79-5044-9B9C-292D64001D90}" type="slidenum">
              <a:rPr lang="en-BD" smtClean="0"/>
              <a:t>‹#›</a:t>
            </a:fld>
            <a:endParaRPr lang="en-BD"/>
          </a:p>
        </p:txBody>
      </p:sp>
    </p:spTree>
    <p:extLst>
      <p:ext uri="{BB962C8B-B14F-4D97-AF65-F5344CB8AC3E}">
        <p14:creationId xmlns:p14="http://schemas.microsoft.com/office/powerpoint/2010/main" val="130034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Times New Roman"/>
                <a:ea typeface="+mn-ea"/>
                <a:cs typeface="Times New Roman"/>
              </a:defRPr>
            </a:lvl1pPr>
          </a:lstStyle>
          <a:p>
            <a:r>
              <a:rPr lang="en-GB" dirty="0">
                <a:latin typeface="Times New Roman"/>
                <a:cs typeface="Times New Roman"/>
              </a:rPr>
              <a:t>Click to edit Master title style</a:t>
            </a:r>
            <a:endParaRPr lang="en-US" dirty="0">
              <a:latin typeface="Times New Roman"/>
              <a:cs typeface="Times New Roman"/>
            </a:endParaRPr>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latin typeface="Times New Roman"/>
                <a:cs typeface="Times New Roman"/>
              </a:defRPr>
            </a:lvl1pPr>
            <a:lvl2pPr marL="457200" indent="0" algn="ctr">
              <a:buNone/>
              <a:defRPr sz="1600">
                <a:latin typeface="Times New Roman"/>
                <a:cs typeface="Times New Roman"/>
              </a:defRPr>
            </a:lvl2pPr>
            <a:lvl3pPr marL="914400" indent="0" algn="ctr">
              <a:buNone/>
              <a:defRPr sz="1600">
                <a:latin typeface="Times New Roman"/>
                <a:cs typeface="Times New Roman"/>
              </a:defRPr>
            </a:lvl3pPr>
            <a:lvl4pPr marL="1371600" indent="0" algn="ctr">
              <a:buNone/>
              <a:defRPr sz="1600">
                <a:latin typeface="Times New Roman"/>
                <a:cs typeface="Times New Roman"/>
              </a:defRPr>
            </a:lvl4pPr>
            <a:lvl5pPr marL="1828800" indent="0" algn="ctr">
              <a:buNone/>
              <a:defRPr sz="1600">
                <a:latin typeface="Times New Roman"/>
                <a:cs typeface="Times New Roman"/>
              </a:defRPr>
            </a:lvl5pPr>
            <a:lvl6pPr marL="2286000" indent="0" algn="ctr">
              <a:buNone/>
              <a:defRPr sz="1600">
                <a:latin typeface="Times New Roman"/>
                <a:cs typeface="Times New Roman"/>
              </a:defRPr>
            </a:lvl6pPr>
            <a:lvl7pPr marL="2743200" indent="0" algn="ctr">
              <a:buNone/>
              <a:defRPr sz="1600">
                <a:latin typeface="Times New Roman"/>
                <a:cs typeface="Times New Roman"/>
              </a:defRPr>
            </a:lvl7pPr>
            <a:lvl8pPr marL="3200400" indent="0" algn="ctr">
              <a:buNone/>
              <a:defRPr sz="1600">
                <a:latin typeface="Times New Roman"/>
                <a:cs typeface="Times New Roman"/>
              </a:defRPr>
            </a:lvl8pPr>
            <a:lvl9pPr marL="3657600" indent="0" algn="ctr">
              <a:buNone/>
              <a:defRPr sz="1600">
                <a:latin typeface="Times New Roman"/>
                <a:cs typeface="Times New Roman"/>
              </a:defRPr>
            </a:lvl9pPr>
          </a:lstStyle>
          <a:p>
            <a:r>
              <a:rPr lang="en-GB">
                <a:latin typeface="Times New Roman"/>
                <a:cs typeface="Times New Roman"/>
              </a:rPr>
              <a:t>Click to edit Master subtitle style</a:t>
            </a:r>
            <a:endParaRPr lang="en-US" dirty="0">
              <a:latin typeface="Times New Roman"/>
              <a:cs typeface="Times New Roman"/>
            </a:endParaRPr>
          </a:p>
        </p:txBody>
      </p:sp>
      <p:sp>
        <p:nvSpPr>
          <p:cNvPr id="21" name="Footer Placeholder 20"/>
          <p:cNvSpPr>
            <a:spLocks noGrp="1"/>
          </p:cNvSpPr>
          <p:nvPr>
            <p:ph type="ftr" sz="quarter" idx="11"/>
          </p:nvPr>
        </p:nvSpPr>
        <p:spPr>
          <a:xfrm>
            <a:off x="1453896" y="5211060"/>
            <a:ext cx="5905500" cy="228600"/>
          </a:xfrm>
          <a:prstGeom prst="rect">
            <a:avLst/>
          </a:prstGeom>
        </p:spPr>
        <p:txBody>
          <a:bodyPr/>
          <a:lstStyle>
            <a:lvl1pPr algn="l">
              <a:defRPr>
                <a:solidFill>
                  <a:schemeClr val="tx1">
                    <a:lumMod val="75000"/>
                    <a:lumOff val="25000"/>
                  </a:schemeClr>
                </a:solidFill>
                <a:latin typeface="Times New Roman"/>
                <a:cs typeface="Times New Roman"/>
              </a:defRPr>
            </a:lvl1pPr>
          </a:lstStyle>
          <a:p>
            <a:r>
              <a:rPr lang="en-GB">
                <a:latin typeface="Times New Roman"/>
                <a:cs typeface="Times New Roman"/>
              </a:rPr>
              <a:t>Title of the Project</a:t>
            </a:r>
            <a:endParaRPr lang="en-BD">
              <a:latin typeface="Times New Roman"/>
              <a:cs typeface="Times New Roman"/>
            </a:endParaRP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latin typeface="Times New Roman"/>
                <a:cs typeface="Times New Roman"/>
              </a:defRPr>
            </a:lvl1pPr>
          </a:lstStyle>
          <a:p>
            <a:fld id="{E9C29D53-9981-884B-B5B6-B5743DF81FD1}" type="slidenum">
              <a:rPr lang="en-BD" smtClean="0">
                <a:latin typeface="Times New Roman"/>
                <a:cs typeface="Times New Roman"/>
              </a:rPr>
              <a:t>‹#›</a:t>
            </a:fld>
            <a:endParaRPr lang="en-BD">
              <a:latin typeface="Times New Roman"/>
              <a:cs typeface="Times New Roman"/>
            </a:endParaRPr>
          </a:p>
        </p:txBody>
      </p:sp>
      <p:sp>
        <p:nvSpPr>
          <p:cNvPr id="23" name="Rectangle 22">
            <a:extLst>
              <a:ext uri="{FF2B5EF4-FFF2-40B4-BE49-F238E27FC236}">
                <a16:creationId xmlns:a16="http://schemas.microsoft.com/office/drawing/2014/main" id="{ACC9C879-EF2D-BA4E-B6A9-D4377737278E}"/>
              </a:ext>
            </a:extLst>
          </p:cNvPr>
          <p:cNvSpPr/>
          <p:nvPr userDrawn="1"/>
        </p:nvSpPr>
        <p:spPr>
          <a:xfrm>
            <a:off x="0" y="0"/>
            <a:ext cx="12192000" cy="15622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dirty="0">
                <a:latin typeface="Times New Roman" panose="020B0604020202020204" pitchFamily="34" charset="0"/>
                <a:cs typeface="Times New Roman" panose="020B0604020202020204" pitchFamily="34" charset="0"/>
              </a:rPr>
              <a:t>EEE </a:t>
            </a:r>
            <a:r>
              <a:rPr lang="en-US" sz="2400" dirty="0">
                <a:latin typeface="Times New Roman" panose="020B0604020202020204" pitchFamily="34" charset="0"/>
                <a:cs typeface="Times New Roman" panose="020B0604020202020204" pitchFamily="34" charset="0"/>
              </a:rPr>
              <a:t>xxx</a:t>
            </a:r>
            <a:r>
              <a:rPr lang="en-BD" sz="2400" dirty="0">
                <a:latin typeface="Times New Roman" panose="020B0604020202020204" pitchFamily="34" charset="0"/>
                <a:cs typeface="Times New Roman" panose="020B0604020202020204" pitchFamily="34" charset="0"/>
              </a:rPr>
              <a:t> – </a:t>
            </a:r>
            <a:r>
              <a:rPr lang="en-US" sz="2400" dirty="0">
                <a:latin typeface="Times New Roman" panose="020B0604020202020204" pitchFamily="34" charset="0"/>
                <a:cs typeface="Times New Roman" panose="020B0604020202020204" pitchFamily="34" charset="0"/>
              </a:rPr>
              <a:t>Course Title</a:t>
            </a:r>
            <a:r>
              <a:rPr lang="en-BD" sz="2400" dirty="0">
                <a:latin typeface="Times New Roman" panose="020B0604020202020204" pitchFamily="34" charset="0"/>
                <a:cs typeface="Times New Roman" panose="020B0604020202020204" pitchFamily="34" charset="0"/>
              </a:rPr>
              <a:t> Laboratory</a:t>
            </a:r>
          </a:p>
          <a:p>
            <a:pPr marL="0" marR="0" lvl="0" indent="0" algn="ctr" defTabSz="457200" rtl="0" eaLnBrk="1" fontAlgn="auto" latinLnBrk="0" hangingPunct="1">
              <a:lnSpc>
                <a:spcPct val="100000"/>
              </a:lnSpc>
              <a:spcBef>
                <a:spcPts val="0"/>
              </a:spcBef>
              <a:spcAft>
                <a:spcPts val="0"/>
              </a:spcAft>
              <a:buClrTx/>
              <a:buSzTx/>
              <a:buFontTx/>
              <a:buNone/>
              <a:tabLst/>
              <a:defRPr>
                <a:latin typeface="Times New Roman"/>
                <a:cs typeface="Times New Roman"/>
              </a:defRPr>
            </a:pPr>
            <a:r>
              <a:rPr lang="en-BD" sz="2800" dirty="0">
                <a:latin typeface="Times New Roman" panose="020B0604020202020204" pitchFamily="34" charset="0"/>
                <a:cs typeface="Times New Roman" panose="020B0604020202020204" pitchFamily="34" charset="0"/>
              </a:rPr>
              <a:t>Jan 202</a:t>
            </a:r>
            <a:r>
              <a:rPr lang="en-US" sz="2800" dirty="0">
                <a:latin typeface="Times New Roman" panose="020B0604020202020204" pitchFamily="34" charset="0"/>
                <a:cs typeface="Times New Roman" panose="020B0604020202020204" pitchFamily="34" charset="0"/>
              </a:rPr>
              <a:t>x </a:t>
            </a:r>
            <a:r>
              <a:rPr lang="en-BD" sz="2800" dirty="0">
                <a:latin typeface="Times New Roman" panose="020B0604020202020204" pitchFamily="34" charset="0"/>
                <a:cs typeface="Times New Roman" panose="020B0604020202020204" pitchFamily="34" charset="0"/>
              </a:rPr>
              <a:t>Level-</a:t>
            </a:r>
            <a:r>
              <a:rPr lang="en-US" sz="2800" dirty="0">
                <a:latin typeface="Times New Roman" panose="020B0604020202020204" pitchFamily="34" charset="0"/>
                <a:cs typeface="Times New Roman" panose="020B0604020202020204" pitchFamily="34" charset="0"/>
              </a:rPr>
              <a:t>x</a:t>
            </a:r>
            <a:r>
              <a:rPr lang="en-BD" sz="2800" dirty="0">
                <a:latin typeface="Times New Roman" panose="020B0604020202020204" pitchFamily="34" charset="0"/>
                <a:cs typeface="Times New Roman" panose="020B0604020202020204" pitchFamily="34" charset="0"/>
              </a:rPr>
              <a:t> Term-I Section </a:t>
            </a:r>
            <a:r>
              <a:rPr lang="en-US" sz="2800" dirty="0">
                <a:latin typeface="Times New Roman" panose="020B0604020202020204" pitchFamily="34" charset="0"/>
                <a:cs typeface="Times New Roman" panose="020B0604020202020204" pitchFamily="34" charset="0"/>
              </a:rPr>
              <a:t>Z</a:t>
            </a:r>
            <a:endParaRPr lang="en-BD" sz="2800" dirty="0">
              <a:latin typeface="Times New Roman" panose="020B0604020202020204" pitchFamily="34" charset="0"/>
              <a:cs typeface="Times New Roman" panose="020B0604020202020204" pitchFamily="34" charset="0"/>
            </a:endParaRPr>
          </a:p>
          <a:p>
            <a:pPr algn="ctr"/>
            <a:r>
              <a:rPr lang="en-BD" sz="3600" dirty="0">
                <a:latin typeface="Times New Roman" panose="020B0604020202020204" pitchFamily="34" charset="0"/>
                <a:cs typeface="Times New Roman" panose="020B0604020202020204" pitchFamily="34" charset="0"/>
              </a:rPr>
              <a:t>Final Project Demonstration</a:t>
            </a:r>
          </a:p>
        </p:txBody>
      </p:sp>
      <p:sp>
        <p:nvSpPr>
          <p:cNvPr id="24" name="Rectangle 23">
            <a:extLst>
              <a:ext uri="{FF2B5EF4-FFF2-40B4-BE49-F238E27FC236}">
                <a16:creationId xmlns:a16="http://schemas.microsoft.com/office/drawing/2014/main" id="{A799C6A4-662A-4C47-AB70-4A7A449F40AE}"/>
              </a:ext>
            </a:extLst>
          </p:cNvPr>
          <p:cNvSpPr/>
          <p:nvPr userDrawn="1"/>
        </p:nvSpPr>
        <p:spPr>
          <a:xfrm>
            <a:off x="0" y="5968657"/>
            <a:ext cx="12192000" cy="889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865755" algn="ctr"/>
                <a:tab pos="5731510" algn="r"/>
              </a:tabLst>
            </a:pPr>
            <a:r>
              <a:rPr lang="en-US" sz="1800" cap="small" spc="160" dirty="0">
                <a:effectLst/>
                <a:latin typeface="Times New Roman" panose="020B0604020202020204" pitchFamily="34" charset="0"/>
                <a:ea typeface="Times New Roman" panose="02020603050405020304" pitchFamily="18" charset="0"/>
                <a:cs typeface="Times New Roman" panose="020B0604020202020204" pitchFamily="34" charset="0"/>
              </a:rPr>
              <a:t>Bangladesh University of Engineering and Technology</a:t>
            </a:r>
            <a:endParaRPr lang="en-GB" sz="1800" dirty="0">
              <a:effectLst/>
              <a:latin typeface="Times New Roman" panose="020B0604020202020204" pitchFamily="34" charset="0"/>
              <a:ea typeface="Times New Roman" panose="02020603050405020304" pitchFamily="18" charset="0"/>
              <a:cs typeface="Times New Roman" panose="020B0604020202020204" pitchFamily="34" charset="0"/>
            </a:endParaRPr>
          </a:p>
          <a:p>
            <a:pPr algn="ctr"/>
            <a:r>
              <a:rPr lang="en-US" sz="1800" cap="small" spc="160" dirty="0">
                <a:effectLst/>
                <a:latin typeface="Times New Roman" panose="020B0604020202020204" pitchFamily="34" charset="0"/>
                <a:ea typeface="Times New Roman" panose="02020603050405020304" pitchFamily="18" charset="0"/>
                <a:cs typeface="Times New Roman" panose="020B0604020202020204" pitchFamily="34" charset="0"/>
              </a:rPr>
              <a:t>Department of Electrical and Electronic Engineering</a:t>
            </a:r>
            <a:endParaRPr lang="en-BD" sz="2400" dirty="0">
              <a:latin typeface="Times New Roman" panose="020B0604020202020204" pitchFamily="34" charset="0"/>
              <a:cs typeface="Times New Roman" panose="020B0604020202020204" pitchFamily="34" charset="0"/>
            </a:endParaRPr>
          </a:p>
        </p:txBody>
      </p:sp>
      <p:pic>
        <p:nvPicPr>
          <p:cNvPr id="9" name="Graphic 8">
            <a:extLst>
              <a:ext uri="{FF2B5EF4-FFF2-40B4-BE49-F238E27FC236}">
                <a16:creationId xmlns:a16="http://schemas.microsoft.com/office/drawing/2014/main" id="{89B5FDC4-269D-0A46-8DED-E482158D83E5}"/>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84048"/>
          <a:stretch/>
        </p:blipFill>
        <p:spPr>
          <a:xfrm>
            <a:off x="1682496" y="6046044"/>
            <a:ext cx="793630" cy="734567"/>
          </a:xfrm>
          <a:prstGeom prst="rect">
            <a:avLst/>
          </a:prstGeom>
        </p:spPr>
      </p:pic>
    </p:spTree>
    <p:extLst>
      <p:ext uri="{BB962C8B-B14F-4D97-AF65-F5344CB8AC3E}">
        <p14:creationId xmlns:p14="http://schemas.microsoft.com/office/powerpoint/2010/main" val="446892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atin typeface="Times New Roman"/>
                <a:cs typeface="Times New Roman"/>
              </a:rPr>
              <a:t>Click to edit Master title style</a:t>
            </a:r>
            <a:endParaRPr lang="en-US" dirty="0">
              <a:latin typeface="Times New Roman"/>
              <a:cs typeface="Times New Roman"/>
            </a:endParaRPr>
          </a:p>
        </p:txBody>
      </p:sp>
      <p:sp>
        <p:nvSpPr>
          <p:cNvPr id="3" name="Content Placeholder 2"/>
          <p:cNvSpPr>
            <a:spLocks noGrp="1"/>
          </p:cNvSpPr>
          <p:nvPr>
            <p:ph idx="1"/>
          </p:nvPr>
        </p:nvSpPr>
        <p:spPr/>
        <p:txBody>
          <a:bodyPr/>
          <a:lstStyle/>
          <a:p>
            <a:pPr lvl="0"/>
            <a:r>
              <a:rPr lang="en-GB">
                <a:latin typeface="Times New Roman"/>
                <a:cs typeface="Times New Roman"/>
              </a:rPr>
              <a:t>Click to edit Master text styles</a:t>
            </a:r>
          </a:p>
          <a:p>
            <a:pPr lvl="1"/>
            <a:r>
              <a:rPr lang="en-GB">
                <a:latin typeface="Times New Roman"/>
                <a:cs typeface="Times New Roman"/>
              </a:rPr>
              <a:t>Second level</a:t>
            </a:r>
          </a:p>
          <a:p>
            <a:pPr lvl="2"/>
            <a:r>
              <a:rPr lang="en-GB">
                <a:latin typeface="Times New Roman"/>
                <a:cs typeface="Times New Roman"/>
              </a:rPr>
              <a:t>Third level</a:t>
            </a:r>
          </a:p>
          <a:p>
            <a:pPr lvl="3"/>
            <a:r>
              <a:rPr lang="en-GB">
                <a:latin typeface="Times New Roman"/>
                <a:cs typeface="Times New Roman"/>
              </a:rPr>
              <a:t>Fourth level</a:t>
            </a:r>
          </a:p>
          <a:p>
            <a:pPr lvl="4"/>
            <a:r>
              <a:rPr lang="en-GB">
                <a:latin typeface="Times New Roman"/>
                <a:cs typeface="Times New Roman"/>
              </a:rPr>
              <a:t>Fifth level</a:t>
            </a:r>
            <a:endParaRPr lang="en-US" dirty="0">
              <a:latin typeface="Times New Roman"/>
              <a:cs typeface="Times New Roman"/>
            </a:endParaRPr>
          </a:p>
        </p:txBody>
      </p:sp>
      <p:sp>
        <p:nvSpPr>
          <p:cNvPr id="4" name="Date Placeholder 3">
            <a:extLst>
              <a:ext uri="{FF2B5EF4-FFF2-40B4-BE49-F238E27FC236}">
                <a16:creationId xmlns:a16="http://schemas.microsoft.com/office/drawing/2014/main" id="{C9649038-E67C-F32D-3A4E-49766B9CE12F}"/>
              </a:ext>
            </a:extLst>
          </p:cNvPr>
          <p:cNvSpPr>
            <a:spLocks noGrp="1"/>
          </p:cNvSpPr>
          <p:nvPr>
            <p:ph type="dt" sz="half" idx="10"/>
          </p:nvPr>
        </p:nvSpPr>
        <p:spPr/>
        <p:txBody>
          <a:bodyPr/>
          <a:lstStyle/>
          <a:p>
            <a:r>
              <a:rPr lang="en-US">
                <a:latin typeface="Times New Roman"/>
                <a:cs typeface="Times New Roman"/>
              </a:rPr>
              <a:t>EEE 416 (2022) – Final Project Group A.XY</a:t>
            </a:r>
            <a:endParaRPr lang="en-BD" dirty="0">
              <a:latin typeface="Times New Roman"/>
              <a:cs typeface="Times New Roman"/>
            </a:endParaRPr>
          </a:p>
        </p:txBody>
      </p:sp>
      <p:sp>
        <p:nvSpPr>
          <p:cNvPr id="5" name="Footer Placeholder 4">
            <a:extLst>
              <a:ext uri="{FF2B5EF4-FFF2-40B4-BE49-F238E27FC236}">
                <a16:creationId xmlns:a16="http://schemas.microsoft.com/office/drawing/2014/main" id="{D54079AD-4F4B-2A08-E54B-560665B9ABE1}"/>
              </a:ext>
            </a:extLst>
          </p:cNvPr>
          <p:cNvSpPr>
            <a:spLocks noGrp="1"/>
          </p:cNvSpPr>
          <p:nvPr>
            <p:ph type="ftr" sz="quarter" idx="11"/>
          </p:nvPr>
        </p:nvSpPr>
        <p:spPr/>
        <p:txBody>
          <a:bodyPr/>
          <a:lstStyle/>
          <a:p>
            <a:pPr algn="ctr"/>
            <a:r>
              <a:rPr lang="en-BD">
                <a:latin typeface="Times New Roman"/>
                <a:cs typeface="Times New Roman"/>
              </a:rPr>
              <a:t>Title of the Project</a:t>
            </a:r>
            <a:endParaRPr lang="en-BD" dirty="0">
              <a:latin typeface="Times New Roman"/>
              <a:cs typeface="Times New Roman"/>
            </a:endParaRPr>
          </a:p>
        </p:txBody>
      </p:sp>
      <p:sp>
        <p:nvSpPr>
          <p:cNvPr id="6" name="Slide Number Placeholder 5">
            <a:extLst>
              <a:ext uri="{FF2B5EF4-FFF2-40B4-BE49-F238E27FC236}">
                <a16:creationId xmlns:a16="http://schemas.microsoft.com/office/drawing/2014/main" id="{B2FBC4AE-B903-2951-368D-1CD59AE1F142}"/>
              </a:ext>
            </a:extLst>
          </p:cNvPr>
          <p:cNvSpPr>
            <a:spLocks noGrp="1"/>
          </p:cNvSpPr>
          <p:nvPr>
            <p:ph type="sldNum" sz="quarter" idx="12"/>
          </p:nvPr>
        </p:nvSpPr>
        <p:spPr/>
        <p:txBody>
          <a:bodyPr/>
          <a:lstStyle/>
          <a:p>
            <a:fld id="{E9C29D53-9981-884B-B5B6-B5743DF81FD1}" type="slidenum">
              <a:rPr lang="en-BD" smtClean="0">
                <a:latin typeface="Times New Roman"/>
                <a:cs typeface="Times New Roman"/>
              </a:rPr>
              <a:pPr/>
              <a:t>‹#›</a:t>
            </a:fld>
            <a:endParaRPr lang="en-BD" dirty="0">
              <a:latin typeface="Times New Roman"/>
              <a:cs typeface="Times New Roman"/>
            </a:endParaRPr>
          </a:p>
        </p:txBody>
      </p:sp>
    </p:spTree>
    <p:extLst>
      <p:ext uri="{BB962C8B-B14F-4D97-AF65-F5344CB8AC3E}">
        <p14:creationId xmlns:p14="http://schemas.microsoft.com/office/powerpoint/2010/main" val="321943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latin typeface="Times New Roman"/>
                <a:cs typeface="Times New Roman"/>
              </a:rPr>
              <a:t>Click to edit Master title style</a:t>
            </a:r>
            <a:endParaRPr lang="en-US" dirty="0">
              <a:latin typeface="Times New Roman"/>
              <a:cs typeface="Times New Roman"/>
            </a:endParaRPr>
          </a:p>
        </p:txBody>
      </p:sp>
      <p:sp>
        <p:nvSpPr>
          <p:cNvPr id="3" name="Content Placeholder 2"/>
          <p:cNvSpPr>
            <a:spLocks noGrp="1"/>
          </p:cNvSpPr>
          <p:nvPr>
            <p:ph sz="half" idx="1"/>
          </p:nvPr>
        </p:nvSpPr>
        <p:spPr>
          <a:xfrm>
            <a:off x="1066800" y="2103120"/>
            <a:ext cx="4754880" cy="3749040"/>
          </a:xfrm>
        </p:spPr>
        <p:txBody>
          <a:bodyPr/>
          <a:lstStyle>
            <a:lvl1pPr>
              <a:defRPr sz="1800">
                <a:latin typeface="Times New Roman"/>
                <a:cs typeface="Times New Roman"/>
              </a:defRPr>
            </a:lvl1pPr>
            <a:lvl2pPr>
              <a:defRPr sz="1600">
                <a:latin typeface="Times New Roman"/>
                <a:cs typeface="Times New Roman"/>
              </a:defRPr>
            </a:lvl2pPr>
            <a:lvl3pPr>
              <a:defRPr sz="1400">
                <a:latin typeface="Times New Roman"/>
                <a:cs typeface="Times New Roman"/>
              </a:defRPr>
            </a:lvl3pPr>
            <a:lvl4pPr>
              <a:defRPr sz="1400">
                <a:latin typeface="Times New Roman"/>
                <a:cs typeface="Times New Roman"/>
              </a:defRPr>
            </a:lvl4pPr>
            <a:lvl5pPr>
              <a:defRPr sz="1400">
                <a:latin typeface="Times New Roman"/>
                <a:cs typeface="Times New Roman"/>
              </a:defRPr>
            </a:lvl5pPr>
            <a:lvl6pPr>
              <a:defRPr sz="1400">
                <a:latin typeface="Times New Roman"/>
                <a:cs typeface="Times New Roman"/>
              </a:defRPr>
            </a:lvl6pPr>
            <a:lvl7pPr>
              <a:defRPr sz="1400">
                <a:latin typeface="Times New Roman"/>
                <a:cs typeface="Times New Roman"/>
              </a:defRPr>
            </a:lvl7pPr>
            <a:lvl8pPr>
              <a:defRPr sz="1400">
                <a:latin typeface="Times New Roman"/>
                <a:cs typeface="Times New Roman"/>
              </a:defRPr>
            </a:lvl8pPr>
            <a:lvl9pPr>
              <a:defRPr sz="1400">
                <a:latin typeface="Times New Roman"/>
                <a:cs typeface="Times New Roman"/>
              </a:defRPr>
            </a:lvl9pPr>
          </a:lstStyle>
          <a:p>
            <a:pPr lvl="0"/>
            <a:r>
              <a:rPr lang="en-GB">
                <a:latin typeface="Times New Roman"/>
                <a:cs typeface="Times New Roman"/>
              </a:rPr>
              <a:t>Click to edit Master text styles</a:t>
            </a:r>
          </a:p>
          <a:p>
            <a:pPr lvl="1"/>
            <a:r>
              <a:rPr lang="en-GB">
                <a:latin typeface="Times New Roman"/>
                <a:cs typeface="Times New Roman"/>
              </a:rPr>
              <a:t>Second level</a:t>
            </a:r>
          </a:p>
          <a:p>
            <a:pPr lvl="2"/>
            <a:r>
              <a:rPr lang="en-GB">
                <a:latin typeface="Times New Roman"/>
                <a:cs typeface="Times New Roman"/>
              </a:rPr>
              <a:t>Third level</a:t>
            </a:r>
          </a:p>
          <a:p>
            <a:pPr lvl="3"/>
            <a:r>
              <a:rPr lang="en-GB">
                <a:latin typeface="Times New Roman"/>
                <a:cs typeface="Times New Roman"/>
              </a:rPr>
              <a:t>Fourth level</a:t>
            </a:r>
          </a:p>
          <a:p>
            <a:pPr lvl="4"/>
            <a:r>
              <a:rPr lang="en-GB">
                <a:latin typeface="Times New Roman"/>
                <a:cs typeface="Times New Roman"/>
              </a:rPr>
              <a:t>Fifth level</a:t>
            </a:r>
            <a:endParaRPr lang="en-US" dirty="0">
              <a:latin typeface="Times New Roman"/>
              <a:cs typeface="Times New Roman"/>
            </a:endParaRPr>
          </a:p>
        </p:txBody>
      </p:sp>
      <p:sp>
        <p:nvSpPr>
          <p:cNvPr id="4" name="Content Placeholder 3"/>
          <p:cNvSpPr>
            <a:spLocks noGrp="1"/>
          </p:cNvSpPr>
          <p:nvPr>
            <p:ph sz="half" idx="2"/>
          </p:nvPr>
        </p:nvSpPr>
        <p:spPr>
          <a:xfrm>
            <a:off x="6370320" y="2103120"/>
            <a:ext cx="4754880" cy="3749040"/>
          </a:xfrm>
        </p:spPr>
        <p:txBody>
          <a:bodyPr/>
          <a:lstStyle>
            <a:lvl1pPr>
              <a:defRPr sz="1800">
                <a:latin typeface="Times New Roman"/>
                <a:cs typeface="Times New Roman"/>
              </a:defRPr>
            </a:lvl1pPr>
            <a:lvl2pPr>
              <a:defRPr sz="1600">
                <a:latin typeface="Times New Roman"/>
                <a:cs typeface="Times New Roman"/>
              </a:defRPr>
            </a:lvl2pPr>
            <a:lvl3pPr>
              <a:defRPr sz="1400">
                <a:latin typeface="Times New Roman"/>
                <a:cs typeface="Times New Roman"/>
              </a:defRPr>
            </a:lvl3pPr>
            <a:lvl4pPr>
              <a:defRPr sz="1400">
                <a:latin typeface="Times New Roman"/>
                <a:cs typeface="Times New Roman"/>
              </a:defRPr>
            </a:lvl4pPr>
            <a:lvl5pPr>
              <a:defRPr sz="1400">
                <a:latin typeface="Times New Roman"/>
                <a:cs typeface="Times New Roman"/>
              </a:defRPr>
            </a:lvl5pPr>
            <a:lvl6pPr>
              <a:defRPr sz="1400">
                <a:latin typeface="Times New Roman"/>
                <a:cs typeface="Times New Roman"/>
              </a:defRPr>
            </a:lvl6pPr>
            <a:lvl7pPr>
              <a:defRPr sz="1400">
                <a:latin typeface="Times New Roman"/>
                <a:cs typeface="Times New Roman"/>
              </a:defRPr>
            </a:lvl7pPr>
            <a:lvl8pPr>
              <a:defRPr sz="1400">
                <a:latin typeface="Times New Roman"/>
                <a:cs typeface="Times New Roman"/>
              </a:defRPr>
            </a:lvl8pPr>
            <a:lvl9pPr>
              <a:defRPr sz="1400">
                <a:latin typeface="Times New Roman"/>
                <a:cs typeface="Times New Roman"/>
              </a:defRPr>
            </a:lvl9pPr>
          </a:lstStyle>
          <a:p>
            <a:pPr lvl="0"/>
            <a:r>
              <a:rPr lang="en-GB">
                <a:latin typeface="Times New Roman"/>
                <a:cs typeface="Times New Roman"/>
              </a:rPr>
              <a:t>Click to edit Master text styles</a:t>
            </a:r>
          </a:p>
          <a:p>
            <a:pPr lvl="1"/>
            <a:r>
              <a:rPr lang="en-GB">
                <a:latin typeface="Times New Roman"/>
                <a:cs typeface="Times New Roman"/>
              </a:rPr>
              <a:t>Second level</a:t>
            </a:r>
          </a:p>
          <a:p>
            <a:pPr lvl="2"/>
            <a:r>
              <a:rPr lang="en-GB">
                <a:latin typeface="Times New Roman"/>
                <a:cs typeface="Times New Roman"/>
              </a:rPr>
              <a:t>Third level</a:t>
            </a:r>
          </a:p>
          <a:p>
            <a:pPr lvl="3"/>
            <a:r>
              <a:rPr lang="en-GB">
                <a:latin typeface="Times New Roman"/>
                <a:cs typeface="Times New Roman"/>
              </a:rPr>
              <a:t>Fourth level</a:t>
            </a:r>
          </a:p>
          <a:p>
            <a:pPr lvl="4"/>
            <a:r>
              <a:rPr lang="en-GB">
                <a:latin typeface="Times New Roman"/>
                <a:cs typeface="Times New Roman"/>
              </a:rPr>
              <a:t>Fifth level</a:t>
            </a:r>
            <a:endParaRPr lang="en-US" dirty="0">
              <a:latin typeface="Times New Roman"/>
              <a:cs typeface="Times New Roman"/>
            </a:endParaRPr>
          </a:p>
        </p:txBody>
      </p:sp>
      <p:sp>
        <p:nvSpPr>
          <p:cNvPr id="7" name="Slide Number Placeholder 6"/>
          <p:cNvSpPr>
            <a:spLocks noGrp="1"/>
          </p:cNvSpPr>
          <p:nvPr>
            <p:ph type="sldNum" sz="quarter" idx="12"/>
          </p:nvPr>
        </p:nvSpPr>
        <p:spPr/>
        <p:txBody>
          <a:bodyPr/>
          <a:lstStyle/>
          <a:p>
            <a:fld id="{E9C29D53-9981-884B-B5B6-B5743DF81FD1}" type="slidenum">
              <a:rPr lang="en-BD" smtClean="0">
                <a:latin typeface="Times New Roman"/>
                <a:cs typeface="Times New Roman"/>
              </a:rPr>
              <a:t>‹#›</a:t>
            </a:fld>
            <a:endParaRPr lang="en-BD">
              <a:latin typeface="Times New Roman"/>
              <a:cs typeface="Times New Roman"/>
            </a:endParaRPr>
          </a:p>
        </p:txBody>
      </p:sp>
      <p:sp>
        <p:nvSpPr>
          <p:cNvPr id="9" name="Date Placeholder 5">
            <a:extLst>
              <a:ext uri="{FF2B5EF4-FFF2-40B4-BE49-F238E27FC236}">
                <a16:creationId xmlns:a16="http://schemas.microsoft.com/office/drawing/2014/main" id="{7A532869-E847-B04C-9454-B1BBC68D6D5E}"/>
              </a:ext>
            </a:extLst>
          </p:cNvPr>
          <p:cNvSpPr>
            <a:spLocks noGrp="1"/>
          </p:cNvSpPr>
          <p:nvPr>
            <p:ph type="dt" sz="half" idx="10"/>
          </p:nvPr>
        </p:nvSpPr>
        <p:spPr>
          <a:xfrm>
            <a:off x="432486" y="6501637"/>
            <a:ext cx="4825314" cy="375412"/>
          </a:xfrm>
        </p:spPr>
        <p:txBody>
          <a:bodyPr/>
          <a:lstStyle/>
          <a:p>
            <a:r>
              <a:rPr lang="en-US">
                <a:latin typeface="Times New Roman"/>
                <a:cs typeface="Times New Roman"/>
              </a:rPr>
              <a:t>EEE 416 (2022) – Final Project Group A.XY</a:t>
            </a:r>
            <a:endParaRPr lang="en-BD" dirty="0">
              <a:latin typeface="Times New Roman"/>
              <a:cs typeface="Times New Roman"/>
            </a:endParaRPr>
          </a:p>
        </p:txBody>
      </p:sp>
      <p:sp>
        <p:nvSpPr>
          <p:cNvPr id="10" name="Footer Placeholder 6">
            <a:extLst>
              <a:ext uri="{FF2B5EF4-FFF2-40B4-BE49-F238E27FC236}">
                <a16:creationId xmlns:a16="http://schemas.microsoft.com/office/drawing/2014/main" id="{39C3B094-71D1-654C-855E-07B8BFC1B41C}"/>
              </a:ext>
            </a:extLst>
          </p:cNvPr>
          <p:cNvSpPr>
            <a:spLocks noGrp="1"/>
          </p:cNvSpPr>
          <p:nvPr>
            <p:ph type="ftr" sz="quarter" idx="11"/>
          </p:nvPr>
        </p:nvSpPr>
        <p:spPr>
          <a:xfrm>
            <a:off x="5257800" y="6482588"/>
            <a:ext cx="6153150" cy="375412"/>
          </a:xfrm>
        </p:spPr>
        <p:txBody>
          <a:bodyPr/>
          <a:lstStyle/>
          <a:p>
            <a:r>
              <a:rPr lang="en-BD" dirty="0">
                <a:latin typeface="Times New Roman"/>
                <a:cs typeface="Times New Roman"/>
              </a:rPr>
              <a:t>Title of the Project</a:t>
            </a:r>
          </a:p>
        </p:txBody>
      </p:sp>
    </p:spTree>
    <p:extLst>
      <p:ext uri="{BB962C8B-B14F-4D97-AF65-F5344CB8AC3E}">
        <p14:creationId xmlns:p14="http://schemas.microsoft.com/office/powerpoint/2010/main" val="4237455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atin typeface="Times New Roman"/>
                <a:cs typeface="Times New Roman"/>
              </a:rPr>
              <a:t>Click to edit Master title style</a:t>
            </a:r>
            <a:endParaRPr lang="en-US" dirty="0">
              <a:latin typeface="Times New Roman"/>
              <a:cs typeface="Times New Roman"/>
            </a:endParaRPr>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Times New Roman"/>
                <a:cs typeface="Times New Roman"/>
              </a:defRPr>
            </a:lvl1pPr>
            <a:lvl2pPr marL="457200" indent="0">
              <a:buNone/>
              <a:defRPr sz="1900" b="1">
                <a:latin typeface="Times New Roman"/>
                <a:cs typeface="Times New Roman"/>
              </a:defRPr>
            </a:lvl2pPr>
            <a:lvl3pPr marL="914400" indent="0">
              <a:buNone/>
              <a:defRPr sz="1800" b="1">
                <a:latin typeface="Times New Roman"/>
                <a:cs typeface="Times New Roman"/>
              </a:defRPr>
            </a:lvl3pPr>
            <a:lvl4pPr marL="1371600" indent="0">
              <a:buNone/>
              <a:defRPr sz="1600" b="1">
                <a:latin typeface="Times New Roman"/>
                <a:cs typeface="Times New Roman"/>
              </a:defRPr>
            </a:lvl4pPr>
            <a:lvl5pPr marL="1828800" indent="0">
              <a:buNone/>
              <a:defRPr sz="1600" b="1">
                <a:latin typeface="Times New Roman"/>
                <a:cs typeface="Times New Roman"/>
              </a:defRPr>
            </a:lvl5pPr>
            <a:lvl6pPr marL="2286000" indent="0">
              <a:buNone/>
              <a:defRPr sz="1600" b="1">
                <a:latin typeface="Times New Roman"/>
                <a:cs typeface="Times New Roman"/>
              </a:defRPr>
            </a:lvl6pPr>
            <a:lvl7pPr marL="2743200" indent="0">
              <a:buNone/>
              <a:defRPr sz="1600" b="1">
                <a:latin typeface="Times New Roman"/>
                <a:cs typeface="Times New Roman"/>
              </a:defRPr>
            </a:lvl7pPr>
            <a:lvl8pPr marL="3200400" indent="0">
              <a:buNone/>
              <a:defRPr sz="1600" b="1">
                <a:latin typeface="Times New Roman"/>
                <a:cs typeface="Times New Roman"/>
              </a:defRPr>
            </a:lvl8pPr>
            <a:lvl9pPr marL="3657600" indent="0">
              <a:buNone/>
              <a:defRPr sz="1600" b="1">
                <a:latin typeface="Times New Roman"/>
                <a:cs typeface="Times New Roman"/>
              </a:defRPr>
            </a:lvl9pPr>
          </a:lstStyle>
          <a:p>
            <a:pPr lvl="0"/>
            <a:r>
              <a:rPr lang="en-GB">
                <a:latin typeface="Times New Roman"/>
                <a:cs typeface="Times New Roman"/>
              </a:rPr>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atin typeface="Times New Roman"/>
                <a:cs typeface="Times New Roman"/>
              </a:defRPr>
            </a:lvl1pPr>
            <a:lvl2pPr>
              <a:defRPr sz="1600">
                <a:latin typeface="Times New Roman"/>
                <a:cs typeface="Times New Roman"/>
              </a:defRPr>
            </a:lvl2pPr>
            <a:lvl3pPr>
              <a:defRPr sz="1400">
                <a:latin typeface="Times New Roman"/>
                <a:cs typeface="Times New Roman"/>
              </a:defRPr>
            </a:lvl3pPr>
            <a:lvl4pPr>
              <a:defRPr sz="1400">
                <a:latin typeface="Times New Roman"/>
                <a:cs typeface="Times New Roman"/>
              </a:defRPr>
            </a:lvl4pPr>
            <a:lvl5pPr>
              <a:defRPr sz="1400">
                <a:latin typeface="Times New Roman"/>
                <a:cs typeface="Times New Roman"/>
              </a:defRPr>
            </a:lvl5pPr>
            <a:lvl6pPr>
              <a:defRPr sz="1400">
                <a:latin typeface="Times New Roman"/>
                <a:cs typeface="Times New Roman"/>
              </a:defRPr>
            </a:lvl6pPr>
            <a:lvl7pPr>
              <a:defRPr sz="1400">
                <a:latin typeface="Times New Roman"/>
                <a:cs typeface="Times New Roman"/>
              </a:defRPr>
            </a:lvl7pPr>
            <a:lvl8pPr>
              <a:defRPr sz="1400">
                <a:latin typeface="Times New Roman"/>
                <a:cs typeface="Times New Roman"/>
              </a:defRPr>
            </a:lvl8pPr>
            <a:lvl9pPr>
              <a:defRPr sz="1400">
                <a:latin typeface="Times New Roman"/>
                <a:cs typeface="Times New Roman"/>
              </a:defRPr>
            </a:lvl9pPr>
          </a:lstStyle>
          <a:p>
            <a:pPr lvl="0"/>
            <a:r>
              <a:rPr lang="en-GB">
                <a:latin typeface="Times New Roman"/>
                <a:cs typeface="Times New Roman"/>
              </a:rPr>
              <a:t>Click to edit Master text styles</a:t>
            </a:r>
          </a:p>
          <a:p>
            <a:pPr lvl="1"/>
            <a:r>
              <a:rPr lang="en-GB">
                <a:latin typeface="Times New Roman"/>
                <a:cs typeface="Times New Roman"/>
              </a:rPr>
              <a:t>Second level</a:t>
            </a:r>
          </a:p>
          <a:p>
            <a:pPr lvl="2"/>
            <a:r>
              <a:rPr lang="en-GB">
                <a:latin typeface="Times New Roman"/>
                <a:cs typeface="Times New Roman"/>
              </a:rPr>
              <a:t>Third level</a:t>
            </a:r>
          </a:p>
          <a:p>
            <a:pPr lvl="3"/>
            <a:r>
              <a:rPr lang="en-GB">
                <a:latin typeface="Times New Roman"/>
                <a:cs typeface="Times New Roman"/>
              </a:rPr>
              <a:t>Fourth level</a:t>
            </a:r>
          </a:p>
          <a:p>
            <a:pPr lvl="4"/>
            <a:r>
              <a:rPr lang="en-GB">
                <a:latin typeface="Times New Roman"/>
                <a:cs typeface="Times New Roman"/>
              </a:rPr>
              <a:t>Fifth level</a:t>
            </a:r>
            <a:endParaRPr lang="en-US" dirty="0">
              <a:latin typeface="Times New Roman"/>
              <a:cs typeface="Times New Roman"/>
            </a:endParaRPr>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latin typeface="Times New Roman"/>
                <a:cs typeface="Times New Roman"/>
              </a:defRPr>
            </a:lvl1pPr>
            <a:lvl2pPr marL="457200" indent="0">
              <a:buNone/>
              <a:defRPr sz="1900" b="1">
                <a:latin typeface="Times New Roman"/>
                <a:cs typeface="Times New Roman"/>
              </a:defRPr>
            </a:lvl2pPr>
            <a:lvl3pPr marL="914400" indent="0">
              <a:buNone/>
              <a:defRPr sz="1800" b="1">
                <a:latin typeface="Times New Roman"/>
                <a:cs typeface="Times New Roman"/>
              </a:defRPr>
            </a:lvl3pPr>
            <a:lvl4pPr marL="1371600" indent="0">
              <a:buNone/>
              <a:defRPr sz="1600" b="1">
                <a:latin typeface="Times New Roman"/>
                <a:cs typeface="Times New Roman"/>
              </a:defRPr>
            </a:lvl4pPr>
            <a:lvl5pPr marL="1828800" indent="0">
              <a:buNone/>
              <a:defRPr sz="1600" b="1">
                <a:latin typeface="Times New Roman"/>
                <a:cs typeface="Times New Roman"/>
              </a:defRPr>
            </a:lvl5pPr>
            <a:lvl6pPr marL="2286000" indent="0">
              <a:buNone/>
              <a:defRPr sz="1600" b="1">
                <a:latin typeface="Times New Roman"/>
                <a:cs typeface="Times New Roman"/>
              </a:defRPr>
            </a:lvl6pPr>
            <a:lvl7pPr marL="2743200" indent="0">
              <a:buNone/>
              <a:defRPr sz="1600" b="1">
                <a:latin typeface="Times New Roman"/>
                <a:cs typeface="Times New Roman"/>
              </a:defRPr>
            </a:lvl7pPr>
            <a:lvl8pPr marL="3200400" indent="0">
              <a:buNone/>
              <a:defRPr sz="1600" b="1">
                <a:latin typeface="Times New Roman"/>
                <a:cs typeface="Times New Roman"/>
              </a:defRPr>
            </a:lvl8pPr>
            <a:lvl9pPr marL="3657600" indent="0">
              <a:buNone/>
              <a:defRPr sz="1600" b="1">
                <a:latin typeface="Times New Roman"/>
                <a:cs typeface="Times New Roman"/>
              </a:defRPr>
            </a:lvl9pPr>
          </a:lstStyle>
          <a:p>
            <a:pPr lvl="0"/>
            <a:r>
              <a:rPr lang="en-GB">
                <a:latin typeface="Times New Roman"/>
                <a:cs typeface="Times New Roman"/>
              </a:rPr>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atin typeface="Times New Roman"/>
                <a:cs typeface="Times New Roman"/>
              </a:defRPr>
            </a:lvl1pPr>
            <a:lvl2pPr>
              <a:defRPr sz="1600">
                <a:latin typeface="Times New Roman"/>
                <a:cs typeface="Times New Roman"/>
              </a:defRPr>
            </a:lvl2pPr>
            <a:lvl3pPr>
              <a:defRPr sz="1400">
                <a:latin typeface="Times New Roman"/>
                <a:cs typeface="Times New Roman"/>
              </a:defRPr>
            </a:lvl3pPr>
            <a:lvl4pPr>
              <a:defRPr sz="1400">
                <a:latin typeface="Times New Roman"/>
                <a:cs typeface="Times New Roman"/>
              </a:defRPr>
            </a:lvl4pPr>
            <a:lvl5pPr>
              <a:defRPr sz="1400">
                <a:latin typeface="Times New Roman"/>
                <a:cs typeface="Times New Roman"/>
              </a:defRPr>
            </a:lvl5pPr>
            <a:lvl6pPr>
              <a:defRPr sz="1400">
                <a:latin typeface="Times New Roman"/>
                <a:cs typeface="Times New Roman"/>
              </a:defRPr>
            </a:lvl6pPr>
            <a:lvl7pPr>
              <a:defRPr sz="1400">
                <a:latin typeface="Times New Roman"/>
                <a:cs typeface="Times New Roman"/>
              </a:defRPr>
            </a:lvl7pPr>
            <a:lvl8pPr>
              <a:defRPr sz="1400">
                <a:latin typeface="Times New Roman"/>
                <a:cs typeface="Times New Roman"/>
              </a:defRPr>
            </a:lvl8pPr>
            <a:lvl9pPr>
              <a:defRPr sz="1400">
                <a:latin typeface="Times New Roman"/>
                <a:cs typeface="Times New Roman"/>
              </a:defRPr>
            </a:lvl9pPr>
          </a:lstStyle>
          <a:p>
            <a:pPr lvl="0"/>
            <a:r>
              <a:rPr lang="en-GB">
                <a:latin typeface="Times New Roman"/>
                <a:cs typeface="Times New Roman"/>
              </a:rPr>
              <a:t>Click to edit Master text styles</a:t>
            </a:r>
          </a:p>
          <a:p>
            <a:pPr lvl="1"/>
            <a:r>
              <a:rPr lang="en-GB">
                <a:latin typeface="Times New Roman"/>
                <a:cs typeface="Times New Roman"/>
              </a:rPr>
              <a:t>Second level</a:t>
            </a:r>
          </a:p>
          <a:p>
            <a:pPr lvl="2"/>
            <a:r>
              <a:rPr lang="en-GB">
                <a:latin typeface="Times New Roman"/>
                <a:cs typeface="Times New Roman"/>
              </a:rPr>
              <a:t>Third level</a:t>
            </a:r>
          </a:p>
          <a:p>
            <a:pPr lvl="3"/>
            <a:r>
              <a:rPr lang="en-GB">
                <a:latin typeface="Times New Roman"/>
                <a:cs typeface="Times New Roman"/>
              </a:rPr>
              <a:t>Fourth level</a:t>
            </a:r>
          </a:p>
          <a:p>
            <a:pPr lvl="4"/>
            <a:r>
              <a:rPr lang="en-GB">
                <a:latin typeface="Times New Roman"/>
                <a:cs typeface="Times New Roman"/>
              </a:rPr>
              <a:t>Fifth level</a:t>
            </a:r>
            <a:endParaRPr lang="en-US" dirty="0">
              <a:latin typeface="Times New Roman"/>
              <a:cs typeface="Times New Roman"/>
            </a:endParaRPr>
          </a:p>
        </p:txBody>
      </p:sp>
      <p:sp>
        <p:nvSpPr>
          <p:cNvPr id="9" name="Slide Number Placeholder 8"/>
          <p:cNvSpPr>
            <a:spLocks noGrp="1"/>
          </p:cNvSpPr>
          <p:nvPr>
            <p:ph type="sldNum" sz="quarter" idx="12"/>
          </p:nvPr>
        </p:nvSpPr>
        <p:spPr/>
        <p:txBody>
          <a:bodyPr/>
          <a:lstStyle/>
          <a:p>
            <a:fld id="{E9C29D53-9981-884B-B5B6-B5743DF81FD1}" type="slidenum">
              <a:rPr lang="en-BD" smtClean="0">
                <a:latin typeface="Times New Roman"/>
                <a:cs typeface="Times New Roman"/>
              </a:rPr>
              <a:t>‹#›</a:t>
            </a:fld>
            <a:endParaRPr lang="en-BD">
              <a:latin typeface="Times New Roman"/>
              <a:cs typeface="Times New Roman"/>
            </a:endParaRPr>
          </a:p>
        </p:txBody>
      </p:sp>
      <p:sp>
        <p:nvSpPr>
          <p:cNvPr id="10" name="Date Placeholder 5">
            <a:extLst>
              <a:ext uri="{FF2B5EF4-FFF2-40B4-BE49-F238E27FC236}">
                <a16:creationId xmlns:a16="http://schemas.microsoft.com/office/drawing/2014/main" id="{3AA596F9-6385-224E-8B6A-509678335D14}"/>
              </a:ext>
            </a:extLst>
          </p:cNvPr>
          <p:cNvSpPr>
            <a:spLocks noGrp="1"/>
          </p:cNvSpPr>
          <p:nvPr>
            <p:ph type="dt" sz="half" idx="10"/>
          </p:nvPr>
        </p:nvSpPr>
        <p:spPr>
          <a:xfrm>
            <a:off x="432486" y="6501637"/>
            <a:ext cx="4825314" cy="375412"/>
          </a:xfrm>
        </p:spPr>
        <p:txBody>
          <a:bodyPr/>
          <a:lstStyle/>
          <a:p>
            <a:r>
              <a:rPr lang="en-US">
                <a:latin typeface="Times New Roman"/>
                <a:cs typeface="Times New Roman"/>
              </a:rPr>
              <a:t>EEE 416 (2022) – Final Project Group A.XY</a:t>
            </a:r>
            <a:endParaRPr lang="en-BD" dirty="0">
              <a:latin typeface="Times New Roman"/>
              <a:cs typeface="Times New Roman"/>
            </a:endParaRPr>
          </a:p>
        </p:txBody>
      </p:sp>
      <p:sp>
        <p:nvSpPr>
          <p:cNvPr id="11" name="Footer Placeholder 6">
            <a:extLst>
              <a:ext uri="{FF2B5EF4-FFF2-40B4-BE49-F238E27FC236}">
                <a16:creationId xmlns:a16="http://schemas.microsoft.com/office/drawing/2014/main" id="{1CB05F73-B36B-5A48-81EA-E76B135758B3}"/>
              </a:ext>
            </a:extLst>
          </p:cNvPr>
          <p:cNvSpPr>
            <a:spLocks noGrp="1"/>
          </p:cNvSpPr>
          <p:nvPr>
            <p:ph type="ftr" sz="quarter" idx="11"/>
          </p:nvPr>
        </p:nvSpPr>
        <p:spPr>
          <a:xfrm>
            <a:off x="5257800" y="6482588"/>
            <a:ext cx="6153150" cy="375412"/>
          </a:xfrm>
        </p:spPr>
        <p:txBody>
          <a:bodyPr/>
          <a:lstStyle/>
          <a:p>
            <a:r>
              <a:rPr lang="en-BD" dirty="0">
                <a:latin typeface="Times New Roman"/>
                <a:cs typeface="Times New Roman"/>
              </a:rPr>
              <a:t>Title of the Project</a:t>
            </a:r>
          </a:p>
        </p:txBody>
      </p:sp>
    </p:spTree>
    <p:extLst>
      <p:ext uri="{BB962C8B-B14F-4D97-AF65-F5344CB8AC3E}">
        <p14:creationId xmlns:p14="http://schemas.microsoft.com/office/powerpoint/2010/main" val="3184022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atin typeface="Times New Roman"/>
                <a:cs typeface="Times New Roman"/>
              </a:rPr>
              <a:t>Click to edit Master title style</a:t>
            </a:r>
            <a:endParaRPr lang="en-US" dirty="0">
              <a:latin typeface="Times New Roman"/>
              <a:cs typeface="Times New Roman"/>
            </a:endParaRPr>
          </a:p>
        </p:txBody>
      </p:sp>
      <p:sp>
        <p:nvSpPr>
          <p:cNvPr id="5" name="Slide Number Placeholder 4"/>
          <p:cNvSpPr>
            <a:spLocks noGrp="1"/>
          </p:cNvSpPr>
          <p:nvPr>
            <p:ph type="sldNum" sz="quarter" idx="12"/>
          </p:nvPr>
        </p:nvSpPr>
        <p:spPr/>
        <p:txBody>
          <a:bodyPr/>
          <a:lstStyle/>
          <a:p>
            <a:fld id="{E9C29D53-9981-884B-B5B6-B5743DF81FD1}" type="slidenum">
              <a:rPr lang="en-BD" smtClean="0">
                <a:latin typeface="Times New Roman"/>
                <a:cs typeface="Times New Roman"/>
              </a:rPr>
              <a:t>‹#›</a:t>
            </a:fld>
            <a:endParaRPr lang="en-BD">
              <a:latin typeface="Times New Roman"/>
              <a:cs typeface="Times New Roman"/>
            </a:endParaRPr>
          </a:p>
        </p:txBody>
      </p:sp>
      <p:sp>
        <p:nvSpPr>
          <p:cNvPr id="6" name="Date Placeholder 5">
            <a:extLst>
              <a:ext uri="{FF2B5EF4-FFF2-40B4-BE49-F238E27FC236}">
                <a16:creationId xmlns:a16="http://schemas.microsoft.com/office/drawing/2014/main" id="{24A8BE3A-860F-304A-9628-0D1C6721E98C}"/>
              </a:ext>
            </a:extLst>
          </p:cNvPr>
          <p:cNvSpPr>
            <a:spLocks noGrp="1"/>
          </p:cNvSpPr>
          <p:nvPr>
            <p:ph type="dt" sz="half" idx="10"/>
          </p:nvPr>
        </p:nvSpPr>
        <p:spPr>
          <a:xfrm>
            <a:off x="432486" y="6501637"/>
            <a:ext cx="4825314" cy="375412"/>
          </a:xfrm>
        </p:spPr>
        <p:txBody>
          <a:bodyPr/>
          <a:lstStyle/>
          <a:p>
            <a:r>
              <a:rPr lang="en-US">
                <a:latin typeface="Times New Roman"/>
                <a:cs typeface="Times New Roman"/>
              </a:rPr>
              <a:t>EEE 416 (2022) – Final Project Group A.XY</a:t>
            </a:r>
            <a:endParaRPr lang="en-BD" dirty="0">
              <a:latin typeface="Times New Roman"/>
              <a:cs typeface="Times New Roman"/>
            </a:endParaRPr>
          </a:p>
        </p:txBody>
      </p:sp>
      <p:sp>
        <p:nvSpPr>
          <p:cNvPr id="7" name="Footer Placeholder 6">
            <a:extLst>
              <a:ext uri="{FF2B5EF4-FFF2-40B4-BE49-F238E27FC236}">
                <a16:creationId xmlns:a16="http://schemas.microsoft.com/office/drawing/2014/main" id="{78BF763A-9E9F-6745-958E-87128C40B814}"/>
              </a:ext>
            </a:extLst>
          </p:cNvPr>
          <p:cNvSpPr>
            <a:spLocks noGrp="1"/>
          </p:cNvSpPr>
          <p:nvPr>
            <p:ph type="ftr" sz="quarter" idx="11"/>
          </p:nvPr>
        </p:nvSpPr>
        <p:spPr>
          <a:xfrm>
            <a:off x="5257800" y="6482588"/>
            <a:ext cx="6153150" cy="375412"/>
          </a:xfrm>
        </p:spPr>
        <p:txBody>
          <a:bodyPr/>
          <a:lstStyle/>
          <a:p>
            <a:r>
              <a:rPr lang="en-BD" dirty="0">
                <a:latin typeface="Times New Roman"/>
                <a:cs typeface="Times New Roman"/>
              </a:rPr>
              <a:t>Title of the Project</a:t>
            </a:r>
          </a:p>
        </p:txBody>
      </p:sp>
    </p:spTree>
    <p:extLst>
      <p:ext uri="{BB962C8B-B14F-4D97-AF65-F5344CB8AC3E}">
        <p14:creationId xmlns:p14="http://schemas.microsoft.com/office/powerpoint/2010/main" val="144822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9C29D53-9981-884B-B5B6-B5743DF81FD1}" type="slidenum">
              <a:rPr lang="en-BD" smtClean="0">
                <a:latin typeface="Times New Roman"/>
                <a:cs typeface="Times New Roman"/>
              </a:rPr>
              <a:t>‹#›</a:t>
            </a:fld>
            <a:endParaRPr lang="en-BD">
              <a:latin typeface="Times New Roman"/>
              <a:cs typeface="Times New Roman"/>
            </a:endParaRPr>
          </a:p>
        </p:txBody>
      </p:sp>
      <p:sp>
        <p:nvSpPr>
          <p:cNvPr id="5" name="Date Placeholder 5">
            <a:extLst>
              <a:ext uri="{FF2B5EF4-FFF2-40B4-BE49-F238E27FC236}">
                <a16:creationId xmlns:a16="http://schemas.microsoft.com/office/drawing/2014/main" id="{7E522AF0-01E9-C04B-A4BD-1E790BA6B079}"/>
              </a:ext>
            </a:extLst>
          </p:cNvPr>
          <p:cNvSpPr>
            <a:spLocks noGrp="1"/>
          </p:cNvSpPr>
          <p:nvPr>
            <p:ph type="dt" sz="half" idx="10"/>
          </p:nvPr>
        </p:nvSpPr>
        <p:spPr>
          <a:xfrm>
            <a:off x="432486" y="6501637"/>
            <a:ext cx="4825314" cy="375412"/>
          </a:xfrm>
        </p:spPr>
        <p:txBody>
          <a:bodyPr/>
          <a:lstStyle/>
          <a:p>
            <a:r>
              <a:rPr lang="en-US">
                <a:latin typeface="Times New Roman"/>
                <a:cs typeface="Times New Roman"/>
              </a:rPr>
              <a:t>EEE 416 (2022) – Final Project Group A.XY</a:t>
            </a:r>
            <a:endParaRPr lang="en-BD" dirty="0">
              <a:latin typeface="Times New Roman"/>
              <a:cs typeface="Times New Roman"/>
            </a:endParaRPr>
          </a:p>
        </p:txBody>
      </p:sp>
      <p:sp>
        <p:nvSpPr>
          <p:cNvPr id="6" name="Footer Placeholder 6">
            <a:extLst>
              <a:ext uri="{FF2B5EF4-FFF2-40B4-BE49-F238E27FC236}">
                <a16:creationId xmlns:a16="http://schemas.microsoft.com/office/drawing/2014/main" id="{6FE88DDB-FE65-5846-A692-EED395E9C200}"/>
              </a:ext>
            </a:extLst>
          </p:cNvPr>
          <p:cNvSpPr>
            <a:spLocks noGrp="1"/>
          </p:cNvSpPr>
          <p:nvPr>
            <p:ph type="ftr" sz="quarter" idx="11"/>
          </p:nvPr>
        </p:nvSpPr>
        <p:spPr>
          <a:xfrm>
            <a:off x="5257800" y="6482588"/>
            <a:ext cx="6153150" cy="375412"/>
          </a:xfrm>
        </p:spPr>
        <p:txBody>
          <a:bodyPr/>
          <a:lstStyle/>
          <a:p>
            <a:r>
              <a:rPr lang="en-BD" dirty="0">
                <a:latin typeface="Times New Roman"/>
                <a:cs typeface="Times New Roman"/>
              </a:rPr>
              <a:t>Title of the Project</a:t>
            </a:r>
          </a:p>
        </p:txBody>
      </p:sp>
    </p:spTree>
    <p:extLst>
      <p:ext uri="{BB962C8B-B14F-4D97-AF65-F5344CB8AC3E}">
        <p14:creationId xmlns:p14="http://schemas.microsoft.com/office/powerpoint/2010/main" val="39704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52ED7D-C8C9-FC45-9D41-2B197068D5F8}"/>
              </a:ext>
            </a:extLst>
          </p:cNvPr>
          <p:cNvSpPr/>
          <p:nvPr userDrawn="1"/>
        </p:nvSpPr>
        <p:spPr>
          <a:xfrm>
            <a:off x="1" y="6457189"/>
            <a:ext cx="12192000" cy="41316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D">
              <a:latin typeface="Times New Roman"/>
              <a:cs typeface="Times New Roman"/>
            </a:endParaRPr>
          </a:p>
        </p:txBody>
      </p:sp>
      <p:sp>
        <p:nvSpPr>
          <p:cNvPr id="2" name="Title Placeholder 1"/>
          <p:cNvSpPr>
            <a:spLocks noGrp="1"/>
          </p:cNvSpPr>
          <p:nvPr>
            <p:ph type="title"/>
          </p:nvPr>
        </p:nvSpPr>
        <p:spPr>
          <a:xfrm>
            <a:off x="1066800" y="459714"/>
            <a:ext cx="10058400" cy="729006"/>
          </a:xfrm>
          <a:prstGeom prst="rect">
            <a:avLst/>
          </a:prstGeom>
        </p:spPr>
        <p:txBody>
          <a:bodyPr vert="horz" lIns="91440" tIns="45720" rIns="91440" bIns="45720" rtlCol="0" anchor="ctr">
            <a:normAutofit/>
          </a:bodyPr>
          <a:lstStyle/>
          <a:p>
            <a:r>
              <a:rPr lang="en-GB" dirty="0">
                <a:latin typeface="Times New Roman"/>
                <a:cs typeface="Times New Roman"/>
              </a:rPr>
              <a:t>Click to edit Master title style</a:t>
            </a:r>
            <a:endParaRPr lang="en-US" dirty="0">
              <a:latin typeface="Times New Roman"/>
              <a:cs typeface="Times New Roman"/>
            </a:endParaRPr>
          </a:p>
        </p:txBody>
      </p:sp>
      <p:sp>
        <p:nvSpPr>
          <p:cNvPr id="3" name="Text Placeholder 2"/>
          <p:cNvSpPr>
            <a:spLocks noGrp="1"/>
          </p:cNvSpPr>
          <p:nvPr>
            <p:ph type="body" idx="1"/>
          </p:nvPr>
        </p:nvSpPr>
        <p:spPr>
          <a:xfrm>
            <a:off x="1066800" y="1493520"/>
            <a:ext cx="10058400" cy="4541520"/>
          </a:xfrm>
          <a:prstGeom prst="rect">
            <a:avLst/>
          </a:prstGeom>
        </p:spPr>
        <p:txBody>
          <a:bodyPr vert="horz" lIns="91440" tIns="45720" rIns="91440" bIns="45720" rtlCol="0">
            <a:normAutofit/>
          </a:bodyPr>
          <a:lstStyle/>
          <a:p>
            <a:pPr lvl="0"/>
            <a:r>
              <a:rPr lang="en-GB" dirty="0">
                <a:latin typeface="Times New Roman"/>
                <a:cs typeface="Times New Roman"/>
              </a:rPr>
              <a:t>Click to edit Master text styles</a:t>
            </a:r>
          </a:p>
          <a:p>
            <a:pPr lvl="1"/>
            <a:r>
              <a:rPr lang="en-GB" dirty="0">
                <a:latin typeface="Times New Roman"/>
                <a:cs typeface="Times New Roman"/>
              </a:rPr>
              <a:t>Second level</a:t>
            </a:r>
          </a:p>
          <a:p>
            <a:pPr lvl="2"/>
            <a:r>
              <a:rPr lang="en-GB" dirty="0">
                <a:latin typeface="Times New Roman"/>
                <a:cs typeface="Times New Roman"/>
              </a:rPr>
              <a:t>Third level</a:t>
            </a:r>
          </a:p>
          <a:p>
            <a:pPr lvl="3"/>
            <a:r>
              <a:rPr lang="en-GB" dirty="0">
                <a:latin typeface="Times New Roman"/>
                <a:cs typeface="Times New Roman"/>
              </a:rPr>
              <a:t>Fourth level</a:t>
            </a:r>
          </a:p>
          <a:p>
            <a:pPr lvl="4"/>
            <a:r>
              <a:rPr lang="en-GB" dirty="0">
                <a:latin typeface="Times New Roman"/>
                <a:cs typeface="Times New Roman"/>
              </a:rPr>
              <a:t>Fifth level</a:t>
            </a:r>
            <a:endParaRPr lang="en-US" dirty="0">
              <a:latin typeface="Times New Roman"/>
              <a:cs typeface="Times New Roman"/>
            </a:endParaRPr>
          </a:p>
        </p:txBody>
      </p:sp>
      <p:sp>
        <p:nvSpPr>
          <p:cNvPr id="6" name="Slide Number Placeholder 5"/>
          <p:cNvSpPr>
            <a:spLocks noGrp="1"/>
          </p:cNvSpPr>
          <p:nvPr>
            <p:ph type="sldNum" sz="quarter" idx="4"/>
          </p:nvPr>
        </p:nvSpPr>
        <p:spPr>
          <a:xfrm>
            <a:off x="11410950" y="6501638"/>
            <a:ext cx="521970" cy="308530"/>
          </a:xfrm>
          <a:prstGeom prst="rect">
            <a:avLst/>
          </a:prstGeom>
        </p:spPr>
        <p:txBody>
          <a:bodyPr vert="horz" lIns="91440" tIns="45720" rIns="91440" bIns="45720" rtlCol="0" anchor="b"/>
          <a:lstStyle>
            <a:lvl1pPr algn="r">
              <a:defRPr sz="1400" b="1">
                <a:solidFill>
                  <a:schemeClr val="bg1"/>
                </a:solidFill>
                <a:latin typeface="Times New Roman"/>
                <a:cs typeface="Times New Roman"/>
              </a:defRPr>
            </a:lvl1pPr>
          </a:lstStyle>
          <a:p>
            <a:fld id="{E9C29D53-9981-884B-B5B6-B5743DF81FD1}" type="slidenum">
              <a:rPr lang="en-BD" smtClean="0">
                <a:latin typeface="Times New Roman"/>
                <a:cs typeface="Times New Roman"/>
              </a:rPr>
              <a:pPr/>
              <a:t>‹#›</a:t>
            </a:fld>
            <a:endParaRPr lang="en-BD" dirty="0">
              <a:latin typeface="Times New Roman"/>
              <a:cs typeface="Times New Roman"/>
            </a:endParaRPr>
          </a:p>
        </p:txBody>
      </p:sp>
      <p:pic>
        <p:nvPicPr>
          <p:cNvPr id="9" name="Graphic 8">
            <a:extLst>
              <a:ext uri="{FF2B5EF4-FFF2-40B4-BE49-F238E27FC236}">
                <a16:creationId xmlns:a16="http://schemas.microsoft.com/office/drawing/2014/main" id="{8D083A58-BF4A-C247-A39E-31621332A2F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r="84048"/>
          <a:stretch/>
        </p:blipFill>
        <p:spPr>
          <a:xfrm>
            <a:off x="51125" y="6457189"/>
            <a:ext cx="381361" cy="352979"/>
          </a:xfrm>
          <a:prstGeom prst="rect">
            <a:avLst/>
          </a:prstGeom>
        </p:spPr>
      </p:pic>
      <p:sp>
        <p:nvSpPr>
          <p:cNvPr id="10" name="Date Placeholder 5">
            <a:extLst>
              <a:ext uri="{FF2B5EF4-FFF2-40B4-BE49-F238E27FC236}">
                <a16:creationId xmlns:a16="http://schemas.microsoft.com/office/drawing/2014/main" id="{576C60AE-BF9F-E948-A464-57EC6013BD0B}"/>
              </a:ext>
            </a:extLst>
          </p:cNvPr>
          <p:cNvSpPr>
            <a:spLocks noGrp="1"/>
          </p:cNvSpPr>
          <p:nvPr>
            <p:ph type="dt" sz="half" idx="2"/>
          </p:nvPr>
        </p:nvSpPr>
        <p:spPr>
          <a:xfrm>
            <a:off x="432486" y="6501637"/>
            <a:ext cx="3968064" cy="394119"/>
          </a:xfrm>
          <a:prstGeom prst="rect">
            <a:avLst/>
          </a:prstGeom>
        </p:spPr>
        <p:txBody>
          <a:bodyPr/>
          <a:lstStyle>
            <a:lvl1pPr>
              <a:defRPr>
                <a:solidFill>
                  <a:schemeClr val="bg1"/>
                </a:solidFill>
                <a:latin typeface="Times New Roman" panose="020B0606020202030204" pitchFamily="34" charset="0"/>
                <a:cs typeface="Times New Roman"/>
              </a:defRPr>
            </a:lvl1pPr>
          </a:lstStyle>
          <a:p>
            <a:r>
              <a:rPr lang="en-US" dirty="0">
                <a:latin typeface="Times New Roman"/>
                <a:cs typeface="Times New Roman"/>
              </a:rPr>
              <a:t>EEE </a:t>
            </a:r>
            <a:r>
              <a:rPr lang="en-US" dirty="0" err="1">
                <a:latin typeface="Times New Roman"/>
                <a:cs typeface="Times New Roman"/>
              </a:rPr>
              <a:t>xyz</a:t>
            </a:r>
            <a:r>
              <a:rPr lang="en-US" dirty="0">
                <a:latin typeface="Times New Roman"/>
                <a:cs typeface="Times New Roman"/>
              </a:rPr>
              <a:t> (202z) – Final Project Group A.XY</a:t>
            </a:r>
            <a:endParaRPr lang="en-BD" dirty="0">
              <a:latin typeface="Times New Roman"/>
              <a:cs typeface="Times New Roman"/>
            </a:endParaRPr>
          </a:p>
        </p:txBody>
      </p:sp>
      <p:sp>
        <p:nvSpPr>
          <p:cNvPr id="11" name="Footer Placeholder 6">
            <a:extLst>
              <a:ext uri="{FF2B5EF4-FFF2-40B4-BE49-F238E27FC236}">
                <a16:creationId xmlns:a16="http://schemas.microsoft.com/office/drawing/2014/main" id="{DCD1120D-AD02-624F-AC7B-A52A109ECB59}"/>
              </a:ext>
            </a:extLst>
          </p:cNvPr>
          <p:cNvSpPr>
            <a:spLocks noGrp="1"/>
          </p:cNvSpPr>
          <p:nvPr>
            <p:ph type="ftr" sz="quarter" idx="3"/>
          </p:nvPr>
        </p:nvSpPr>
        <p:spPr>
          <a:xfrm>
            <a:off x="4400550" y="6507645"/>
            <a:ext cx="5000625" cy="375412"/>
          </a:xfrm>
          <a:prstGeom prst="rect">
            <a:avLst/>
          </a:prstGeom>
        </p:spPr>
        <p:txBody>
          <a:bodyPr/>
          <a:lstStyle>
            <a:lvl1pPr algn="l">
              <a:defRPr>
                <a:solidFill>
                  <a:schemeClr val="bg1"/>
                </a:solidFill>
                <a:latin typeface="Times New Roman" panose="020B0606020202030204" pitchFamily="34" charset="0"/>
                <a:cs typeface="Times New Roman"/>
              </a:defRPr>
            </a:lvl1pPr>
          </a:lstStyle>
          <a:p>
            <a:r>
              <a:rPr lang="en-BD" dirty="0">
                <a:latin typeface="Times New Roman"/>
                <a:cs typeface="Times New Roman"/>
              </a:rPr>
              <a:t>Title of the Project</a:t>
            </a:r>
          </a:p>
        </p:txBody>
      </p:sp>
    </p:spTree>
    <p:extLst>
      <p:ext uri="{BB962C8B-B14F-4D97-AF65-F5344CB8AC3E}">
        <p14:creationId xmlns:p14="http://schemas.microsoft.com/office/powerpoint/2010/main" val="415582776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3" r:id="rId3"/>
    <p:sldLayoutId id="2147483714" r:id="rId4"/>
    <p:sldLayoutId id="2147483715" r:id="rId5"/>
    <p:sldLayoutId id="2147483716" r:id="rId6"/>
  </p:sldLayoutIdLst>
  <p:hf hdr="0"/>
  <p:txStyles>
    <p:title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2400" kern="1200">
          <a:solidFill>
            <a:schemeClr val="tx1"/>
          </a:solidFill>
          <a:latin typeface="Arial" panose="020B0604020202020204" pitchFamily="34" charset="0"/>
          <a:ea typeface="+mn-ea"/>
          <a:cs typeface="Arial" panose="020B0604020202020204" pitchFamily="34" charset="0"/>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2000" kern="1200">
          <a:solidFill>
            <a:schemeClr val="tx1"/>
          </a:solidFill>
          <a:latin typeface="Arial" panose="020B0604020202020204" pitchFamily="34" charset="0"/>
          <a:ea typeface="+mn-ea"/>
          <a:cs typeface="Arial" panose="020B0604020202020204" pitchFamily="34" charset="0"/>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B98A46D-A31D-6BE4-2AEE-D41E06D01BBA}"/>
              </a:ext>
            </a:extLst>
          </p:cNvPr>
          <p:cNvPicPr>
            <a:picLocks noChangeAspect="1"/>
          </p:cNvPicPr>
          <p:nvPr/>
        </p:nvPicPr>
        <p:blipFill>
          <a:blip r:embed="rId2"/>
          <a:stretch>
            <a:fillRect/>
          </a:stretch>
        </p:blipFill>
        <p:spPr>
          <a:xfrm>
            <a:off x="0" y="5951391"/>
            <a:ext cx="12192000" cy="906609"/>
          </a:xfrm>
          <a:prstGeom prst="rect">
            <a:avLst/>
          </a:prstGeom>
        </p:spPr>
      </p:pic>
      <p:sp>
        <p:nvSpPr>
          <p:cNvPr id="14" name="Rectangle 13">
            <a:extLst>
              <a:ext uri="{FF2B5EF4-FFF2-40B4-BE49-F238E27FC236}">
                <a16:creationId xmlns:a16="http://schemas.microsoft.com/office/drawing/2014/main" id="{FE7DF47F-0AEF-69E6-E506-60E60FE24DF3}"/>
              </a:ext>
            </a:extLst>
          </p:cNvPr>
          <p:cNvSpPr/>
          <p:nvPr/>
        </p:nvSpPr>
        <p:spPr>
          <a:xfrm>
            <a:off x="0" y="0"/>
            <a:ext cx="12192000" cy="160486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50000"/>
                </a:schemeClr>
              </a:solidFill>
            </a:endParaRPr>
          </a:p>
        </p:txBody>
      </p:sp>
      <p:sp>
        <p:nvSpPr>
          <p:cNvPr id="16" name="PlaceHolder 1">
            <a:extLst>
              <a:ext uri="{FF2B5EF4-FFF2-40B4-BE49-F238E27FC236}">
                <a16:creationId xmlns:a16="http://schemas.microsoft.com/office/drawing/2014/main" id="{6662444F-6B9F-2D56-8440-F42629CFCDC7}"/>
              </a:ext>
            </a:extLst>
          </p:cNvPr>
          <p:cNvSpPr>
            <a:spLocks noGrp="1"/>
          </p:cNvSpPr>
          <p:nvPr>
            <p:ph type="title"/>
          </p:nvPr>
        </p:nvSpPr>
        <p:spPr>
          <a:xfrm>
            <a:off x="0" y="1736291"/>
            <a:ext cx="12220800" cy="1497960"/>
          </a:xfrm>
          <a:prstGeom prst="rect">
            <a:avLst/>
          </a:prstGeom>
          <a:noFill/>
          <a:ln w="0">
            <a:noFill/>
          </a:ln>
        </p:spPr>
        <p:txBody>
          <a:bodyPr lIns="91440" tIns="45720" rIns="91440" bIns="45720" anchor="ctr">
            <a:noAutofit/>
          </a:bodyPr>
          <a:lstStyle/>
          <a:p>
            <a:pPr algn="ctr">
              <a:tabLst>
                <a:tab pos="0" algn="l"/>
              </a:tabLst>
            </a:pPr>
            <a:r>
              <a:rPr lang="en-US" sz="3600" b="1" dirty="0">
                <a:latin typeface="+mn-lt"/>
              </a:rPr>
              <a:t>Mitigating Transmission Losses and Fast Voltage Stability Index (FVSI) Evaluated Collapse using Genetic Algorithm and Particle Swarm Optimization in PSS®E</a:t>
            </a:r>
            <a:endParaRPr lang="en-US" sz="3600" b="1" strike="noStrike" spc="-1" dirty="0">
              <a:solidFill>
                <a:schemeClr val="accent2">
                  <a:lumMod val="50000"/>
                </a:schemeClr>
              </a:solidFill>
              <a:latin typeface="+mn-lt"/>
            </a:endParaRPr>
          </a:p>
        </p:txBody>
      </p:sp>
      <p:sp>
        <p:nvSpPr>
          <p:cNvPr id="17" name="PlaceHolder 2">
            <a:extLst>
              <a:ext uri="{FF2B5EF4-FFF2-40B4-BE49-F238E27FC236}">
                <a16:creationId xmlns:a16="http://schemas.microsoft.com/office/drawing/2014/main" id="{435E5F34-DD06-4B7D-98E1-EE9A55527F08}"/>
              </a:ext>
            </a:extLst>
          </p:cNvPr>
          <p:cNvSpPr txBox="1">
            <a:spLocks/>
          </p:cNvSpPr>
          <p:nvPr/>
        </p:nvSpPr>
        <p:spPr>
          <a:xfrm>
            <a:off x="-245616" y="3907319"/>
            <a:ext cx="3668332" cy="897840"/>
          </a:xfrm>
          <a:prstGeom prst="rect">
            <a:avLst/>
          </a:prstGeom>
          <a:noFill/>
          <a:ln w="0">
            <a:noFill/>
          </a:ln>
        </p:spPr>
        <p:txBody>
          <a:bodyPr vert="horz" lIns="91440" tIns="45720" rIns="91440" bIns="45720" rtlCol="0" anchor="t">
            <a:noAutofit/>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pPr algn="ctr">
              <a:tabLst>
                <a:tab pos="0" algn="l"/>
              </a:tabLst>
            </a:pPr>
            <a:r>
              <a:rPr lang="en-US" sz="2400" b="1" spc="-1" dirty="0">
                <a:solidFill>
                  <a:schemeClr val="accent2">
                    <a:lumMod val="50000"/>
                  </a:schemeClr>
                </a:solidFill>
                <a:latin typeface="+mn-lt"/>
              </a:rPr>
              <a:t>Mahfuz Alam Tonmoy</a:t>
            </a:r>
            <a:endParaRPr lang="en-US" sz="2400" spc="-1" dirty="0">
              <a:solidFill>
                <a:schemeClr val="accent2">
                  <a:lumMod val="50000"/>
                </a:schemeClr>
              </a:solidFill>
              <a:latin typeface="+mn-lt"/>
            </a:endParaRPr>
          </a:p>
          <a:p>
            <a:pPr algn="ctr">
              <a:lnSpc>
                <a:spcPct val="100000"/>
              </a:lnSpc>
              <a:tabLst>
                <a:tab pos="0" algn="l"/>
              </a:tabLst>
            </a:pPr>
            <a:r>
              <a:rPr lang="en-US" sz="2400" b="1" spc="63" dirty="0">
                <a:solidFill>
                  <a:srgbClr val="002060"/>
                </a:solidFill>
                <a:latin typeface="+mn-lt"/>
              </a:rPr>
              <a:t>2206116</a:t>
            </a:r>
            <a:endParaRPr lang="en-US" sz="2400" spc="-1" dirty="0">
              <a:solidFill>
                <a:srgbClr val="002060"/>
              </a:solidFill>
              <a:latin typeface="+mn-lt"/>
            </a:endParaRPr>
          </a:p>
        </p:txBody>
      </p:sp>
      <p:sp>
        <p:nvSpPr>
          <p:cNvPr id="18" name="Subtitle 2">
            <a:extLst>
              <a:ext uri="{FF2B5EF4-FFF2-40B4-BE49-F238E27FC236}">
                <a16:creationId xmlns:a16="http://schemas.microsoft.com/office/drawing/2014/main" id="{D773E085-7C9F-6D46-D58E-6A161135014A}"/>
              </a:ext>
            </a:extLst>
          </p:cNvPr>
          <p:cNvSpPr/>
          <p:nvPr/>
        </p:nvSpPr>
        <p:spPr>
          <a:xfrm>
            <a:off x="3174061" y="3952154"/>
            <a:ext cx="2538000"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92500"/>
          </a:bodyPr>
          <a:lstStyle/>
          <a:p>
            <a:pPr algn="ctr" defTabSz="914400">
              <a:lnSpc>
                <a:spcPct val="90000"/>
              </a:lnSpc>
            </a:pPr>
            <a:r>
              <a:rPr lang="en-US" sz="2400" b="1" strike="noStrike" spc="-1" dirty="0">
                <a:solidFill>
                  <a:schemeClr val="accent2">
                    <a:lumMod val="50000"/>
                  </a:schemeClr>
                </a:solidFill>
              </a:rPr>
              <a:t>Md. Shibli Noman</a:t>
            </a:r>
            <a:endParaRPr lang="en-US" sz="2400" b="0" strike="noStrike" spc="-1" dirty="0">
              <a:solidFill>
                <a:schemeClr val="accent2">
                  <a:lumMod val="50000"/>
                </a:schemeClr>
              </a:solidFill>
            </a:endParaRPr>
          </a:p>
          <a:p>
            <a:pPr algn="ctr" defTabSz="914400">
              <a:lnSpc>
                <a:spcPct val="100000"/>
              </a:lnSpc>
              <a:tabLst>
                <a:tab pos="0" algn="l"/>
              </a:tabLst>
            </a:pPr>
            <a:r>
              <a:rPr lang="en-BD" sz="2400" b="1" strike="noStrike" spc="63" dirty="0">
                <a:solidFill>
                  <a:schemeClr val="accent2">
                    <a:lumMod val="50000"/>
                  </a:schemeClr>
                </a:solidFill>
              </a:rPr>
              <a:t>2206117</a:t>
            </a:r>
            <a:endParaRPr lang="en-US" sz="2400" b="0" strike="noStrike" spc="-1" dirty="0">
              <a:solidFill>
                <a:schemeClr val="accent2">
                  <a:lumMod val="50000"/>
                </a:schemeClr>
              </a:solidFill>
            </a:endParaRPr>
          </a:p>
        </p:txBody>
      </p:sp>
      <p:sp>
        <p:nvSpPr>
          <p:cNvPr id="19" name="Subtitle 2">
            <a:extLst>
              <a:ext uri="{FF2B5EF4-FFF2-40B4-BE49-F238E27FC236}">
                <a16:creationId xmlns:a16="http://schemas.microsoft.com/office/drawing/2014/main" id="{BB0BE5F6-5795-C277-699F-79725232EE8C}"/>
              </a:ext>
            </a:extLst>
          </p:cNvPr>
          <p:cNvSpPr/>
          <p:nvPr/>
        </p:nvSpPr>
        <p:spPr>
          <a:xfrm>
            <a:off x="5488994" y="3972202"/>
            <a:ext cx="3795308"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90000"/>
              </a:lnSpc>
            </a:pPr>
            <a:r>
              <a:rPr lang="en-US" sz="2400" b="1" strike="noStrike" spc="-1" dirty="0">
                <a:solidFill>
                  <a:schemeClr val="accent2">
                    <a:lumMod val="50000"/>
                  </a:schemeClr>
                </a:solidFill>
              </a:rPr>
              <a:t>Md. Abdullah Al-Noman</a:t>
            </a:r>
            <a:endParaRPr lang="en-US" sz="2400" b="0" strike="noStrike" spc="-1" dirty="0">
              <a:solidFill>
                <a:schemeClr val="accent2">
                  <a:lumMod val="50000"/>
                </a:schemeClr>
              </a:solidFill>
            </a:endParaRPr>
          </a:p>
          <a:p>
            <a:pPr algn="ctr" defTabSz="914400">
              <a:lnSpc>
                <a:spcPct val="100000"/>
              </a:lnSpc>
              <a:tabLst>
                <a:tab pos="0" algn="l"/>
              </a:tabLst>
            </a:pPr>
            <a:r>
              <a:rPr lang="en-BD" sz="2400" b="1" strike="noStrike" spc="63" dirty="0">
                <a:solidFill>
                  <a:schemeClr val="accent2">
                    <a:lumMod val="50000"/>
                  </a:schemeClr>
                </a:solidFill>
              </a:rPr>
              <a:t>2206118</a:t>
            </a:r>
            <a:endParaRPr lang="en-US" sz="2400" b="0" strike="noStrike" spc="-1" dirty="0">
              <a:solidFill>
                <a:schemeClr val="accent2">
                  <a:lumMod val="50000"/>
                </a:schemeClr>
              </a:solidFill>
            </a:endParaRPr>
          </a:p>
        </p:txBody>
      </p:sp>
      <p:sp>
        <p:nvSpPr>
          <p:cNvPr id="20" name="Subtitle 2">
            <a:extLst>
              <a:ext uri="{FF2B5EF4-FFF2-40B4-BE49-F238E27FC236}">
                <a16:creationId xmlns:a16="http://schemas.microsoft.com/office/drawing/2014/main" id="{C7DED25C-884C-2C37-594E-263E91A048A0}"/>
              </a:ext>
            </a:extLst>
          </p:cNvPr>
          <p:cNvSpPr/>
          <p:nvPr/>
        </p:nvSpPr>
        <p:spPr>
          <a:xfrm>
            <a:off x="878435" y="5041116"/>
            <a:ext cx="3005139"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914400">
              <a:lnSpc>
                <a:spcPct val="90000"/>
              </a:lnSpc>
            </a:pPr>
            <a:r>
              <a:rPr lang="en-US" sz="2400" b="1" strike="noStrike" spc="-1" dirty="0">
                <a:solidFill>
                  <a:schemeClr val="accent2">
                    <a:lumMod val="50000"/>
                  </a:schemeClr>
                </a:solidFill>
              </a:rPr>
              <a:t>Md. Kawsar Ahmed</a:t>
            </a:r>
            <a:endParaRPr lang="en-US" sz="2400" b="0" strike="noStrike" spc="-1" dirty="0">
              <a:solidFill>
                <a:schemeClr val="accent2">
                  <a:lumMod val="50000"/>
                </a:schemeClr>
              </a:solidFill>
            </a:endParaRPr>
          </a:p>
          <a:p>
            <a:pPr algn="ctr" defTabSz="914400">
              <a:lnSpc>
                <a:spcPct val="100000"/>
              </a:lnSpc>
              <a:tabLst>
                <a:tab pos="0" algn="l"/>
              </a:tabLst>
            </a:pPr>
            <a:r>
              <a:rPr lang="en-BD" sz="2400" b="1" strike="noStrike" spc="63" dirty="0">
                <a:solidFill>
                  <a:schemeClr val="accent2">
                    <a:lumMod val="50000"/>
                  </a:schemeClr>
                </a:solidFill>
              </a:rPr>
              <a:t>2206122</a:t>
            </a:r>
            <a:endParaRPr lang="en-US" sz="2400" b="0" strike="noStrike" spc="-1" dirty="0">
              <a:solidFill>
                <a:schemeClr val="accent2">
                  <a:lumMod val="50000"/>
                </a:schemeClr>
              </a:solidFill>
            </a:endParaRPr>
          </a:p>
        </p:txBody>
      </p:sp>
      <p:sp>
        <p:nvSpPr>
          <p:cNvPr id="21" name="Subtitle 2">
            <a:extLst>
              <a:ext uri="{FF2B5EF4-FFF2-40B4-BE49-F238E27FC236}">
                <a16:creationId xmlns:a16="http://schemas.microsoft.com/office/drawing/2014/main" id="{A5B9E57D-DECE-A113-C920-29EED155D435}"/>
              </a:ext>
            </a:extLst>
          </p:cNvPr>
          <p:cNvSpPr/>
          <p:nvPr/>
        </p:nvSpPr>
        <p:spPr>
          <a:xfrm>
            <a:off x="1003852" y="3287672"/>
            <a:ext cx="10513440" cy="49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tabLst>
                <a:tab pos="0" algn="l"/>
              </a:tabLst>
            </a:pPr>
            <a:r>
              <a:rPr lang="en-BD" sz="2800" b="1" strike="noStrike" cap="small" spc="63" dirty="0">
                <a:solidFill>
                  <a:schemeClr val="accent2">
                    <a:lumMod val="50000"/>
                  </a:schemeClr>
                </a:solidFill>
              </a:rPr>
              <a:t>Submitted by –</a:t>
            </a:r>
            <a:endParaRPr lang="en-US" sz="2800" b="0" strike="noStrike" spc="-1" dirty="0">
              <a:solidFill>
                <a:schemeClr val="accent2">
                  <a:lumMod val="50000"/>
                </a:schemeClr>
              </a:solidFill>
            </a:endParaRPr>
          </a:p>
        </p:txBody>
      </p:sp>
      <p:sp>
        <p:nvSpPr>
          <p:cNvPr id="22" name="TextBox 14">
            <a:extLst>
              <a:ext uri="{FF2B5EF4-FFF2-40B4-BE49-F238E27FC236}">
                <a16:creationId xmlns:a16="http://schemas.microsoft.com/office/drawing/2014/main" id="{D81B5584-255E-5D01-CB1C-DF715C395CF0}"/>
              </a:ext>
            </a:extLst>
          </p:cNvPr>
          <p:cNvSpPr/>
          <p:nvPr/>
        </p:nvSpPr>
        <p:spPr>
          <a:xfrm>
            <a:off x="-28800" y="183423"/>
            <a:ext cx="12220800" cy="2060649"/>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r>
              <a:rPr lang="en-US" sz="3200" b="1" dirty="0">
                <a:solidFill>
                  <a:schemeClr val="bg1"/>
                </a:solidFill>
              </a:rPr>
              <a:t>EEE 306 – Power System I Laboratory</a:t>
            </a:r>
            <a:r>
              <a:rPr lang="en-US" sz="3200" dirty="0">
                <a:solidFill>
                  <a:schemeClr val="bg1"/>
                </a:solidFill>
              </a:rPr>
              <a:t> </a:t>
            </a:r>
            <a:r>
              <a:rPr lang="en-US" sz="3200" b="1" spc="-1" dirty="0">
                <a:solidFill>
                  <a:schemeClr val="bg1"/>
                </a:solidFill>
              </a:rPr>
              <a:t>|</a:t>
            </a:r>
            <a:r>
              <a:rPr lang="en-US" sz="3200" b="1" strike="noStrike" spc="-1" dirty="0">
                <a:solidFill>
                  <a:schemeClr val="bg1"/>
                </a:solidFill>
              </a:rPr>
              <a:t> January 2026 </a:t>
            </a:r>
          </a:p>
          <a:p>
            <a:pPr algn="ctr"/>
            <a:r>
              <a:rPr lang="en-US" sz="3200" b="1" strike="noStrike" spc="-1" dirty="0">
                <a:solidFill>
                  <a:schemeClr val="bg1"/>
                </a:solidFill>
              </a:rPr>
              <a:t>Level 3 Term 1 | Section: B2</a:t>
            </a:r>
            <a:r>
              <a:rPr lang="en-US" sz="3200" b="1" spc="-1" dirty="0">
                <a:solidFill>
                  <a:schemeClr val="bg1"/>
                </a:solidFill>
              </a:rPr>
              <a:t> | </a:t>
            </a:r>
            <a:r>
              <a:rPr lang="en-US" b="1" dirty="0">
                <a:solidFill>
                  <a:schemeClr val="bg1"/>
                </a:solidFill>
              </a:rPr>
              <a:t> </a:t>
            </a:r>
            <a:r>
              <a:rPr lang="en-US" sz="3200" b="1" dirty="0">
                <a:solidFill>
                  <a:schemeClr val="bg1"/>
                </a:solidFill>
              </a:rPr>
              <a:t>Group - 5</a:t>
            </a:r>
            <a:endParaRPr lang="en-US" sz="4800" dirty="0">
              <a:solidFill>
                <a:schemeClr val="bg1"/>
              </a:solidFill>
            </a:endParaRPr>
          </a:p>
          <a:p>
            <a:pPr algn="ctr"/>
            <a:endParaRPr lang="en-US" sz="3200" b="0" strike="noStrike" spc="-1" dirty="0">
              <a:solidFill>
                <a:schemeClr val="bg1"/>
              </a:solidFill>
            </a:endParaRPr>
          </a:p>
          <a:p>
            <a:pPr algn="ctr" defTabSz="457200">
              <a:lnSpc>
                <a:spcPct val="100000"/>
              </a:lnSpc>
            </a:pPr>
            <a:endParaRPr lang="en-US" sz="3200" b="0" strike="noStrike" spc="-1" dirty="0">
              <a:solidFill>
                <a:schemeClr val="bg1"/>
              </a:solidFill>
            </a:endParaRPr>
          </a:p>
        </p:txBody>
      </p:sp>
      <p:sp>
        <p:nvSpPr>
          <p:cNvPr id="23" name="Subtitle 1">
            <a:extLst>
              <a:ext uri="{FF2B5EF4-FFF2-40B4-BE49-F238E27FC236}">
                <a16:creationId xmlns:a16="http://schemas.microsoft.com/office/drawing/2014/main" id="{AF1F02D5-2D15-1972-01F0-10489D23047E}"/>
              </a:ext>
            </a:extLst>
          </p:cNvPr>
          <p:cNvSpPr/>
          <p:nvPr/>
        </p:nvSpPr>
        <p:spPr>
          <a:xfrm>
            <a:off x="4443061" y="5041116"/>
            <a:ext cx="3392765"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90000"/>
              </a:lnSpc>
            </a:pPr>
            <a:r>
              <a:rPr lang="en-US" sz="2400" b="1" strike="noStrike" spc="-1" dirty="0">
                <a:solidFill>
                  <a:schemeClr val="accent2">
                    <a:lumMod val="50000"/>
                  </a:schemeClr>
                </a:solidFill>
              </a:rPr>
              <a:t>Sadiq Sayeed Raha</a:t>
            </a:r>
            <a:endParaRPr lang="en-US" sz="2400" b="0" strike="noStrike" spc="-1" dirty="0">
              <a:solidFill>
                <a:schemeClr val="accent2">
                  <a:lumMod val="50000"/>
                </a:schemeClr>
              </a:solidFill>
            </a:endParaRPr>
          </a:p>
          <a:p>
            <a:pPr algn="ctr" defTabSz="914400">
              <a:lnSpc>
                <a:spcPct val="100000"/>
              </a:lnSpc>
              <a:tabLst>
                <a:tab pos="0" algn="l"/>
              </a:tabLst>
            </a:pPr>
            <a:r>
              <a:rPr lang="en-BD" sz="2400" b="1" strike="noStrike" spc="63" dirty="0">
                <a:solidFill>
                  <a:schemeClr val="accent2">
                    <a:lumMod val="50000"/>
                  </a:schemeClr>
                </a:solidFill>
              </a:rPr>
              <a:t>2206128</a:t>
            </a:r>
            <a:endParaRPr lang="en-US" sz="2400" b="0" strike="noStrike" spc="-1" dirty="0">
              <a:solidFill>
                <a:schemeClr val="accent2">
                  <a:lumMod val="50000"/>
                </a:schemeClr>
              </a:solidFill>
            </a:endParaRPr>
          </a:p>
        </p:txBody>
      </p:sp>
      <p:sp>
        <p:nvSpPr>
          <p:cNvPr id="24" name="Subtitle 3">
            <a:extLst>
              <a:ext uri="{FF2B5EF4-FFF2-40B4-BE49-F238E27FC236}">
                <a16:creationId xmlns:a16="http://schemas.microsoft.com/office/drawing/2014/main" id="{44B3FF64-E36D-F991-F739-B5C006181D92}"/>
              </a:ext>
            </a:extLst>
          </p:cNvPr>
          <p:cNvSpPr/>
          <p:nvPr/>
        </p:nvSpPr>
        <p:spPr>
          <a:xfrm>
            <a:off x="8342722" y="5092477"/>
            <a:ext cx="3084652"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914400">
              <a:lnSpc>
                <a:spcPct val="90000"/>
              </a:lnSpc>
            </a:pPr>
            <a:r>
              <a:rPr lang="en-US" sz="2400" b="1" strike="noStrike" spc="-1" dirty="0">
                <a:solidFill>
                  <a:schemeClr val="accent2">
                    <a:lumMod val="50000"/>
                  </a:schemeClr>
                </a:solidFill>
              </a:rPr>
              <a:t>Aritra Chowdhury</a:t>
            </a:r>
            <a:endParaRPr lang="en-US" sz="2400" b="0" strike="noStrike" spc="-1" dirty="0">
              <a:solidFill>
                <a:schemeClr val="accent2">
                  <a:lumMod val="50000"/>
                </a:schemeClr>
              </a:solidFill>
            </a:endParaRPr>
          </a:p>
          <a:p>
            <a:pPr algn="ctr" defTabSz="914400">
              <a:lnSpc>
                <a:spcPct val="100000"/>
              </a:lnSpc>
              <a:tabLst>
                <a:tab pos="0" algn="l"/>
              </a:tabLst>
            </a:pPr>
            <a:r>
              <a:rPr lang="en-BD" sz="2400" b="1" strike="noStrike" spc="63" dirty="0">
                <a:solidFill>
                  <a:schemeClr val="accent2">
                    <a:lumMod val="50000"/>
                  </a:schemeClr>
                </a:solidFill>
              </a:rPr>
              <a:t>2206129</a:t>
            </a:r>
            <a:endParaRPr lang="en-US" sz="2400" b="0" strike="noStrike" spc="-1" dirty="0">
              <a:solidFill>
                <a:schemeClr val="accent2">
                  <a:lumMod val="50000"/>
                </a:schemeClr>
              </a:solidFill>
            </a:endParaRPr>
          </a:p>
        </p:txBody>
      </p:sp>
      <p:sp>
        <p:nvSpPr>
          <p:cNvPr id="3" name="Subtitle 2">
            <a:extLst>
              <a:ext uri="{FF2B5EF4-FFF2-40B4-BE49-F238E27FC236}">
                <a16:creationId xmlns:a16="http://schemas.microsoft.com/office/drawing/2014/main" id="{776607B2-99A2-6DF8-C343-87661D8C814A}"/>
              </a:ext>
            </a:extLst>
          </p:cNvPr>
          <p:cNvSpPr/>
          <p:nvPr/>
        </p:nvSpPr>
        <p:spPr>
          <a:xfrm>
            <a:off x="9216194" y="3946245"/>
            <a:ext cx="2805023" cy="8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r>
              <a:rPr lang="en-US" sz="2400" b="1" dirty="0">
                <a:solidFill>
                  <a:srgbClr val="002060"/>
                </a:solidFill>
              </a:rPr>
              <a:t>Md. Ahasan Habib </a:t>
            </a:r>
          </a:p>
          <a:p>
            <a:pPr algn="ctr"/>
            <a:r>
              <a:rPr lang="en-US" sz="2400" b="1" dirty="0">
                <a:solidFill>
                  <a:srgbClr val="002060"/>
                </a:solidFill>
              </a:rPr>
              <a:t>Kawsar - </a:t>
            </a:r>
            <a:r>
              <a:rPr lang="en-BD" sz="2400" b="1" strike="noStrike" spc="63" dirty="0">
                <a:solidFill>
                  <a:schemeClr val="accent2">
                    <a:lumMod val="50000"/>
                  </a:schemeClr>
                </a:solidFill>
              </a:rPr>
              <a:t>220611</a:t>
            </a:r>
            <a:r>
              <a:rPr lang="en-US" sz="2400" b="1" strike="noStrike" spc="63" dirty="0">
                <a:solidFill>
                  <a:schemeClr val="accent2">
                    <a:lumMod val="50000"/>
                  </a:schemeClr>
                </a:solidFill>
              </a:rPr>
              <a:t>9</a:t>
            </a:r>
            <a:endParaRPr lang="en-US" sz="2400" b="0" strike="noStrike" spc="-1" dirty="0">
              <a:solidFill>
                <a:schemeClr val="accent2">
                  <a:lumMod val="50000"/>
                </a:schemeClr>
              </a:solidFill>
            </a:endParaRPr>
          </a:p>
        </p:txBody>
      </p:sp>
    </p:spTree>
    <p:extLst>
      <p:ext uri="{BB962C8B-B14F-4D97-AF65-F5344CB8AC3E}">
        <p14:creationId xmlns:p14="http://schemas.microsoft.com/office/powerpoint/2010/main" val="3808876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3012B-84B9-7349-A96C-D843A369539B}"/>
              </a:ext>
            </a:extLst>
          </p:cNvPr>
          <p:cNvSpPr>
            <a:spLocks noGrp="1"/>
          </p:cNvSpPr>
          <p:nvPr>
            <p:ph type="title"/>
          </p:nvPr>
        </p:nvSpPr>
        <p:spPr>
          <a:xfrm>
            <a:off x="3493293" y="211378"/>
            <a:ext cx="5205413" cy="729006"/>
          </a:xfrm>
        </p:spPr>
        <p:txBody>
          <a:bodyPr>
            <a:normAutofit/>
          </a:bodyPr>
          <a:lstStyle/>
          <a:p>
            <a:pPr algn="ctr"/>
            <a:r>
              <a:rPr lang="en-BD" dirty="0">
                <a:solidFill>
                  <a:srgbClr val="C00000"/>
                </a:solidFill>
                <a:latin typeface="Times New Roman" panose="02010803020104030203" pitchFamily="2" charset="-79"/>
                <a:cs typeface="Times New Roman" panose="02010803020104030203" pitchFamily="2" charset="-79"/>
              </a:rPr>
              <a:t>Outline</a:t>
            </a:r>
          </a:p>
        </p:txBody>
      </p:sp>
      <p:sp>
        <p:nvSpPr>
          <p:cNvPr id="3" name="Content Placeholder 2">
            <a:extLst>
              <a:ext uri="{FF2B5EF4-FFF2-40B4-BE49-F238E27FC236}">
                <a16:creationId xmlns:a16="http://schemas.microsoft.com/office/drawing/2014/main" id="{D6E5899E-188D-E346-BD75-A52C25C2CF7A}"/>
              </a:ext>
            </a:extLst>
          </p:cNvPr>
          <p:cNvSpPr>
            <a:spLocks noGrp="1"/>
          </p:cNvSpPr>
          <p:nvPr>
            <p:ph idx="1"/>
          </p:nvPr>
        </p:nvSpPr>
        <p:spPr>
          <a:xfrm>
            <a:off x="286701" y="940384"/>
            <a:ext cx="6413183" cy="5197489"/>
          </a:xfrm>
        </p:spPr>
        <p:txBody>
          <a:bodyPr>
            <a:normAutofit fontScale="92500"/>
          </a:bodyPr>
          <a:lstStyle/>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Summary </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Introduction </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Design Methods &amp; Problem Formulation</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Implementation &amp; Results </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Design Analysis </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Teamwork &amp; Project Management</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Course Outcomes &amp; Program Outcomes (CO-PO) Mapping </a:t>
            </a:r>
          </a:p>
          <a:p>
            <a:pPr lvl="1">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Future Work &amp; References</a:t>
            </a:r>
          </a:p>
        </p:txBody>
      </p:sp>
      <p:sp>
        <p:nvSpPr>
          <p:cNvPr id="4" name="Slide Number Placeholder 3">
            <a:extLst>
              <a:ext uri="{FF2B5EF4-FFF2-40B4-BE49-F238E27FC236}">
                <a16:creationId xmlns:a16="http://schemas.microsoft.com/office/drawing/2014/main" id="{E4016421-CA9E-E344-9555-2F9A2A519073}"/>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2</a:t>
            </a:fld>
            <a:endParaRPr lang="en-BD">
              <a:latin typeface="Times New Roman"/>
              <a:cs typeface="Times New Roman"/>
            </a:endParaRPr>
          </a:p>
        </p:txBody>
      </p:sp>
      <p:sp>
        <p:nvSpPr>
          <p:cNvPr id="5" name="Date Placeholder 4">
            <a:extLst>
              <a:ext uri="{FF2B5EF4-FFF2-40B4-BE49-F238E27FC236}">
                <a16:creationId xmlns:a16="http://schemas.microsoft.com/office/drawing/2014/main" id="{7A4EB6EC-D213-9F48-8356-86C62AC118FF}"/>
              </a:ext>
            </a:extLst>
          </p:cNvPr>
          <p:cNvSpPr>
            <a:spLocks noGrp="1"/>
          </p:cNvSpPr>
          <p:nvPr>
            <p:ph type="dt" sz="half" idx="10"/>
          </p:nvPr>
        </p:nvSpPr>
        <p:spPr>
          <a:xfrm>
            <a:off x="432486" y="6501637"/>
            <a:ext cx="4825314" cy="375412"/>
          </a:xfrm>
        </p:spPr>
        <p:txBody>
          <a:bodyPr/>
          <a:lstStyle/>
          <a:p>
            <a:r>
              <a:rPr lang="en-US" dirty="0">
                <a:latin typeface="Times New Roman"/>
                <a:cs typeface="Times New Roman"/>
              </a:rPr>
              <a:t>EEE 306 – Power System I Laboratory</a:t>
            </a:r>
            <a:endParaRPr lang="en-BD" dirty="0">
              <a:latin typeface="Times New Roman"/>
              <a:cs typeface="Times New Roman"/>
            </a:endParaRPr>
          </a:p>
        </p:txBody>
      </p:sp>
      <p:pic>
        <p:nvPicPr>
          <p:cNvPr id="7" name="Picture 6" descr="19,500+ High Voltage Transmission Line Stock Photos and Royalty-Free  Pictures - iStock">
            <a:extLst>
              <a:ext uri="{FF2B5EF4-FFF2-40B4-BE49-F238E27FC236}">
                <a16:creationId xmlns:a16="http://schemas.microsoft.com/office/drawing/2014/main" id="{E7374918-D200-3501-9516-3ED0B0CB76F0}"/>
              </a:ext>
            </a:extLst>
          </p:cNvPr>
          <p:cNvPicPr>
            <a:picLocks noChangeAspect="1"/>
          </p:cNvPicPr>
          <p:nvPr/>
        </p:nvPicPr>
        <p:blipFill>
          <a:blip r:embed="rId2"/>
          <a:stretch>
            <a:fillRect/>
          </a:stretch>
        </p:blipFill>
        <p:spPr>
          <a:xfrm>
            <a:off x="7553794" y="1771485"/>
            <a:ext cx="4379126" cy="3975414"/>
          </a:xfrm>
          <a:prstGeom prst="rect">
            <a:avLst/>
          </a:prstGeom>
        </p:spPr>
      </p:pic>
    </p:spTree>
    <p:extLst>
      <p:ext uri="{BB962C8B-B14F-4D97-AF65-F5344CB8AC3E}">
        <p14:creationId xmlns:p14="http://schemas.microsoft.com/office/powerpoint/2010/main" val="209732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19EF6-C9F9-8E4B-90AC-5D229CB1168A}"/>
              </a:ext>
            </a:extLst>
          </p:cNvPr>
          <p:cNvSpPr>
            <a:spLocks noGrp="1"/>
          </p:cNvSpPr>
          <p:nvPr>
            <p:ph type="title"/>
          </p:nvPr>
        </p:nvSpPr>
        <p:spPr>
          <a:xfrm>
            <a:off x="1066800" y="209553"/>
            <a:ext cx="10058400" cy="729006"/>
          </a:xfrm>
        </p:spPr>
        <p:txBody>
          <a:bodyPr/>
          <a:lstStyle/>
          <a:p>
            <a:pPr algn="ctr"/>
            <a:r>
              <a:rPr lang="en-US" b="1" dirty="0">
                <a:solidFill>
                  <a:srgbClr val="C00000"/>
                </a:solidFill>
                <a:latin typeface="Times New Roman" panose="02010803020104030203" pitchFamily="2" charset="-79"/>
                <a:cs typeface="Times New Roman" panose="02010803020104030203" pitchFamily="2" charset="-79"/>
              </a:rPr>
              <a:t>1. Summary</a:t>
            </a:r>
            <a:endParaRPr lang="en-BD" b="1" dirty="0">
              <a:solidFill>
                <a:srgbClr val="C00000"/>
              </a:solidFill>
              <a:latin typeface="Times New Roman" panose="02010803020104030203" pitchFamily="2" charset="-79"/>
              <a:cs typeface="Times New Roman" panose="02010803020104030203" pitchFamily="2" charset="-79"/>
            </a:endParaRP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dirty="0">
                <a:latin typeface="Times New Roman"/>
              </a:rPr>
              <a:t>EEE 306 – Power System I Laboratory</a:t>
            </a:r>
            <a:endParaRPr lang="en-BD" dirty="0">
              <a:latin typeface="Times New Roman"/>
            </a:endParaRP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3</a:t>
            </a:fld>
            <a:endParaRPr lang="en-BD">
              <a:latin typeface="Times New Roman"/>
              <a:cs typeface="Times New Roman"/>
            </a:endParaRP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CE1E379F-684D-5096-41DA-D258F27649D4}"/>
                  </a:ext>
                </a:extLst>
              </p:cNvPr>
              <p:cNvSpPr>
                <a:spLocks noGrp="1"/>
              </p:cNvSpPr>
              <p:nvPr>
                <p:ph idx="1"/>
              </p:nvPr>
            </p:nvSpPr>
            <p:spPr>
              <a:xfrm>
                <a:off x="216243" y="1051915"/>
                <a:ext cx="11759514" cy="4754169"/>
              </a:xfrm>
            </p:spPr>
            <p:txBody>
              <a:bodyPr>
                <a:normAutofit fontScale="92500" lnSpcReduction="20000"/>
              </a:bodyPr>
              <a:lstStyle/>
              <a:p>
                <a:pPr lvl="1">
                  <a:buFont typeface="Wingdings" panose="05000000000000000000" pitchFamily="2" charset="2"/>
                  <a:buChar char="q"/>
                </a:pPr>
                <a:r>
                  <a:rPr lang="en-US" sz="3200" b="1" u="sng" dirty="0">
                    <a:solidFill>
                      <a:srgbClr val="FF0000"/>
                    </a:solidFill>
                    <a:latin typeface="Times New Roman" panose="02020603050405020304" pitchFamily="18" charset="0"/>
                    <a:cs typeface="Times New Roman" panose="02020603050405020304" pitchFamily="18" charset="0"/>
                  </a:rPr>
                  <a:t>What we did: </a:t>
                </a:r>
                <a:r>
                  <a:rPr lang="en-US" sz="3200" dirty="0">
                    <a:latin typeface="Times New Roman" panose="02020603050405020304" pitchFamily="18" charset="0"/>
                    <a:cs typeface="Times New Roman" panose="02020603050405020304" pitchFamily="18" charset="0"/>
                  </a:rPr>
                  <a:t>We developed a Python program that controls the PSS®E power system simulator to </a:t>
                </a:r>
                <a:r>
                  <a:rPr lang="en-US" sz="3200" b="1" dirty="0">
                    <a:latin typeface="Times New Roman" panose="02020603050405020304" pitchFamily="18" charset="0"/>
                    <a:cs typeface="Times New Roman" panose="02020603050405020304" pitchFamily="18" charset="0"/>
                  </a:rPr>
                  <a:t>fix voltage drops </a:t>
                </a:r>
                <a:r>
                  <a:rPr lang="en-US" sz="3200"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reduce</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power losses </a:t>
                </a:r>
                <a:r>
                  <a:rPr lang="en-US" sz="3200" dirty="0">
                    <a:latin typeface="Times New Roman" panose="02020603050405020304" pitchFamily="18" charset="0"/>
                    <a:cs typeface="Times New Roman" panose="02020603050405020304" pitchFamily="18" charset="0"/>
                  </a:rPr>
                  <a:t>in stressed power grids. </a:t>
                </a:r>
              </a:p>
              <a:p>
                <a:pPr lvl="1">
                  <a:buFont typeface="Wingdings" panose="05000000000000000000" pitchFamily="2" charset="2"/>
                  <a:buChar char="q"/>
                </a:pPr>
                <a:r>
                  <a:rPr lang="en-US" sz="3200" b="1" u="sng" dirty="0">
                    <a:solidFill>
                      <a:srgbClr val="FF0000"/>
                    </a:solidFill>
                    <a:latin typeface="Times New Roman" panose="02020603050405020304" pitchFamily="18" charset="0"/>
                    <a:cs typeface="Times New Roman" panose="02020603050405020304" pitchFamily="18" charset="0"/>
                  </a:rPr>
                  <a:t>The Methods: </a:t>
                </a:r>
                <a:r>
                  <a:rPr lang="en-US" sz="3200" dirty="0">
                    <a:latin typeface="Times New Roman" panose="02020603050405020304" pitchFamily="18" charset="0"/>
                    <a:cs typeface="Times New Roman" panose="02020603050405020304" pitchFamily="18" charset="0"/>
                  </a:rPr>
                  <a:t>We used a Genetic Algorithm (GA) to find the best </a:t>
                </a:r>
                <a:r>
                  <a:rPr lang="en-US" sz="3200" b="1" dirty="0">
                    <a:solidFill>
                      <a:srgbClr val="0070C0"/>
                    </a:solidFill>
                    <a:latin typeface="Times New Roman" panose="02020603050405020304" pitchFamily="18" charset="0"/>
                    <a:cs typeface="Times New Roman" panose="02020603050405020304" pitchFamily="18" charset="0"/>
                  </a:rPr>
                  <a:t>Transformer Tap settings </a:t>
                </a:r>
                <a:r>
                  <a:rPr lang="en-US" sz="3200" dirty="0">
                    <a:latin typeface="Times New Roman" panose="02020603050405020304" pitchFamily="18" charset="0"/>
                    <a:cs typeface="Times New Roman" panose="02020603050405020304" pitchFamily="18" charset="0"/>
                  </a:rPr>
                  <a:t>and Particle Swarm Optimization (PSO) to find the best </a:t>
                </a:r>
                <a:r>
                  <a:rPr lang="en-US" sz="3200" b="1" dirty="0">
                    <a:solidFill>
                      <a:srgbClr val="0070C0"/>
                    </a:solidFill>
                    <a:latin typeface="Times New Roman" panose="02020603050405020304" pitchFamily="18" charset="0"/>
                    <a:cs typeface="Times New Roman" panose="02020603050405020304" pitchFamily="18" charset="0"/>
                  </a:rPr>
                  <a:t>Sizes</a:t>
                </a:r>
                <a:r>
                  <a:rPr lang="en-US" sz="3200" dirty="0">
                    <a:latin typeface="Times New Roman" panose="02020603050405020304" pitchFamily="18" charset="0"/>
                    <a:cs typeface="Times New Roman" panose="02020603050405020304" pitchFamily="18" charset="0"/>
                  </a:rPr>
                  <a:t> and </a:t>
                </a:r>
                <a:r>
                  <a:rPr lang="en-US" sz="3200" b="1" dirty="0">
                    <a:solidFill>
                      <a:srgbClr val="0070C0"/>
                    </a:solidFill>
                    <a:latin typeface="Times New Roman" panose="02020603050405020304" pitchFamily="18" charset="0"/>
                    <a:cs typeface="Times New Roman" panose="02020603050405020304" pitchFamily="18" charset="0"/>
                  </a:rPr>
                  <a:t>Locations</a:t>
                </a:r>
                <a:r>
                  <a:rPr lang="en-US" sz="3200" dirty="0">
                    <a:latin typeface="Times New Roman" panose="02020603050405020304" pitchFamily="18" charset="0"/>
                    <a:cs typeface="Times New Roman" panose="02020603050405020304" pitchFamily="18" charset="0"/>
                  </a:rPr>
                  <a:t> for Capacitor banks. </a:t>
                </a:r>
              </a:p>
              <a:p>
                <a:pPr lvl="1">
                  <a:buFont typeface="Wingdings" panose="05000000000000000000" pitchFamily="2" charset="2"/>
                  <a:buChar char="q"/>
                </a:pPr>
                <a:r>
                  <a:rPr lang="en-US" sz="3200" b="1" u="sng" dirty="0">
                    <a:solidFill>
                      <a:srgbClr val="FF0000"/>
                    </a:solidFill>
                    <a:latin typeface="Times New Roman" panose="02020603050405020304" pitchFamily="18" charset="0"/>
                    <a:cs typeface="Times New Roman" panose="02020603050405020304" pitchFamily="18" charset="0"/>
                  </a:rPr>
                  <a:t>The Testing: </a:t>
                </a:r>
                <a:r>
                  <a:rPr lang="en-US" sz="3200" dirty="0">
                    <a:latin typeface="Times New Roman" panose="02020603050405020304" pitchFamily="18" charset="0"/>
                    <a:cs typeface="Times New Roman" panose="02020603050405020304" pitchFamily="18" charset="0"/>
                  </a:rPr>
                  <a:t>We tested our code on the IEEE 14-bus and IEEE 39-bus systems. </a:t>
                </a:r>
              </a:p>
              <a:p>
                <a:pPr lvl="1">
                  <a:buFont typeface="Wingdings" panose="05000000000000000000" pitchFamily="2" charset="2"/>
                  <a:buChar char="q"/>
                </a:pPr>
                <a:r>
                  <a:rPr lang="en-US" sz="3200" b="1" u="sng" dirty="0">
                    <a:solidFill>
                      <a:srgbClr val="FF0000"/>
                    </a:solidFill>
                    <a:latin typeface="Times New Roman" panose="02020603050405020304" pitchFamily="18" charset="0"/>
                    <a:cs typeface="Times New Roman" panose="02020603050405020304" pitchFamily="18" charset="0"/>
                  </a:rPr>
                  <a:t>The Results: </a:t>
                </a:r>
                <a:r>
                  <a:rPr lang="en-US" sz="3300" dirty="0">
                    <a:latin typeface="Times New Roman" panose="02020603050405020304" pitchFamily="18" charset="0"/>
                    <a:cs typeface="Times New Roman" panose="02020603050405020304" pitchFamily="18" charset="0"/>
                  </a:rPr>
                  <a:t>We Achieved massive active power loss reductions (</a:t>
                </a:r>
                <a14:m>
                  <m:oMath xmlns:m="http://schemas.openxmlformats.org/officeDocument/2006/math">
                    <m:r>
                      <a:rPr lang="en-US" sz="3300" b="0" i="1">
                        <a:latin typeface="Cambria Math" panose="02040503050406030204" pitchFamily="18" charset="0"/>
                      </a:rPr>
                      <m:t>33</m:t>
                    </m:r>
                    <m:r>
                      <a:rPr lang="en-US" sz="3300" b="0">
                        <a:latin typeface="Cambria Math" panose="02040503050406030204" pitchFamily="18" charset="0"/>
                      </a:rPr>
                      <m:t>.</m:t>
                    </m:r>
                    <m:r>
                      <a:rPr lang="en-US" sz="3300" b="0" i="1">
                        <a:latin typeface="Cambria Math" panose="02040503050406030204" pitchFamily="18" charset="0"/>
                      </a:rPr>
                      <m:t>2</m:t>
                    </m:r>
                    <m:r>
                      <a:rPr lang="en-US" sz="3300" b="0">
                        <a:latin typeface="Cambria Math" panose="02040503050406030204" pitchFamily="18" charset="0"/>
                      </a:rPr>
                      <m:t>%</m:t>
                    </m:r>
                  </m:oMath>
                </a14:m>
                <a:r>
                  <a:rPr lang="en-US" sz="3300" dirty="0">
                    <a:latin typeface="Times New Roman" panose="02020603050405020304" pitchFamily="18" charset="0"/>
                    <a:cs typeface="Times New Roman" panose="02020603050405020304" pitchFamily="18" charset="0"/>
                  </a:rPr>
                  <a:t> on IEEE-14, </a:t>
                </a:r>
                <a14:m>
                  <m:oMath xmlns:m="http://schemas.openxmlformats.org/officeDocument/2006/math">
                    <m:r>
                      <a:rPr lang="en-US" sz="3300" b="0" i="1">
                        <a:latin typeface="Cambria Math" panose="02040503050406030204" pitchFamily="18" charset="0"/>
                      </a:rPr>
                      <m:t>31</m:t>
                    </m:r>
                    <m:r>
                      <a:rPr lang="en-US" sz="3300" b="0">
                        <a:latin typeface="Cambria Math" panose="02040503050406030204" pitchFamily="18" charset="0"/>
                      </a:rPr>
                      <m:t>.</m:t>
                    </m:r>
                    <m:r>
                      <a:rPr lang="en-US" sz="3300" b="0" i="1">
                        <a:latin typeface="Cambria Math" panose="02040503050406030204" pitchFamily="18" charset="0"/>
                      </a:rPr>
                      <m:t>8</m:t>
                    </m:r>
                    <m:r>
                      <a:rPr lang="en-US" sz="3300" b="0">
                        <a:latin typeface="Cambria Math" panose="02040503050406030204" pitchFamily="18" charset="0"/>
                      </a:rPr>
                      <m:t>%</m:t>
                    </m:r>
                  </m:oMath>
                </a14:m>
                <a:r>
                  <a:rPr lang="en-US" sz="3300" dirty="0">
                    <a:latin typeface="Times New Roman" panose="02020603050405020304" pitchFamily="18" charset="0"/>
                    <a:cs typeface="Times New Roman" panose="02020603050405020304" pitchFamily="18" charset="0"/>
                  </a:rPr>
                  <a:t>on IEEE-39) and significantly restored voltage margins, settling in a mathematically validated "Best-Effort / Infeasible" state due to extreme load profiles.</a:t>
                </a:r>
              </a:p>
            </p:txBody>
          </p:sp>
        </mc:Choice>
        <mc:Fallback xmlns="">
          <p:sp>
            <p:nvSpPr>
              <p:cNvPr id="9" name="Content Placeholder 4">
                <a:extLst>
                  <a:ext uri="{FF2B5EF4-FFF2-40B4-BE49-F238E27FC236}">
                    <a16:creationId xmlns:a16="http://schemas.microsoft.com/office/drawing/2014/main" id="{CE1E379F-684D-5096-41DA-D258F27649D4}"/>
                  </a:ext>
                </a:extLst>
              </p:cNvPr>
              <p:cNvSpPr>
                <a:spLocks noGrp="1" noRot="1" noChangeAspect="1" noMove="1" noResize="1" noEditPoints="1" noAdjustHandles="1" noChangeArrowheads="1" noChangeShapeType="1" noTextEdit="1"/>
              </p:cNvSpPr>
              <p:nvPr>
                <p:ph idx="1"/>
              </p:nvPr>
            </p:nvSpPr>
            <p:spPr>
              <a:xfrm>
                <a:off x="216243" y="1051915"/>
                <a:ext cx="11759514" cy="4754169"/>
              </a:xfrm>
              <a:blipFill>
                <a:blip r:embed="rId2"/>
                <a:stretch>
                  <a:fillRect t="-3594" r="-1192" b="-3466"/>
                </a:stretch>
              </a:blipFill>
            </p:spPr>
            <p:txBody>
              <a:bodyPr/>
              <a:lstStyle/>
              <a:p>
                <a:r>
                  <a:rPr lang="en-US">
                    <a:noFill/>
                  </a:rPr>
                  <a:t> </a:t>
                </a:r>
              </a:p>
            </p:txBody>
          </p:sp>
        </mc:Fallback>
      </mc:AlternateContent>
    </p:spTree>
    <p:extLst>
      <p:ext uri="{BB962C8B-B14F-4D97-AF65-F5344CB8AC3E}">
        <p14:creationId xmlns:p14="http://schemas.microsoft.com/office/powerpoint/2010/main" val="227855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19EF6-C9F9-8E4B-90AC-5D229CB1168A}"/>
              </a:ext>
            </a:extLst>
          </p:cNvPr>
          <p:cNvSpPr>
            <a:spLocks noGrp="1"/>
          </p:cNvSpPr>
          <p:nvPr>
            <p:ph type="title"/>
          </p:nvPr>
        </p:nvSpPr>
        <p:spPr>
          <a:xfrm>
            <a:off x="1066800" y="63046"/>
            <a:ext cx="10058400" cy="729006"/>
          </a:xfrm>
        </p:spPr>
        <p:txBody>
          <a:bodyPr>
            <a:normAutofit fontScale="90000"/>
          </a:bodyPr>
          <a:lstStyle/>
          <a:p>
            <a:pPr algn="ctr"/>
            <a:r>
              <a:rPr lang="en-US" sz="4800" b="1" dirty="0">
                <a:solidFill>
                  <a:srgbClr val="C00000"/>
                </a:solidFill>
                <a:latin typeface="Times New Roman" panose="02010803020104030203" pitchFamily="2" charset="-79"/>
                <a:cs typeface="Times New Roman" panose="02010803020104030203" pitchFamily="2" charset="-79"/>
              </a:rPr>
              <a:t>2. Introduction</a:t>
            </a:r>
            <a:endParaRPr lang="en-BD" sz="4800" b="1" dirty="0">
              <a:solidFill>
                <a:srgbClr val="C00000"/>
              </a:solidFill>
              <a:latin typeface="Times New Roman" panose="02010803020104030203" pitchFamily="2" charset="-79"/>
              <a:cs typeface="Times New Roman" panose="02010803020104030203" pitchFamily="2" charset="-79"/>
            </a:endParaRPr>
          </a:p>
        </p:txBody>
      </p:sp>
      <p:sp>
        <p:nvSpPr>
          <p:cNvPr id="5" name="Content Placeholder 4">
            <a:extLst>
              <a:ext uri="{FF2B5EF4-FFF2-40B4-BE49-F238E27FC236}">
                <a16:creationId xmlns:a16="http://schemas.microsoft.com/office/drawing/2014/main" id="{51B2C38B-4AC5-9248-B4C6-67239E72DC1E}"/>
              </a:ext>
            </a:extLst>
          </p:cNvPr>
          <p:cNvSpPr>
            <a:spLocks noGrp="1"/>
          </p:cNvSpPr>
          <p:nvPr>
            <p:ph idx="1"/>
          </p:nvPr>
        </p:nvSpPr>
        <p:spPr>
          <a:xfrm>
            <a:off x="239642" y="4176602"/>
            <a:ext cx="11759514" cy="1014149"/>
          </a:xfrm>
        </p:spPr>
        <p:txBody>
          <a:bodyPr>
            <a:noAutofit/>
          </a:bodyPr>
          <a:lstStyle/>
          <a:p>
            <a:pPr lvl="0">
              <a:buClr>
                <a:schemeClr val="accent2">
                  <a:lumMod val="75000"/>
                </a:schemeClr>
              </a:buClr>
              <a:buFont typeface="Wingdings" panose="05000000000000000000" pitchFamily="2" charset="2"/>
              <a:buChar char="q"/>
            </a:pPr>
            <a:r>
              <a:rPr lang="en-US" sz="3000" b="1" u="sng" dirty="0">
                <a:solidFill>
                  <a:schemeClr val="bg1">
                    <a:lumMod val="95000"/>
                  </a:schemeClr>
                </a:solidFill>
                <a:latin typeface="Times New Roman" panose="02020603050405020304" pitchFamily="18" charset="0"/>
                <a:cs typeface="Times New Roman" panose="02020603050405020304" pitchFamily="18" charset="0"/>
              </a:rPr>
              <a:t> </a:t>
            </a:r>
            <a:r>
              <a:rPr lang="en-US" sz="3000" b="1" u="sng" dirty="0">
                <a:solidFill>
                  <a:srgbClr val="FF0000"/>
                </a:solidFill>
                <a:latin typeface="Times New Roman" panose="02020603050405020304" pitchFamily="18" charset="0"/>
                <a:cs typeface="Times New Roman" panose="02020603050405020304" pitchFamily="18" charset="0"/>
              </a:rPr>
              <a:t>Our Framework: </a:t>
            </a:r>
            <a:r>
              <a:rPr lang="en-US" sz="3000" dirty="0">
                <a:latin typeface="Times New Roman" panose="02020603050405020304" pitchFamily="18" charset="0"/>
                <a:cs typeface="Times New Roman" panose="02020603050405020304" pitchFamily="18" charset="0"/>
              </a:rPr>
              <a:t>We developed a fully automated Python-to-PSS®E co-simulation bridge to navigate this massive search space without triggering catastrophic load-flow divergence.</a:t>
            </a:r>
          </a:p>
        </p:txBody>
      </p:sp>
      <p:sp>
        <p:nvSpPr>
          <p:cNvPr id="6" name="Date Placeholder 5">
            <a:extLst>
              <a:ext uri="{FF2B5EF4-FFF2-40B4-BE49-F238E27FC236}">
                <a16:creationId xmlns:a16="http://schemas.microsoft.com/office/drawing/2014/main" id="{C29DA07C-0ED1-CC41-B09A-5D684746D66D}"/>
              </a:ext>
            </a:extLst>
          </p:cNvPr>
          <p:cNvSpPr>
            <a:spLocks noGrp="1"/>
          </p:cNvSpPr>
          <p:nvPr>
            <p:ph type="dt" sz="half" idx="10"/>
          </p:nvPr>
        </p:nvSpPr>
        <p:spPr>
          <a:xfrm>
            <a:off x="432486" y="6501637"/>
            <a:ext cx="4668100" cy="356363"/>
          </a:xfrm>
        </p:spPr>
        <p:txBody>
          <a:bodyPr/>
          <a:lstStyle/>
          <a:p>
            <a:r>
              <a:rPr lang="en-US" dirty="0">
                <a:latin typeface="Times New Roman"/>
              </a:rPr>
              <a:t>EEE 306 – Power System I Laboratory</a:t>
            </a:r>
            <a:endParaRPr lang="en-BD" dirty="0">
              <a:latin typeface="Times New Roman"/>
            </a:endParaRPr>
          </a:p>
        </p:txBody>
      </p:sp>
      <p:sp>
        <p:nvSpPr>
          <p:cNvPr id="8" name="Slide Number Placeholder 7">
            <a:extLst>
              <a:ext uri="{FF2B5EF4-FFF2-40B4-BE49-F238E27FC236}">
                <a16:creationId xmlns:a16="http://schemas.microsoft.com/office/drawing/2014/main" id="{242F02E1-6859-4149-9453-07F6EB308C46}"/>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4</a:t>
            </a:fld>
            <a:endParaRPr lang="en-BD">
              <a:latin typeface="Times New Roman"/>
              <a:cs typeface="Times New Roman"/>
            </a:endParaRPr>
          </a:p>
        </p:txBody>
      </p:sp>
      <p:sp>
        <p:nvSpPr>
          <p:cNvPr id="12" name="TextBox 11">
            <a:extLst>
              <a:ext uri="{FF2B5EF4-FFF2-40B4-BE49-F238E27FC236}">
                <a16:creationId xmlns:a16="http://schemas.microsoft.com/office/drawing/2014/main" id="{B5BF701E-4E5B-F097-DB72-8E6C83234D0E}"/>
              </a:ext>
            </a:extLst>
          </p:cNvPr>
          <p:cNvSpPr txBox="1"/>
          <p:nvPr/>
        </p:nvSpPr>
        <p:spPr>
          <a:xfrm>
            <a:off x="239642" y="1227985"/>
            <a:ext cx="9026983" cy="2862322"/>
          </a:xfrm>
          <a:prstGeom prst="rect">
            <a:avLst/>
          </a:prstGeom>
          <a:noFill/>
        </p:spPr>
        <p:txBody>
          <a:bodyPr wrap="square">
            <a:spAutoFit/>
          </a:bodyPr>
          <a:lstStyle/>
          <a:p>
            <a:pPr marL="457200" lvl="0" indent="-457200">
              <a:buClr>
                <a:schemeClr val="accent2">
                  <a:lumMod val="75000"/>
                </a:schemeClr>
              </a:buClr>
              <a:buFont typeface="Wingdings" panose="05000000000000000000" pitchFamily="2" charset="2"/>
              <a:buChar char="q"/>
            </a:pPr>
            <a:r>
              <a:rPr lang="en-US" sz="3000" b="1" i="1" u="sng" dirty="0">
                <a:solidFill>
                  <a:srgbClr val="FF0000"/>
                </a:solidFill>
                <a:latin typeface="Times New Roman" panose="02020603050405020304" pitchFamily="18" charset="0"/>
                <a:cs typeface="Times New Roman" panose="02020603050405020304" pitchFamily="18" charset="0"/>
              </a:rPr>
              <a:t>The Grid Crisis: </a:t>
            </a:r>
            <a:r>
              <a:rPr lang="en-US" sz="3000" dirty="0">
                <a:latin typeface="Times New Roman" panose="02020603050405020304" pitchFamily="18" charset="0"/>
                <a:cs typeface="Times New Roman" panose="02020603050405020304" pitchFamily="18" charset="0"/>
              </a:rPr>
              <a:t>Stressed transmission networks suffer from severe reactive power (𝑄) deficits, causing dangerous voltage sags and elevated </a:t>
            </a:r>
            <a:r>
              <a:rPr lang="en-US" sz="3000" dirty="0">
                <a:effectLst/>
                <a:latin typeface="Times New Roman" panose="02020603050405020304" pitchFamily="18" charset="0"/>
                <a:ea typeface="Aptos" panose="020B0004020202020204" pitchFamily="34" charset="0"/>
              </a:rPr>
              <a:t> power losses</a:t>
            </a:r>
            <a:r>
              <a:rPr lang="en-US" sz="3000" dirty="0">
                <a:latin typeface="Times New Roman" panose="02020603050405020304" pitchFamily="18" charset="0"/>
                <a:cs typeface="Times New Roman" panose="02020603050405020304" pitchFamily="18" charset="0"/>
              </a:rPr>
              <a:t>. </a:t>
            </a:r>
          </a:p>
          <a:p>
            <a:pPr marL="457200" lvl="0" indent="-457200">
              <a:buClr>
                <a:schemeClr val="accent2">
                  <a:lumMod val="75000"/>
                </a:schemeClr>
              </a:buClr>
              <a:buFont typeface="Wingdings" panose="05000000000000000000" pitchFamily="2" charset="2"/>
              <a:buChar char="q"/>
            </a:pPr>
            <a:r>
              <a:rPr lang="en-US" sz="3000" b="1" i="1" u="sng" dirty="0">
                <a:solidFill>
                  <a:srgbClr val="FF0000"/>
                </a:solidFill>
                <a:latin typeface="Times New Roman" panose="02020603050405020304" pitchFamily="18" charset="0"/>
                <a:cs typeface="Times New Roman" panose="02020603050405020304" pitchFamily="18" charset="0"/>
              </a:rPr>
              <a:t>The Mitigation Strategy: </a:t>
            </a:r>
            <a:r>
              <a:rPr lang="en-US" sz="3000" dirty="0">
                <a:latin typeface="Times New Roman" panose="02020603050405020304" pitchFamily="18" charset="0"/>
                <a:cs typeface="Times New Roman" panose="02020603050405020304" pitchFamily="18" charset="0"/>
              </a:rPr>
              <a:t>Simultaneous optimization of existing discrete transformer tap ratios and the strategic deployment of new shunt capacitor banks. </a:t>
            </a:r>
          </a:p>
        </p:txBody>
      </p:sp>
      <p:pic>
        <p:nvPicPr>
          <p:cNvPr id="13" name="Picture 12" descr="High Voltage Power Line Transmission Tower Stock Vector (Royalty Free)  1367691674 | Shutterstock">
            <a:extLst>
              <a:ext uri="{FF2B5EF4-FFF2-40B4-BE49-F238E27FC236}">
                <a16:creationId xmlns:a16="http://schemas.microsoft.com/office/drawing/2014/main" id="{447FA8C0-19D0-0344-DAB8-E18A2CA6D4D0}"/>
              </a:ext>
            </a:extLst>
          </p:cNvPr>
          <p:cNvPicPr>
            <a:picLocks noChangeAspect="1"/>
          </p:cNvPicPr>
          <p:nvPr/>
        </p:nvPicPr>
        <p:blipFill>
          <a:blip r:embed="rId2"/>
          <a:srcRect l="5426" t="5376" r="5689" b="10735"/>
          <a:stretch>
            <a:fillRect/>
          </a:stretch>
        </p:blipFill>
        <p:spPr>
          <a:xfrm>
            <a:off x="9266625" y="1120800"/>
            <a:ext cx="2811383" cy="3076692"/>
          </a:xfrm>
          <a:prstGeom prst="rect">
            <a:avLst/>
          </a:prstGeom>
        </p:spPr>
      </p:pic>
    </p:spTree>
    <p:extLst>
      <p:ext uri="{BB962C8B-B14F-4D97-AF65-F5344CB8AC3E}">
        <p14:creationId xmlns:p14="http://schemas.microsoft.com/office/powerpoint/2010/main" val="298469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a:xfrm>
            <a:off x="1152525" y="95211"/>
            <a:ext cx="10058400" cy="729006"/>
          </a:xfrm>
        </p:spPr>
        <p:txBody>
          <a:bodyPr>
            <a:normAutofit/>
          </a:bodyPr>
          <a:lstStyle/>
          <a:p>
            <a:r>
              <a:rPr lang="en-US" sz="3600" b="1" dirty="0">
                <a:solidFill>
                  <a:srgbClr val="C00000"/>
                </a:solidFill>
                <a:latin typeface="Times New Roman" panose="02010803020104030203" pitchFamily="2" charset="-79"/>
                <a:cs typeface="Times New Roman" panose="02010803020104030203" pitchFamily="2" charset="-79"/>
              </a:rPr>
              <a:t>3.1 Design: </a:t>
            </a:r>
            <a:r>
              <a:rPr lang="en-GB" sz="3600" b="1" dirty="0">
                <a:solidFill>
                  <a:srgbClr val="C00000"/>
                </a:solidFill>
                <a:latin typeface="Times New Roman" panose="02010803020104030203" pitchFamily="2" charset="-79"/>
                <a:cs typeface="Times New Roman" panose="02010803020104030203" pitchFamily="2" charset="-79"/>
              </a:rPr>
              <a:t>Problem Formulation (PO(b))</a:t>
            </a:r>
            <a:endParaRPr lang="en-BD" sz="3600" b="1"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5</a:t>
            </a:fld>
            <a:endParaRPr lang="en-BD">
              <a:latin typeface="Times New Roman"/>
              <a:cs typeface="Times New Roman"/>
            </a:endParaRPr>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20" name="TextBox 19"/>
          <p:cNvSpPr txBox="1"/>
          <p:nvPr/>
        </p:nvSpPr>
        <p:spPr>
          <a:xfrm>
            <a:off x="558165" y="824217"/>
            <a:ext cx="11247120" cy="424732"/>
          </a:xfrm>
          <a:prstGeom prst="rect">
            <a:avLst/>
          </a:prstGeom>
          <a:noFill/>
        </p:spPr>
        <p:txBody>
          <a:bodyPr wrap="square" lIns="45720" tIns="27432" rIns="45720" bIns="27432" anchor="t">
            <a:spAutoFit/>
          </a:bodyPr>
          <a:lstStyle/>
          <a:p>
            <a:r>
              <a:rPr sz="2400" b="1" i="0" dirty="0">
                <a:solidFill>
                  <a:srgbClr val="C00000"/>
                </a:solidFill>
                <a:latin typeface="Times New Roman"/>
              </a:rPr>
              <a:t>3.1.1  Objectives and Scope of the Design</a:t>
            </a:r>
          </a:p>
        </p:txBody>
      </p:sp>
      <p:sp>
        <p:nvSpPr>
          <p:cNvPr id="21" name="TextBox 20"/>
          <p:cNvSpPr txBox="1"/>
          <p:nvPr/>
        </p:nvSpPr>
        <p:spPr>
          <a:xfrm>
            <a:off x="432486" y="1405899"/>
            <a:ext cx="11372799" cy="4569456"/>
          </a:xfrm>
          <a:prstGeom prst="rect">
            <a:avLst/>
          </a:prstGeom>
          <a:noFill/>
        </p:spPr>
        <p:txBody>
          <a:bodyPr wrap="square" lIns="45720" tIns="27432" rIns="45720" bIns="27432" anchor="t">
            <a:spAutoFit/>
          </a:bodyPr>
          <a:lstStyle/>
          <a:p>
            <a:pPr marL="292608" indent="-292608">
              <a:spcAft>
                <a:spcPts val="1600"/>
              </a:spcAft>
              <a:buClr>
                <a:srgbClr val="C00000"/>
              </a:buClr>
              <a:buFont typeface="Wingdings" pitchFamily="2" charset="2"/>
              <a:buChar char="q"/>
            </a:pPr>
            <a:r>
              <a:rPr sz="2400" b="1" i="0" u="sng" dirty="0">
                <a:solidFill>
                  <a:srgbClr val="C00000"/>
                </a:solidFill>
                <a:latin typeface="Times New Roman"/>
              </a:rPr>
              <a:t>Primary Objective:</a:t>
            </a:r>
            <a:r>
              <a:rPr lang="en-US" sz="2400" b="1" i="0" dirty="0">
                <a:solidFill>
                  <a:srgbClr val="C00000"/>
                </a:solidFill>
                <a:latin typeface="Times New Roman"/>
              </a:rPr>
              <a:t> </a:t>
            </a:r>
            <a:r>
              <a:rPr sz="2400" b="0" i="0" u="none" dirty="0">
                <a:solidFill>
                  <a:srgbClr val="1A1A1A"/>
                </a:solidFill>
                <a:latin typeface="Times New Roman"/>
              </a:rPr>
              <a:t>Minimize total power transmission loss on a stressed transmission network while restoring bus voltages toward the statutory band 0.95 pu ≤ Vi ≤ 1.05 pu.</a:t>
            </a:r>
          </a:p>
          <a:p>
            <a:pPr marL="292608" indent="-292608">
              <a:spcAft>
                <a:spcPts val="1600"/>
              </a:spcAft>
              <a:buClr>
                <a:srgbClr val="C00000"/>
              </a:buClr>
              <a:buFont typeface="Wingdings" pitchFamily="2" charset="2"/>
              <a:buChar char="q"/>
            </a:pPr>
            <a:r>
              <a:rPr sz="2400" b="1" i="0" u="sng" dirty="0">
                <a:solidFill>
                  <a:srgbClr val="C00000"/>
                </a:solidFill>
                <a:latin typeface="Times New Roman"/>
              </a:rPr>
              <a:t>Control 1 – Transformer Taps:</a:t>
            </a:r>
            <a:r>
              <a:rPr lang="en-US" sz="2400" b="1" i="0" dirty="0">
                <a:solidFill>
                  <a:srgbClr val="C00000"/>
                </a:solidFill>
                <a:latin typeface="Times New Roman"/>
              </a:rPr>
              <a:t> </a:t>
            </a:r>
            <a:r>
              <a:rPr sz="2400" b="0" i="0" u="none" dirty="0">
                <a:solidFill>
                  <a:srgbClr val="1A1A1A"/>
                </a:solidFill>
                <a:latin typeface="Times New Roman"/>
              </a:rPr>
              <a:t>Use a discrete Genetic Algorithm (GA) to select the tap position of every adjustable transformer.</a:t>
            </a:r>
          </a:p>
          <a:p>
            <a:pPr marL="292608" indent="-292608">
              <a:spcAft>
                <a:spcPts val="1600"/>
              </a:spcAft>
              <a:buClr>
                <a:srgbClr val="C00000"/>
              </a:buClr>
              <a:buFont typeface="Wingdings" pitchFamily="2" charset="2"/>
              <a:buChar char="q"/>
            </a:pPr>
            <a:r>
              <a:rPr sz="2400" b="1" i="0" u="sng" dirty="0">
                <a:solidFill>
                  <a:srgbClr val="C00000"/>
                </a:solidFill>
                <a:latin typeface="Times New Roman"/>
              </a:rPr>
              <a:t>Control 2 – Shunt Capacitors:</a:t>
            </a:r>
            <a:r>
              <a:rPr lang="en-US" sz="2400" b="1" dirty="0">
                <a:solidFill>
                  <a:srgbClr val="C00000"/>
                </a:solidFill>
                <a:latin typeface="Times New Roman"/>
              </a:rPr>
              <a:t> </a:t>
            </a:r>
            <a:r>
              <a:rPr sz="2400" b="0" i="0" u="none" dirty="0">
                <a:solidFill>
                  <a:srgbClr val="1A1A1A"/>
                </a:solidFill>
                <a:latin typeface="Times New Roman"/>
              </a:rPr>
              <a:t>Use a discrete Particle Swarm Optimization (PSO) to choose the location and size of shunt capacitor banks.</a:t>
            </a:r>
          </a:p>
          <a:p>
            <a:pPr marL="292608" indent="-292608">
              <a:spcAft>
                <a:spcPts val="1600"/>
              </a:spcAft>
              <a:buClr>
                <a:srgbClr val="C00000"/>
              </a:buClr>
              <a:buFont typeface="Wingdings" pitchFamily="2" charset="2"/>
              <a:buChar char="q"/>
            </a:pPr>
            <a:r>
              <a:rPr sz="2400" b="1" i="0" u="sng" dirty="0">
                <a:solidFill>
                  <a:srgbClr val="C00000"/>
                </a:solidFill>
                <a:latin typeface="Times New Roman"/>
              </a:rPr>
              <a:t>Stability Check:</a:t>
            </a:r>
            <a:r>
              <a:rPr lang="en-US" sz="2400" b="1" i="0" dirty="0">
                <a:solidFill>
                  <a:srgbClr val="C00000"/>
                </a:solidFill>
                <a:latin typeface="Times New Roman"/>
              </a:rPr>
              <a:t> </a:t>
            </a:r>
            <a:r>
              <a:rPr sz="2400" b="0" i="0" u="none" dirty="0">
                <a:solidFill>
                  <a:srgbClr val="1A1A1A"/>
                </a:solidFill>
                <a:latin typeface="Times New Roman"/>
              </a:rPr>
              <a:t>Screen every transmission line with the Fast Voltage Stability Index (FVSI), before and after each optimization.</a:t>
            </a:r>
          </a:p>
          <a:p>
            <a:pPr marL="292608" indent="-292608">
              <a:spcAft>
                <a:spcPts val="1600"/>
              </a:spcAft>
              <a:buClr>
                <a:srgbClr val="C00000"/>
              </a:buClr>
              <a:buFont typeface="Wingdings" pitchFamily="2" charset="2"/>
              <a:buChar char="q"/>
            </a:pPr>
            <a:r>
              <a:rPr sz="2400" b="1" i="0" u="sng" dirty="0">
                <a:solidFill>
                  <a:srgbClr val="C00000"/>
                </a:solidFill>
                <a:latin typeface="Times New Roman"/>
              </a:rPr>
              <a:t>Validation Scope:</a:t>
            </a:r>
            <a:r>
              <a:rPr lang="en-US" sz="2400" b="1" i="0" dirty="0">
                <a:solidFill>
                  <a:srgbClr val="C00000"/>
                </a:solidFill>
                <a:latin typeface="Times New Roman"/>
              </a:rPr>
              <a:t> </a:t>
            </a:r>
            <a:r>
              <a:rPr sz="2400" b="0" i="0" u="none" dirty="0">
                <a:solidFill>
                  <a:srgbClr val="1A1A1A"/>
                </a:solidFill>
                <a:latin typeface="Times New Roman"/>
              </a:rPr>
              <a:t>Both controls are tested independently, on the same stressed base case, on the IEEE 14-Bus and IEEE 39-Bus (New England) systems.</a:t>
            </a:r>
          </a:p>
        </p:txBody>
      </p:sp>
    </p:spTree>
    <p:extLst>
      <p:ext uri="{BB962C8B-B14F-4D97-AF65-F5344CB8AC3E}">
        <p14:creationId xmlns:p14="http://schemas.microsoft.com/office/powerpoint/2010/main" val="3175869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6</a:t>
            </a:fld>
            <a:endParaRPr lang="en-BD">
              <a:latin typeface="Times New Roman"/>
              <a:cs typeface="Times New Roman"/>
            </a:endParaRPr>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7" name="Content Placeholder 16">
            <a:extLst>
              <a:ext uri="{FF2B5EF4-FFF2-40B4-BE49-F238E27FC236}">
                <a16:creationId xmlns:a16="http://schemas.microsoft.com/office/drawing/2014/main" id="{300F5A32-8F1D-86AB-F204-06E06987AF02}"/>
              </a:ext>
            </a:extLst>
          </p:cNvPr>
          <p:cNvSpPr>
            <a:spLocks noGrp="1"/>
          </p:cNvSpPr>
          <p:nvPr>
            <p:ph idx="1"/>
          </p:nvPr>
        </p:nvSpPr>
        <p:spPr>
          <a:xfrm>
            <a:off x="0" y="3852200"/>
            <a:ext cx="12104015" cy="2710180"/>
          </a:xfrm>
        </p:spPr>
        <p:txBody>
          <a:bodyPr>
            <a:noAutofit/>
          </a:bodyPr>
          <a:lstStyle/>
          <a:p>
            <a:pPr lvl="0">
              <a:buClr>
                <a:srgbClr val="FF0000"/>
              </a:buClr>
              <a:buFont typeface="Wingdings" panose="05000000000000000000" pitchFamily="2" charset="2"/>
              <a:buChar char="v"/>
            </a:pPr>
            <a:r>
              <a:rPr lang="en-US" b="1" dirty="0">
                <a:solidFill>
                  <a:schemeClr val="accent6">
                    <a:lumMod val="75000"/>
                  </a:schemeClr>
                </a:solidFill>
                <a:latin typeface="Times New Roman" panose="02020603050405020304" pitchFamily="18" charset="0"/>
                <a:cs typeface="Times New Roman" panose="02020603050405020304" pitchFamily="18" charset="0"/>
              </a:rPr>
              <a:t>Primary Objective:</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Maximize overall grid efficiency by minimizing total power transmission losses. </a:t>
            </a:r>
          </a:p>
          <a:p>
            <a:pPr lvl="0">
              <a:buClr>
                <a:srgbClr val="FF0000"/>
              </a:buClr>
              <a:buFont typeface="Wingdings" panose="05000000000000000000" pitchFamily="2" charset="2"/>
              <a:buChar char="v"/>
            </a:pPr>
            <a:r>
              <a:rPr lang="en-US" b="1" dirty="0">
                <a:solidFill>
                  <a:schemeClr val="accent6">
                    <a:lumMod val="75000"/>
                  </a:schemeClr>
                </a:solidFill>
                <a:latin typeface="Times New Roman" panose="02020603050405020304" pitchFamily="18" charset="0"/>
                <a:cs typeface="Times New Roman" panose="02020603050405020304" pitchFamily="18" charset="0"/>
              </a:rPr>
              <a:t>Operational Limits:</a:t>
            </a:r>
            <a:r>
              <a:rPr lang="en-US" dirty="0">
                <a:solidFill>
                  <a:schemeClr val="accent6">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Enforce strict statutory voltage boundaries and respect the maximum physical capacities of real-world hardware. </a:t>
            </a:r>
          </a:p>
          <a:p>
            <a:pPr lvl="0">
              <a:buClr>
                <a:srgbClr val="FF0000"/>
              </a:buClr>
              <a:buFont typeface="Wingdings" panose="05000000000000000000" pitchFamily="2" charset="2"/>
              <a:buChar char="v"/>
            </a:pPr>
            <a:r>
              <a:rPr lang="en-US" b="1" dirty="0">
                <a:solidFill>
                  <a:schemeClr val="accent6">
                    <a:lumMod val="75000"/>
                  </a:schemeClr>
                </a:solidFill>
                <a:latin typeface="Times New Roman" panose="02020603050405020304" pitchFamily="18" charset="0"/>
                <a:cs typeface="Times New Roman" panose="02020603050405020304" pitchFamily="18" charset="0"/>
              </a:rPr>
              <a:t>Vulnerability Metric: </a:t>
            </a:r>
            <a:r>
              <a:rPr lang="en-US" dirty="0">
                <a:latin typeface="Times New Roman" panose="02020603050405020304" pitchFamily="18" charset="0"/>
                <a:cs typeface="Times New Roman" panose="02020603050405020304" pitchFamily="18" charset="0"/>
              </a:rPr>
              <a:t>Evaluate line stress using FVSI; Higher values indicate diminishing reactive margins and increased grid vulnerability. </a:t>
            </a:r>
          </a:p>
        </p:txBody>
      </p:sp>
      <p:sp>
        <p:nvSpPr>
          <p:cNvPr id="11" name="TextBox 10">
            <a:extLst>
              <a:ext uri="{FF2B5EF4-FFF2-40B4-BE49-F238E27FC236}">
                <a16:creationId xmlns:a16="http://schemas.microsoft.com/office/drawing/2014/main" id="{B5118C59-80B3-36D1-B661-83DDAAEE23AE}"/>
              </a:ext>
            </a:extLst>
          </p:cNvPr>
          <p:cNvSpPr txBox="1"/>
          <p:nvPr/>
        </p:nvSpPr>
        <p:spPr>
          <a:xfrm>
            <a:off x="3027575" y="-27546"/>
            <a:ext cx="6136848" cy="646331"/>
          </a:xfrm>
          <a:prstGeom prst="rect">
            <a:avLst/>
          </a:prstGeom>
          <a:noFill/>
        </p:spPr>
        <p:txBody>
          <a:bodyPr wrap="square">
            <a:spAutoFit/>
          </a:bodyPr>
          <a:lstStyle/>
          <a:p>
            <a:pPr algn="ctr"/>
            <a:r>
              <a:rPr lang="en-GB" sz="3600" b="1" dirty="0">
                <a:solidFill>
                  <a:srgbClr val="FF0000"/>
                </a:solidFill>
                <a:latin typeface="Times New Roman"/>
                <a:cs typeface="Times New Roman"/>
              </a:rPr>
              <a:t>3.1.2 Formulation of Problem</a:t>
            </a:r>
          </a:p>
        </p:txBody>
      </p:sp>
      <p:pic>
        <p:nvPicPr>
          <p:cNvPr id="15" name="Picture 14">
            <a:extLst>
              <a:ext uri="{FF2B5EF4-FFF2-40B4-BE49-F238E27FC236}">
                <a16:creationId xmlns:a16="http://schemas.microsoft.com/office/drawing/2014/main" id="{6D4A8D50-076B-07E9-EF14-5D534EE6645A}"/>
              </a:ext>
            </a:extLst>
          </p:cNvPr>
          <p:cNvPicPr>
            <a:picLocks noChangeAspect="1"/>
          </p:cNvPicPr>
          <p:nvPr/>
        </p:nvPicPr>
        <p:blipFill>
          <a:blip r:embed="rId2"/>
          <a:stretch>
            <a:fillRect/>
          </a:stretch>
        </p:blipFill>
        <p:spPr>
          <a:xfrm>
            <a:off x="87985" y="618785"/>
            <a:ext cx="12016030" cy="3302766"/>
          </a:xfrm>
          <a:prstGeom prst="rect">
            <a:avLst/>
          </a:prstGeom>
        </p:spPr>
      </p:pic>
    </p:spTree>
    <p:extLst>
      <p:ext uri="{BB962C8B-B14F-4D97-AF65-F5344CB8AC3E}">
        <p14:creationId xmlns:p14="http://schemas.microsoft.com/office/powerpoint/2010/main" val="100168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a:xfrm>
            <a:off x="2133600" y="58605"/>
            <a:ext cx="10058400" cy="729006"/>
          </a:xfrm>
        </p:spPr>
        <p:txBody>
          <a:bodyPr>
            <a:normAutofit/>
          </a:bodyPr>
          <a:lstStyle/>
          <a:p>
            <a:r>
              <a:rPr lang="en-US" b="1" dirty="0">
                <a:solidFill>
                  <a:srgbClr val="C00000"/>
                </a:solidFill>
                <a:latin typeface="Times New Roman" panose="02010803020104030203" pitchFamily="2" charset="-79"/>
                <a:cs typeface="Times New Roman" panose="02010803020104030203" pitchFamily="2" charset="-79"/>
              </a:rPr>
              <a:t>3.2 Design Methods (PO(a))</a:t>
            </a:r>
            <a:endParaRPr lang="en-BD" b="1"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7</a:t>
            </a:fld>
            <a:endParaRPr lang="en-BD">
              <a:latin typeface="Times New Roman"/>
              <a:cs typeface="Times New Roman"/>
            </a:endParaRPr>
          </a:p>
        </p:txBody>
      </p:sp>
      <p:sp>
        <p:nvSpPr>
          <p:cNvPr id="7" name="Date Placeholder 5">
            <a:extLst>
              <a:ext uri="{FF2B5EF4-FFF2-40B4-BE49-F238E27FC236}">
                <a16:creationId xmlns:a16="http://schemas.microsoft.com/office/drawing/2014/main" id="{BFD6422F-12DA-8A45-9AF9-8BFCA12E4A83}"/>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pic>
        <p:nvPicPr>
          <p:cNvPr id="8" name="Picture 7">
            <a:extLst>
              <a:ext uri="{FF2B5EF4-FFF2-40B4-BE49-F238E27FC236}">
                <a16:creationId xmlns:a16="http://schemas.microsoft.com/office/drawing/2014/main" id="{3673080E-2E6F-F375-88D7-ADC5998F609C}"/>
              </a:ext>
            </a:extLst>
          </p:cNvPr>
          <p:cNvPicPr>
            <a:picLocks noChangeAspect="1"/>
          </p:cNvPicPr>
          <p:nvPr/>
        </p:nvPicPr>
        <p:blipFill>
          <a:blip r:embed="rId2"/>
          <a:stretch>
            <a:fillRect/>
          </a:stretch>
        </p:blipFill>
        <p:spPr>
          <a:xfrm>
            <a:off x="432486" y="797038"/>
            <a:ext cx="11500434" cy="5613190"/>
          </a:xfrm>
          <a:prstGeom prst="rect">
            <a:avLst/>
          </a:prstGeom>
        </p:spPr>
      </p:pic>
    </p:spTree>
    <p:extLst>
      <p:ext uri="{BB962C8B-B14F-4D97-AF65-F5344CB8AC3E}">
        <p14:creationId xmlns:p14="http://schemas.microsoft.com/office/powerpoint/2010/main" val="2505768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5BEC-A1DF-DB49-B707-F4003CEA7E6C}"/>
              </a:ext>
            </a:extLst>
          </p:cNvPr>
          <p:cNvSpPr>
            <a:spLocks noGrp="1"/>
          </p:cNvSpPr>
          <p:nvPr>
            <p:ph type="title"/>
          </p:nvPr>
        </p:nvSpPr>
        <p:spPr>
          <a:xfrm>
            <a:off x="2438717" y="28980"/>
            <a:ext cx="8599397" cy="685800"/>
          </a:xfrm>
        </p:spPr>
        <p:txBody>
          <a:bodyPr>
            <a:normAutofit fontScale="90000"/>
          </a:bodyPr>
          <a:lstStyle/>
          <a:p>
            <a:r>
              <a:rPr lang="en-US" sz="3200" b="1" dirty="0">
                <a:solidFill>
                  <a:srgbClr val="C00000"/>
                </a:solidFill>
                <a:latin typeface="Times New Roman" panose="02010803020104030203" pitchFamily="2" charset="-79"/>
                <a:cs typeface="Times New Roman" panose="02010803020104030203" pitchFamily="2" charset="-79"/>
              </a:rPr>
              <a:t>3.3 Design Consideration: Circuit Diagram ((PO(c))</a:t>
            </a:r>
            <a:endParaRPr lang="en-BD" b="1"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2F4FAFD4-E2E1-B948-84C7-28DD8B57FCDC}"/>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8</a:t>
            </a:fld>
            <a:endParaRPr lang="en-BD">
              <a:latin typeface="Times New Roman"/>
              <a:cs typeface="Times New Roman"/>
            </a:endParaRPr>
          </a:p>
        </p:txBody>
      </p:sp>
      <p:pic>
        <p:nvPicPr>
          <p:cNvPr id="11" name="Content Placeholder 10" descr="IEEE 14-Bus System - Illinois Center for a Smarter Electric Grid (ICSEG)">
            <a:extLst>
              <a:ext uri="{FF2B5EF4-FFF2-40B4-BE49-F238E27FC236}">
                <a16:creationId xmlns:a16="http://schemas.microsoft.com/office/drawing/2014/main" id="{DD7DABA6-1DD6-1899-68F5-BA8681C08F8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479" t="3467" r="6123" b="3417"/>
          <a:stretch>
            <a:fillRect/>
          </a:stretch>
        </p:blipFill>
        <p:spPr bwMode="auto">
          <a:xfrm>
            <a:off x="338975" y="647598"/>
            <a:ext cx="5376026" cy="4149091"/>
          </a:xfrm>
          <a:prstGeom prst="rect">
            <a:avLst/>
          </a:prstGeom>
          <a:noFill/>
          <a:ln>
            <a:noFill/>
          </a:ln>
        </p:spPr>
      </p:pic>
      <p:pic>
        <p:nvPicPr>
          <p:cNvPr id="12" name="Picture 11" descr="IEEE39">
            <a:extLst>
              <a:ext uri="{FF2B5EF4-FFF2-40B4-BE49-F238E27FC236}">
                <a16:creationId xmlns:a16="http://schemas.microsoft.com/office/drawing/2014/main" id="{41331E2A-92A1-475E-D5B7-515C417932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715010"/>
            <a:ext cx="5757025" cy="3971290"/>
          </a:xfrm>
          <a:prstGeom prst="rect">
            <a:avLst/>
          </a:prstGeom>
          <a:noFill/>
          <a:ln>
            <a:noFill/>
          </a:ln>
        </p:spPr>
      </p:pic>
      <p:sp>
        <p:nvSpPr>
          <p:cNvPr id="14" name="TextBox 13">
            <a:extLst>
              <a:ext uri="{FF2B5EF4-FFF2-40B4-BE49-F238E27FC236}">
                <a16:creationId xmlns:a16="http://schemas.microsoft.com/office/drawing/2014/main" id="{6CC879EF-2D8A-5ACC-0011-16764E21EBA0}"/>
              </a:ext>
            </a:extLst>
          </p:cNvPr>
          <p:cNvSpPr txBox="1"/>
          <p:nvPr/>
        </p:nvSpPr>
        <p:spPr>
          <a:xfrm>
            <a:off x="-1" y="4689948"/>
            <a:ext cx="6096000" cy="1815882"/>
          </a:xfrm>
          <a:prstGeom prst="rect">
            <a:avLst/>
          </a:prstGeom>
          <a:noFill/>
        </p:spPr>
        <p:txBody>
          <a:bodyPr wrap="square">
            <a:spAutoFit/>
          </a:bodyPr>
          <a:lstStyle/>
          <a:p>
            <a:pPr marL="0" marR="0" lvl="0" indent="-342900" algn="ctr">
              <a:buFont typeface="Arial" panose="020B0604020202020204" pitchFamily="34" charset="0"/>
              <a:buChar char="•"/>
            </a:pPr>
            <a:r>
              <a:rPr lang="en-US" sz="2800" b="1" u="sng" dirty="0">
                <a:effectLst/>
                <a:latin typeface="Times New Roman" panose="02020603050405020304" pitchFamily="18" charset="0"/>
                <a:cs typeface="Times New Roman" panose="02020603050405020304" pitchFamily="18" charset="0"/>
              </a:rPr>
              <a:t>IEEE 14-Bus System: </a:t>
            </a:r>
            <a:r>
              <a:rPr lang="en-US" sz="2800" dirty="0">
                <a:effectLst/>
                <a:latin typeface="Times New Roman" panose="02020603050405020304" pitchFamily="18" charset="0"/>
                <a:cs typeface="Times New Roman" panose="02020603050405020304" pitchFamily="18" charset="0"/>
              </a:rPr>
              <a:t>A heavily coupled sub-transmission loop featuring </a:t>
            </a:r>
            <a:r>
              <a:rPr lang="en-US" sz="2800" dirty="0">
                <a:solidFill>
                  <a:srgbClr val="FF0000"/>
                </a:solidFill>
                <a:effectLst/>
                <a:latin typeface="Times New Roman" panose="02020603050405020304" pitchFamily="18" charset="0"/>
                <a:cs typeface="Times New Roman" panose="02020603050405020304" pitchFamily="18" charset="0"/>
              </a:rPr>
              <a:t>5 </a:t>
            </a:r>
            <a:r>
              <a:rPr lang="en-US" sz="2800" dirty="0">
                <a:solidFill>
                  <a:srgbClr val="FF0000"/>
                </a:solidFill>
                <a:latin typeface="Times New Roman" panose="02020603050405020304" pitchFamily="18" charset="0"/>
                <a:cs typeface="Times New Roman" panose="02020603050405020304" pitchFamily="18" charset="0"/>
              </a:rPr>
              <a:t>G</a:t>
            </a:r>
            <a:r>
              <a:rPr lang="en-US" sz="2800" dirty="0">
                <a:solidFill>
                  <a:srgbClr val="FF0000"/>
                </a:solidFill>
                <a:effectLst/>
                <a:latin typeface="Times New Roman" panose="02020603050405020304" pitchFamily="18" charset="0"/>
                <a:cs typeface="Times New Roman" panose="02020603050405020304" pitchFamily="18" charset="0"/>
              </a:rPr>
              <a:t>enerators</a:t>
            </a:r>
            <a:r>
              <a:rPr lang="en-US" sz="2800" dirty="0">
                <a:effectLst/>
                <a:latin typeface="Times New Roman" panose="02020603050405020304" pitchFamily="18" charset="0"/>
                <a:cs typeface="Times New Roman" panose="02020603050405020304" pitchFamily="18" charset="0"/>
              </a:rPr>
              <a:t>, </a:t>
            </a:r>
            <a:r>
              <a:rPr lang="en-US" sz="2800" dirty="0">
                <a:solidFill>
                  <a:srgbClr val="FF0000"/>
                </a:solidFill>
                <a:effectLst/>
                <a:latin typeface="Times New Roman" panose="02020603050405020304" pitchFamily="18" charset="0"/>
                <a:cs typeface="Times New Roman" panose="02020603050405020304" pitchFamily="18" charset="0"/>
              </a:rPr>
              <a:t>3Transformers</a:t>
            </a:r>
            <a:r>
              <a:rPr lang="en-US" sz="2800" dirty="0">
                <a:effectLst/>
                <a:latin typeface="Times New Roman" panose="02020603050405020304" pitchFamily="18" charset="0"/>
                <a:cs typeface="Times New Roman" panose="02020603050405020304" pitchFamily="18" charset="0"/>
              </a:rPr>
              <a:t> and </a:t>
            </a:r>
            <a:r>
              <a:rPr lang="en-US" sz="2800" dirty="0">
                <a:solidFill>
                  <a:srgbClr val="FF0000"/>
                </a:solidFill>
                <a:effectLst/>
                <a:latin typeface="Times New Roman" panose="02020603050405020304" pitchFamily="18" charset="0"/>
                <a:cs typeface="Times New Roman" panose="02020603050405020304" pitchFamily="18" charset="0"/>
              </a:rPr>
              <a:t>9 load buses(PQ)</a:t>
            </a:r>
            <a:r>
              <a:rPr lang="en-US" sz="2800" dirty="0">
                <a:effectLst/>
                <a:latin typeface="Times New Roman" panose="02020603050405020304" pitchFamily="18" charset="0"/>
                <a:cs typeface="Times New Roman" panose="02020603050405020304" pitchFamily="18" charset="0"/>
              </a:rPr>
              <a:t>. </a:t>
            </a:r>
          </a:p>
        </p:txBody>
      </p:sp>
      <p:sp>
        <p:nvSpPr>
          <p:cNvPr id="16" name="TextBox 15">
            <a:extLst>
              <a:ext uri="{FF2B5EF4-FFF2-40B4-BE49-F238E27FC236}">
                <a16:creationId xmlns:a16="http://schemas.microsoft.com/office/drawing/2014/main" id="{479FE415-B8B3-75AF-118E-4E11F2AE9372}"/>
              </a:ext>
            </a:extLst>
          </p:cNvPr>
          <p:cNvSpPr txBox="1"/>
          <p:nvPr/>
        </p:nvSpPr>
        <p:spPr>
          <a:xfrm>
            <a:off x="6193409" y="4709243"/>
            <a:ext cx="5998591" cy="1723549"/>
          </a:xfrm>
          <a:prstGeom prst="rect">
            <a:avLst/>
          </a:prstGeom>
          <a:noFill/>
        </p:spPr>
        <p:txBody>
          <a:bodyPr wrap="square">
            <a:spAutoFit/>
          </a:bodyPr>
          <a:lstStyle/>
          <a:p>
            <a:pPr marL="0" marR="0" lvl="0" indent="-342900" algn="ctr">
              <a:buFont typeface="Arial" panose="020B0604020202020204" pitchFamily="34" charset="0"/>
              <a:buChar char="•"/>
            </a:pPr>
            <a:r>
              <a:rPr lang="en-US" sz="2650" b="1" u="sng" dirty="0">
                <a:effectLst/>
                <a:latin typeface="Times New Roman" panose="02020603050405020304" pitchFamily="18" charset="0"/>
                <a:cs typeface="Times New Roman" panose="02020603050405020304" pitchFamily="18" charset="0"/>
              </a:rPr>
              <a:t>IEEE 39-Bus System:</a:t>
            </a:r>
            <a:r>
              <a:rPr lang="en-US" sz="2650" u="sng" dirty="0">
                <a:effectLst/>
                <a:latin typeface="Times New Roman" panose="02020603050405020304" pitchFamily="18" charset="0"/>
                <a:cs typeface="Times New Roman" panose="02020603050405020304" pitchFamily="18" charset="0"/>
              </a:rPr>
              <a:t> </a:t>
            </a:r>
            <a:r>
              <a:rPr lang="en-US" sz="2650" dirty="0">
                <a:effectLst/>
                <a:latin typeface="Times New Roman" panose="02020603050405020304" pitchFamily="18" charset="0"/>
                <a:cs typeface="Times New Roman" panose="02020603050405020304" pitchFamily="18" charset="0"/>
              </a:rPr>
              <a:t>The New England bulk transmission backbone, containing </a:t>
            </a:r>
            <a:r>
              <a:rPr lang="en-US" sz="2650" dirty="0">
                <a:solidFill>
                  <a:srgbClr val="FF0000"/>
                </a:solidFill>
                <a:effectLst/>
                <a:latin typeface="Times New Roman" panose="02020603050405020304" pitchFamily="18" charset="0"/>
                <a:cs typeface="Times New Roman" panose="02020603050405020304" pitchFamily="18" charset="0"/>
              </a:rPr>
              <a:t>10 Generators</a:t>
            </a:r>
            <a:r>
              <a:rPr lang="en-US" sz="2650" dirty="0">
                <a:effectLst/>
                <a:latin typeface="Times New Roman" panose="02020603050405020304" pitchFamily="18" charset="0"/>
                <a:cs typeface="Times New Roman" panose="02020603050405020304" pitchFamily="18" charset="0"/>
              </a:rPr>
              <a:t>, </a:t>
            </a:r>
            <a:r>
              <a:rPr lang="en-US" sz="2650" dirty="0">
                <a:solidFill>
                  <a:srgbClr val="FF0000"/>
                </a:solidFill>
                <a:effectLst/>
                <a:latin typeface="Times New Roman" panose="02020603050405020304" pitchFamily="18" charset="0"/>
                <a:cs typeface="Times New Roman" panose="02020603050405020304" pitchFamily="18" charset="0"/>
              </a:rPr>
              <a:t>12 Transformers </a:t>
            </a:r>
            <a:r>
              <a:rPr lang="en-US" sz="2650" dirty="0">
                <a:effectLst/>
                <a:latin typeface="Times New Roman" panose="02020603050405020304" pitchFamily="18" charset="0"/>
                <a:cs typeface="Times New Roman" panose="02020603050405020304" pitchFamily="18" charset="0"/>
              </a:rPr>
              <a:t>and </a:t>
            </a:r>
            <a:r>
              <a:rPr lang="en-US" sz="2650" dirty="0">
                <a:solidFill>
                  <a:srgbClr val="FF0000"/>
                </a:solidFill>
                <a:effectLst/>
                <a:latin typeface="Times New Roman" panose="02020603050405020304" pitchFamily="18" charset="0"/>
                <a:cs typeface="Times New Roman" panose="02020603050405020304" pitchFamily="18" charset="0"/>
              </a:rPr>
              <a:t>29 candidate </a:t>
            </a:r>
            <a:r>
              <a:rPr lang="en-US" sz="2650" dirty="0">
                <a:solidFill>
                  <a:srgbClr val="FF0000"/>
                </a:solidFill>
                <a:latin typeface="Times New Roman" panose="02020603050405020304" pitchFamily="18" charset="0"/>
                <a:cs typeface="Times New Roman" panose="02020603050405020304" pitchFamily="18" charset="0"/>
              </a:rPr>
              <a:t>L</a:t>
            </a:r>
            <a:r>
              <a:rPr lang="en-US" sz="2650" dirty="0">
                <a:solidFill>
                  <a:srgbClr val="FF0000"/>
                </a:solidFill>
                <a:effectLst/>
                <a:latin typeface="Times New Roman" panose="02020603050405020304" pitchFamily="18" charset="0"/>
                <a:cs typeface="Times New Roman" panose="02020603050405020304" pitchFamily="18" charset="0"/>
              </a:rPr>
              <a:t>oad substations</a:t>
            </a:r>
            <a:r>
              <a:rPr lang="en-US" sz="2650" dirty="0">
                <a:solidFill>
                  <a:srgbClr val="FF0000"/>
                </a:solidFill>
                <a:latin typeface="Times New Roman" panose="02020603050405020304" pitchFamily="18" charset="0"/>
                <a:cs typeface="Times New Roman" panose="02020603050405020304" pitchFamily="18" charset="0"/>
              </a:rPr>
              <a:t>(PQ)</a:t>
            </a:r>
            <a:r>
              <a:rPr lang="en-US" sz="2650" dirty="0">
                <a:effectLst/>
                <a:latin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id="{FEBC2EF8-8BA6-4853-A298-72807A27F460}"/>
              </a:ext>
            </a:extLst>
          </p:cNvPr>
          <p:cNvSpPr/>
          <p:nvPr/>
        </p:nvSpPr>
        <p:spPr>
          <a:xfrm>
            <a:off x="6050281" y="4835504"/>
            <a:ext cx="45719" cy="155520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atin typeface="Times New Roman"/>
              <a:cs typeface="Times New Roman"/>
            </a:endParaRPr>
          </a:p>
        </p:txBody>
      </p:sp>
      <p:sp>
        <p:nvSpPr>
          <p:cNvPr id="4" name="TextBox 3">
            <a:extLst>
              <a:ext uri="{FF2B5EF4-FFF2-40B4-BE49-F238E27FC236}">
                <a16:creationId xmlns:a16="http://schemas.microsoft.com/office/drawing/2014/main" id="{2B16AFB4-C63B-CC9E-D023-FED9AB9003A6}"/>
              </a:ext>
            </a:extLst>
          </p:cNvPr>
          <p:cNvSpPr txBox="1"/>
          <p:nvPr/>
        </p:nvSpPr>
        <p:spPr>
          <a:xfrm>
            <a:off x="545841" y="6474880"/>
            <a:ext cx="6204856" cy="369332"/>
          </a:xfrm>
          <a:prstGeom prst="rect">
            <a:avLst/>
          </a:prstGeom>
          <a:noFill/>
        </p:spPr>
        <p:txBody>
          <a:bodyPr wrap="square">
            <a:spAutoFit/>
          </a:bodyPr>
          <a:lstStyle/>
          <a:p>
            <a:r>
              <a:rPr lang="en-US" sz="1800" dirty="0">
                <a:solidFill>
                  <a:schemeClr val="bg1"/>
                </a:solidFill>
                <a:latin typeface="Times New Roman"/>
                <a:cs typeface="Times New Roman"/>
              </a:rPr>
              <a:t>EEE 306 – Power System I Laboratory</a:t>
            </a:r>
            <a:endParaRPr lang="en-BD" sz="1800" dirty="0">
              <a:solidFill>
                <a:schemeClr val="bg1"/>
              </a:solidFill>
              <a:latin typeface="Times New Roman"/>
              <a:cs typeface="Times New Roman"/>
            </a:endParaRPr>
          </a:p>
        </p:txBody>
      </p:sp>
    </p:spTree>
    <p:extLst>
      <p:ext uri="{BB962C8B-B14F-4D97-AF65-F5344CB8AC3E}">
        <p14:creationId xmlns:p14="http://schemas.microsoft.com/office/powerpoint/2010/main" val="2642175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475B3-D266-B351-14B8-273F882E762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2B6835-2346-5CD9-61A5-A22FC7D2EB25}"/>
              </a:ext>
            </a:extLst>
          </p:cNvPr>
          <p:cNvPicPr>
            <a:picLocks noChangeAspect="1"/>
          </p:cNvPicPr>
          <p:nvPr/>
        </p:nvPicPr>
        <p:blipFill>
          <a:blip r:embed="rId2"/>
          <a:stretch>
            <a:fillRect/>
          </a:stretch>
        </p:blipFill>
        <p:spPr>
          <a:xfrm>
            <a:off x="580072" y="724268"/>
            <a:ext cx="11031855" cy="5745385"/>
          </a:xfrm>
          <a:prstGeom prst="rect">
            <a:avLst/>
          </a:prstGeom>
        </p:spPr>
      </p:pic>
      <p:sp>
        <p:nvSpPr>
          <p:cNvPr id="2" name="Title 1">
            <a:extLst>
              <a:ext uri="{FF2B5EF4-FFF2-40B4-BE49-F238E27FC236}">
                <a16:creationId xmlns:a16="http://schemas.microsoft.com/office/drawing/2014/main" id="{61F4948B-039C-396C-21F4-8ED61E8E106B}"/>
              </a:ext>
            </a:extLst>
          </p:cNvPr>
          <p:cNvSpPr>
            <a:spLocks noGrp="1"/>
          </p:cNvSpPr>
          <p:nvPr>
            <p:ph type="title"/>
          </p:nvPr>
        </p:nvSpPr>
        <p:spPr>
          <a:xfrm>
            <a:off x="-99453" y="38075"/>
            <a:ext cx="12268986" cy="729006"/>
          </a:xfrm>
        </p:spPr>
        <p:txBody>
          <a:bodyPr>
            <a:noAutofit/>
          </a:bodyPr>
          <a:lstStyle/>
          <a:p>
            <a:pPr algn="ctr"/>
            <a:r>
              <a:rPr lang="en-US" sz="3500" b="1" dirty="0">
                <a:solidFill>
                  <a:srgbClr val="C00000"/>
                </a:solidFill>
                <a:latin typeface="Times New Roman" panose="02010803020104030203" pitchFamily="2" charset="-79"/>
                <a:cs typeface="Times New Roman" panose="02010803020104030203" pitchFamily="2" charset="-79"/>
              </a:rPr>
              <a:t>3.4 Design: Simulation - Fast Voltage Stability Index (FVSI) </a:t>
            </a:r>
            <a:endParaRPr lang="en-BD" sz="3500"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C5F4C2D8-19C7-9EB7-0412-00290376BFC3}"/>
              </a:ext>
            </a:extLst>
          </p:cNvPr>
          <p:cNvSpPr>
            <a:spLocks noGrp="1"/>
          </p:cNvSpPr>
          <p:nvPr>
            <p:ph type="sldNum" sz="quarter" idx="12"/>
          </p:nvPr>
        </p:nvSpPr>
        <p:spPr>
          <a:xfrm>
            <a:off x="11410950" y="6501638"/>
            <a:ext cx="521970" cy="308530"/>
          </a:xfrm>
        </p:spPr>
        <p:txBody>
          <a:bodyPr/>
          <a:lstStyle/>
          <a:p>
            <a:fld id="{E9C29D53-9981-884B-B5B6-B5743DF81FD1}" type="slidenum">
              <a:rPr lang="en-BD" sz="1600" smtClean="0">
                <a:latin typeface="Times New Roman"/>
                <a:cs typeface="Times New Roman"/>
              </a:rPr>
              <a:t>9</a:t>
            </a:fld>
            <a:endParaRPr lang="en-BD" sz="1600">
              <a:latin typeface="Times New Roman"/>
              <a:cs typeface="Times New Roman"/>
            </a:endParaRPr>
          </a:p>
        </p:txBody>
      </p:sp>
      <p:sp>
        <p:nvSpPr>
          <p:cNvPr id="12" name="Title 1">
            <a:extLst>
              <a:ext uri="{FF2B5EF4-FFF2-40B4-BE49-F238E27FC236}">
                <a16:creationId xmlns:a16="http://schemas.microsoft.com/office/drawing/2014/main" id="{E45B42EE-6370-E2D5-51D5-71AEB82DFE47}"/>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Times New Roman" panose="020B0604020202020204" pitchFamily="34" charset="0"/>
                <a:ea typeface="+mn-ea"/>
                <a:cs typeface="Times New Roman" panose="020B0604020202020204" pitchFamily="34" charset="0"/>
              </a:defRPr>
            </a:lvl1pPr>
          </a:lstStyle>
          <a:p>
            <a:endParaRPr lang="en-GB" sz="3600" b="1" dirty="0">
              <a:latin typeface="Times New Roman"/>
              <a:cs typeface="Times New Roman"/>
            </a:endParaRPr>
          </a:p>
        </p:txBody>
      </p:sp>
      <p:sp>
        <p:nvSpPr>
          <p:cNvPr id="4" name="TextBox 3">
            <a:extLst>
              <a:ext uri="{FF2B5EF4-FFF2-40B4-BE49-F238E27FC236}">
                <a16:creationId xmlns:a16="http://schemas.microsoft.com/office/drawing/2014/main" id="{CAFF9A38-BD90-2401-4CC6-428F5F1DDA04}"/>
              </a:ext>
            </a:extLst>
          </p:cNvPr>
          <p:cNvSpPr txBox="1"/>
          <p:nvPr/>
        </p:nvSpPr>
        <p:spPr>
          <a:xfrm>
            <a:off x="640080" y="6469653"/>
            <a:ext cx="6153538" cy="369332"/>
          </a:xfrm>
          <a:prstGeom prst="rect">
            <a:avLst/>
          </a:prstGeom>
          <a:noFill/>
        </p:spPr>
        <p:txBody>
          <a:bodyPr wrap="square">
            <a:spAutoFit/>
          </a:bodyPr>
          <a:lstStyle/>
          <a:p>
            <a:r>
              <a:rPr lang="en-US" sz="1800" dirty="0">
                <a:solidFill>
                  <a:schemeClr val="bg1"/>
                </a:solidFill>
                <a:latin typeface="Times New Roman"/>
                <a:cs typeface="Times New Roman"/>
              </a:rPr>
              <a:t>EEE 306 – Power System I Laboratory</a:t>
            </a:r>
            <a:endParaRPr lang="en-BD" sz="1800" dirty="0">
              <a:solidFill>
                <a:schemeClr val="bg1"/>
              </a:solidFill>
              <a:latin typeface="Times New Roman"/>
              <a:cs typeface="Times New Roman"/>
            </a:endParaRPr>
          </a:p>
        </p:txBody>
      </p:sp>
      <p:cxnSp>
        <p:nvCxnSpPr>
          <p:cNvPr id="20" name="Connector 205">
            <a:extLst>
              <a:ext uri="{FF2B5EF4-FFF2-40B4-BE49-F238E27FC236}">
                <a16:creationId xmlns:a16="http://schemas.microsoft.com/office/drawing/2014/main" id="{A7F4FF1B-B81C-BA20-2F7B-E8AC10AEA9FD}"/>
              </a:ext>
            </a:extLst>
          </p:cNvPr>
          <p:cNvCxnSpPr>
            <a:cxnSpLocks/>
          </p:cNvCxnSpPr>
          <p:nvPr/>
        </p:nvCxnSpPr>
        <p:spPr>
          <a:xfrm flipV="1">
            <a:off x="0" y="724268"/>
            <a:ext cx="12192000" cy="42813"/>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2060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70F7E-03CB-FD18-3426-DE7F52512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D4786-2120-1FB7-0536-1E35C812BDE7}"/>
              </a:ext>
            </a:extLst>
          </p:cNvPr>
          <p:cNvSpPr>
            <a:spLocks noGrp="1"/>
          </p:cNvSpPr>
          <p:nvPr>
            <p:ph type="title"/>
          </p:nvPr>
        </p:nvSpPr>
        <p:spPr>
          <a:xfrm>
            <a:off x="466725" y="138475"/>
            <a:ext cx="11258550" cy="729006"/>
          </a:xfrm>
        </p:spPr>
        <p:txBody>
          <a:bodyPr>
            <a:normAutofit fontScale="90000"/>
          </a:bodyPr>
          <a:lstStyle/>
          <a:p>
            <a:r>
              <a:rPr lang="en-US" b="1" dirty="0">
                <a:solidFill>
                  <a:srgbClr val="C00000"/>
                </a:solidFill>
                <a:latin typeface="Times New Roman" panose="02010803020104030203" pitchFamily="2" charset="-79"/>
                <a:cs typeface="Times New Roman" panose="02010803020104030203" pitchFamily="2" charset="-79"/>
              </a:rPr>
              <a:t>3.4 Design: Simulation- </a:t>
            </a:r>
            <a:r>
              <a:rPr lang="en-US" b="1" dirty="0">
                <a:solidFill>
                  <a:srgbClr val="C00000"/>
                </a:solidFill>
                <a:latin typeface="Times New Roman"/>
                <a:cs typeface="Times New Roman"/>
              </a:rPr>
              <a:t>Genetic Algorithm (GA)</a:t>
            </a:r>
            <a:endParaRPr lang="en-BD"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D2F40FEB-D87D-3AEC-E3C6-AA83232D1B0E}"/>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10</a:t>
            </a:fld>
            <a:endParaRPr lang="en-BD">
              <a:latin typeface="Times New Roman"/>
              <a:cs typeface="Times New Roman"/>
            </a:endParaRPr>
          </a:p>
        </p:txBody>
      </p:sp>
      <p:sp>
        <p:nvSpPr>
          <p:cNvPr id="7" name="Date Placeholder 5">
            <a:extLst>
              <a:ext uri="{FF2B5EF4-FFF2-40B4-BE49-F238E27FC236}">
                <a16:creationId xmlns:a16="http://schemas.microsoft.com/office/drawing/2014/main" id="{C4AFD3DE-D2EB-A219-3152-EE07F26D5C84}"/>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2" name="Title 1">
            <a:extLst>
              <a:ext uri="{FF2B5EF4-FFF2-40B4-BE49-F238E27FC236}">
                <a16:creationId xmlns:a16="http://schemas.microsoft.com/office/drawing/2014/main" id="{6BDD09CC-8F51-74D3-8C96-52567C778F3C}"/>
              </a:ext>
            </a:extLst>
          </p:cNvPr>
          <p:cNvSpPr txBox="1">
            <a:spLocks/>
          </p:cNvSpPr>
          <p:nvPr/>
        </p:nvSpPr>
        <p:spPr>
          <a:xfrm>
            <a:off x="1066800" y="1057516"/>
            <a:ext cx="10058400" cy="72900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Times New Roman" panose="020B0604020202020204" pitchFamily="34" charset="0"/>
                <a:ea typeface="+mn-ea"/>
                <a:cs typeface="Times New Roman" panose="020B0604020202020204" pitchFamily="34" charset="0"/>
              </a:defRPr>
            </a:lvl1pPr>
          </a:lstStyle>
          <a:p>
            <a:endParaRPr lang="en-GB" sz="3600" b="1" dirty="0">
              <a:latin typeface="Times New Roman"/>
              <a:cs typeface="Times New Roman"/>
            </a:endParaRPr>
          </a:p>
        </p:txBody>
      </p:sp>
      <p:pic>
        <p:nvPicPr>
          <p:cNvPr id="20" name="Picture 19">
            <a:extLst>
              <a:ext uri="{FF2B5EF4-FFF2-40B4-BE49-F238E27FC236}">
                <a16:creationId xmlns:a16="http://schemas.microsoft.com/office/drawing/2014/main" id="{FB7E7C03-4B49-93C6-1C92-FA382A9B769C}"/>
              </a:ext>
            </a:extLst>
          </p:cNvPr>
          <p:cNvPicPr>
            <a:picLocks noChangeAspect="1"/>
          </p:cNvPicPr>
          <p:nvPr/>
        </p:nvPicPr>
        <p:blipFill>
          <a:blip r:embed="rId2"/>
          <a:stretch>
            <a:fillRect/>
          </a:stretch>
        </p:blipFill>
        <p:spPr>
          <a:xfrm>
            <a:off x="65989" y="791564"/>
            <a:ext cx="6372579" cy="5620741"/>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F877475-2A5E-8338-98F1-5449376EB89B}"/>
                  </a:ext>
                </a:extLst>
              </p:cNvPr>
              <p:cNvSpPr txBox="1"/>
              <p:nvPr/>
            </p:nvSpPr>
            <p:spPr>
              <a:xfrm>
                <a:off x="6601904" y="898509"/>
                <a:ext cx="5524107" cy="5324535"/>
              </a:xfrm>
              <a:prstGeom prst="rect">
                <a:avLst/>
              </a:prstGeom>
              <a:noFill/>
            </p:spPr>
            <p:txBody>
              <a:bodyPr wrap="square">
                <a:spAutoFit/>
              </a:bodyPr>
              <a:lstStyle/>
              <a:p>
                <a:pPr marL="0" marR="0" lvl="0" indent="-342900">
                  <a:buFont typeface="Wingdings" panose="05000000000000000000" pitchFamily="2" charset="2"/>
                  <a:buChar char="Ø"/>
                </a:pPr>
                <a:r>
                  <a:rPr lang="en-US" sz="2000" b="1" u="sng" dirty="0">
                    <a:solidFill>
                      <a:srgbClr val="C00000"/>
                    </a:solidFill>
                    <a:effectLst/>
                    <a:latin typeface="Times New Roman" panose="02020603050405020304" pitchFamily="18" charset="0"/>
                    <a:cs typeface="Times New Roman" panose="02020603050405020304" pitchFamily="18" charset="0"/>
                  </a:rPr>
                  <a:t>Population &amp; Iterations</a:t>
                </a:r>
                <a:r>
                  <a:rPr lang="en-US" sz="2000" b="1" dirty="0">
                    <a:solidFill>
                      <a:srgbClr val="C00000"/>
                    </a:solidFill>
                    <a:effectLst/>
                    <a:latin typeface="Times New Roman" panose="02020603050405020304" pitchFamily="18" charset="0"/>
                    <a:cs typeface="Times New Roman" panose="02020603050405020304" pitchFamily="18" charset="0"/>
                  </a:rPr>
                  <a:t>:</a:t>
                </a:r>
                <a:r>
                  <a:rPr lang="en-US" sz="2000" dirty="0">
                    <a:solidFill>
                      <a:srgbClr val="C00000"/>
                    </a:solidFill>
                    <a:effectLst/>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120 chromosomes over 120 generations, resulting in 14,400 total power flow evaluations. </a:t>
                </a:r>
              </a:p>
              <a:p>
                <a:pPr marL="0" marR="0" lvl="0" indent="-342900">
                  <a:buFont typeface="Wingdings" panose="05000000000000000000" pitchFamily="2" charset="2"/>
                  <a:buChar char="Ø"/>
                </a:pPr>
                <a:r>
                  <a:rPr lang="en-US" sz="2000" b="1" u="sng" dirty="0">
                    <a:solidFill>
                      <a:srgbClr val="C00000"/>
                    </a:solidFill>
                    <a:effectLst/>
                    <a:latin typeface="Times New Roman" panose="02020603050405020304" pitchFamily="18" charset="0"/>
                    <a:cs typeface="Times New Roman" panose="02020603050405020304" pitchFamily="18" charset="0"/>
                  </a:rPr>
                  <a:t>Selection &amp; Elitism:</a:t>
                </a:r>
                <a:r>
                  <a:rPr lang="en-US" sz="2000" u="sng" dirty="0">
                    <a:solidFill>
                      <a:srgbClr val="C00000"/>
                    </a:solidFill>
                    <a:effectLst/>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Uses Tournament Selection (</a:t>
                </a:r>
                <a14:m>
                  <m:oMath xmlns:m="http://schemas.openxmlformats.org/officeDocument/2006/math">
                    <m:r>
                      <a:rPr lang="en-US" sz="2000" i="1" smtClean="0">
                        <a:solidFill>
                          <a:schemeClr val="tx1">
                            <a:lumMod val="95000"/>
                            <a:lumOff val="5000"/>
                          </a:schemeClr>
                        </a:solidFill>
                        <a:latin typeface="Cambria Math" panose="02040503050406030204" pitchFamily="18" charset="0"/>
                      </a:rPr>
                      <m:t>𝐾</m:t>
                    </m:r>
                    <m:r>
                      <a:rPr lang="en-US" sz="2000" i="0">
                        <a:solidFill>
                          <a:schemeClr val="tx1">
                            <a:lumMod val="95000"/>
                            <a:lumOff val="5000"/>
                          </a:schemeClr>
                        </a:solidFill>
                        <a:latin typeface="Cambria Math" panose="02040503050406030204" pitchFamily="18" charset="0"/>
                      </a:rPr>
                      <m:t>=5</m:t>
                    </m:r>
                  </m:oMath>
                </a14:m>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 to pick candidates, while permanently saving the top 6 best solutions (Elitism) each round. </a:t>
                </a:r>
              </a:p>
              <a:p>
                <a:pPr marL="0" marR="0" lvl="0" indent="-342900">
                  <a:buFont typeface="Wingdings" panose="05000000000000000000" pitchFamily="2" charset="2"/>
                  <a:buChar char="Ø"/>
                </a:pPr>
                <a:r>
                  <a:rPr lang="en-US" sz="2000" b="1" u="sng" dirty="0">
                    <a:solidFill>
                      <a:srgbClr val="C00000"/>
                    </a:solidFill>
                    <a:effectLst/>
                    <a:latin typeface="Times New Roman" panose="02020603050405020304" pitchFamily="18" charset="0"/>
                    <a:cs typeface="Times New Roman" panose="02020603050405020304" pitchFamily="18" charset="0"/>
                  </a:rPr>
                  <a:t>Crossover</a:t>
                </a:r>
                <a:r>
                  <a:rPr lang="en-US" sz="2000" b="1" dirty="0">
                    <a:solidFill>
                      <a:srgbClr val="C00000"/>
                    </a:solidFill>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𝑃</m:t>
                        </m:r>
                      </m:e>
                      <m:sub>
                        <m:r>
                          <a:rPr lang="en-US" sz="2000" i="1">
                            <a:solidFill>
                              <a:srgbClr val="C00000"/>
                            </a:solidFill>
                            <a:latin typeface="Cambria Math" panose="02040503050406030204" pitchFamily="18" charset="0"/>
                          </a:rPr>
                          <m:t>𝑐</m:t>
                        </m:r>
                      </m:sub>
                    </m:sSub>
                  </m:oMath>
                </a14:m>
                <a:r>
                  <a:rPr lang="en-US" sz="2000" b="1" dirty="0">
                    <a:solidFill>
                      <a:srgbClr val="C00000"/>
                    </a:solidFill>
                    <a:effectLst/>
                    <a:latin typeface="Times New Roman" panose="02020603050405020304" pitchFamily="18" charset="0"/>
                    <a:cs typeface="Times New Roman" panose="02020603050405020304" pitchFamily="18" charset="0"/>
                  </a:rPr>
                  <a:t>):</a:t>
                </a:r>
                <a:r>
                  <a:rPr lang="en-US" sz="2000" dirty="0">
                    <a:solidFill>
                      <a:srgbClr val="C00000"/>
                    </a:solidFill>
                    <a:effectLst/>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95% probability to aggressively mix successful transformer tap combinations between parent solutions. </a:t>
                </a:r>
              </a:p>
              <a:p>
                <a:pPr marL="0" marR="0" lvl="0" indent="-342900">
                  <a:buFont typeface="Wingdings" panose="05000000000000000000" pitchFamily="2" charset="2"/>
                  <a:buChar char="Ø"/>
                </a:pPr>
                <a:r>
                  <a:rPr lang="en-US" sz="2000" b="1" u="sng" dirty="0">
                    <a:solidFill>
                      <a:srgbClr val="C00000"/>
                    </a:solidFill>
                    <a:effectLst/>
                    <a:latin typeface="Times New Roman" panose="02020603050405020304" pitchFamily="18" charset="0"/>
                    <a:cs typeface="Times New Roman" panose="02020603050405020304" pitchFamily="18" charset="0"/>
                  </a:rPr>
                  <a:t>Mutation</a:t>
                </a:r>
                <a:r>
                  <a:rPr lang="en-US" sz="2000" b="1" dirty="0">
                    <a:solidFill>
                      <a:srgbClr val="C00000"/>
                    </a:solidFill>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𝑃</m:t>
                        </m:r>
                      </m:e>
                      <m:sub>
                        <m:r>
                          <a:rPr lang="en-US" sz="2000" i="1">
                            <a:solidFill>
                              <a:srgbClr val="C00000"/>
                            </a:solidFill>
                            <a:latin typeface="Cambria Math" panose="02040503050406030204" pitchFamily="18" charset="0"/>
                          </a:rPr>
                          <m:t>𝑚</m:t>
                        </m:r>
                      </m:sub>
                    </m:sSub>
                  </m:oMath>
                </a14:m>
                <a:r>
                  <a:rPr lang="en-US" sz="2000" b="1" dirty="0">
                    <a:solidFill>
                      <a:srgbClr val="C00000"/>
                    </a:solidFill>
                    <a:effectLst/>
                    <a:latin typeface="Times New Roman" panose="02020603050405020304" pitchFamily="18" charset="0"/>
                    <a:cs typeface="Times New Roman" panose="02020603050405020304" pitchFamily="18" charset="0"/>
                  </a:rPr>
                  <a:t>):</a:t>
                </a:r>
                <a:r>
                  <a:rPr lang="en-US" sz="2000" dirty="0">
                    <a:solidFill>
                      <a:srgbClr val="C00000"/>
                    </a:solidFill>
                    <a:effectLst/>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35% probability to randomly shift a transformer tap by exactly </a:t>
                </a:r>
                <a14:m>
                  <m:oMath xmlns:m="http://schemas.openxmlformats.org/officeDocument/2006/math">
                    <m:r>
                      <a:rPr lang="en-US" sz="2000" smtClean="0">
                        <a:solidFill>
                          <a:schemeClr val="tx1">
                            <a:lumMod val="95000"/>
                            <a:lumOff val="5000"/>
                          </a:schemeClr>
                        </a:solidFill>
                        <a:latin typeface="Cambria Math" panose="02040503050406030204" pitchFamily="18" charset="0"/>
                      </a:rPr>
                      <m:t>±</m:t>
                    </m:r>
                    <m:r>
                      <a:rPr lang="en-US" sz="2000" i="0">
                        <a:solidFill>
                          <a:schemeClr val="tx1">
                            <a:lumMod val="95000"/>
                            <a:lumOff val="5000"/>
                          </a:schemeClr>
                        </a:solidFill>
                        <a:latin typeface="Cambria Math" panose="02040503050406030204" pitchFamily="18" charset="0"/>
                      </a:rPr>
                      <m:t>1</m:t>
                    </m:r>
                  </m:oMath>
                </a14:m>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discrete step to explore nearby physical settings. </a:t>
                </a:r>
              </a:p>
              <a:p>
                <a:pPr marL="0" marR="0" lvl="0" indent="-342900">
                  <a:buFont typeface="Wingdings" panose="05000000000000000000" pitchFamily="2" charset="2"/>
                  <a:buChar char="Ø"/>
                </a:pPr>
                <a:r>
                  <a:rPr lang="en-US" sz="2000" b="1" u="sng" dirty="0">
                    <a:solidFill>
                      <a:srgbClr val="C00000"/>
                    </a:solidFill>
                    <a:effectLst/>
                    <a:latin typeface="Times New Roman" panose="02020603050405020304" pitchFamily="18" charset="0"/>
                    <a:cs typeface="Times New Roman" panose="02020603050405020304" pitchFamily="18" charset="0"/>
                  </a:rPr>
                  <a:t>Base Anchoring</a:t>
                </a:r>
                <a:r>
                  <a:rPr lang="en-US" sz="2000" b="1" dirty="0">
                    <a:solidFill>
                      <a:srgbClr val="C00000"/>
                    </a:solidFill>
                    <a:effectLst/>
                    <a:latin typeface="Times New Roman" panose="02020603050405020304" pitchFamily="18" charset="0"/>
                    <a:cs typeface="Times New Roman" panose="02020603050405020304" pitchFamily="18" charset="0"/>
                  </a:rPr>
                  <a:t>:</a:t>
                </a:r>
                <a:r>
                  <a:rPr lang="en-US" sz="2000" dirty="0">
                    <a:solidFill>
                      <a:srgbClr val="C00000"/>
                    </a:solidFill>
                    <a:effectLst/>
                    <a:latin typeface="Times New Roman" panose="02020603050405020304" pitchFamily="18" charset="0"/>
                    <a:cs typeface="Times New Roman" panose="02020603050405020304" pitchFamily="18" charset="0"/>
                  </a:rPr>
                  <a:t> </a:t>
                </a:r>
                <a:r>
                  <a:rPr lang="en-US" sz="2000" dirty="0">
                    <a:solidFill>
                      <a:schemeClr val="tx1">
                        <a:lumMod val="95000"/>
                        <a:lumOff val="5000"/>
                      </a:schemeClr>
                    </a:solidFill>
                    <a:effectLst/>
                    <a:latin typeface="Times New Roman" panose="02020603050405020304" pitchFamily="18" charset="0"/>
                    <a:cs typeface="Times New Roman" panose="02020603050405020304" pitchFamily="18" charset="0"/>
                  </a:rPr>
                  <a:t>The first chromosome is always locked to the existing unoptimized grid state to guarantee the final result is never worse than the baseline. </a:t>
                </a:r>
              </a:p>
            </p:txBody>
          </p:sp>
        </mc:Choice>
        <mc:Fallback xmlns="">
          <p:sp>
            <p:nvSpPr>
              <p:cNvPr id="22" name="TextBox 21">
                <a:extLst>
                  <a:ext uri="{FF2B5EF4-FFF2-40B4-BE49-F238E27FC236}">
                    <a16:creationId xmlns:a16="http://schemas.microsoft.com/office/drawing/2014/main" id="{7F877475-2A5E-8338-98F1-5449376EB89B}"/>
                  </a:ext>
                </a:extLst>
              </p:cNvPr>
              <p:cNvSpPr txBox="1">
                <a:spLocks noRot="1" noChangeAspect="1" noMove="1" noResize="1" noEditPoints="1" noAdjustHandles="1" noChangeArrowheads="1" noChangeShapeType="1" noTextEdit="1"/>
              </p:cNvSpPr>
              <p:nvPr/>
            </p:nvSpPr>
            <p:spPr>
              <a:xfrm>
                <a:off x="6601904" y="898509"/>
                <a:ext cx="5524107" cy="5324535"/>
              </a:xfrm>
              <a:prstGeom prst="rect">
                <a:avLst/>
              </a:prstGeom>
              <a:blipFill>
                <a:blip r:embed="rId3"/>
                <a:stretch>
                  <a:fillRect l="-1214" t="-572" r="-993" b="-1030"/>
                </a:stretch>
              </a:blipFill>
            </p:spPr>
            <p:txBody>
              <a:bodyPr/>
              <a:lstStyle/>
              <a:p>
                <a:r>
                  <a:rPr lang="en-US">
                    <a:noFill/>
                  </a:rPr>
                  <a:t> </a:t>
                </a:r>
              </a:p>
            </p:txBody>
          </p:sp>
        </mc:Fallback>
      </mc:AlternateContent>
    </p:spTree>
    <p:extLst>
      <p:ext uri="{BB962C8B-B14F-4D97-AF65-F5344CB8AC3E}">
        <p14:creationId xmlns:p14="http://schemas.microsoft.com/office/powerpoint/2010/main" val="1283326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6518-D9DE-7617-9FA1-0F1E2CAC8760}"/>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FFA4F74B-1FD6-DDAB-4682-756AE0C471F2}"/>
              </a:ext>
            </a:extLst>
          </p:cNvPr>
          <p:cNvPicPr>
            <a:picLocks noChangeAspect="1"/>
          </p:cNvPicPr>
          <p:nvPr/>
        </p:nvPicPr>
        <p:blipFill>
          <a:blip r:embed="rId2"/>
          <a:stretch>
            <a:fillRect/>
          </a:stretch>
        </p:blipFill>
        <p:spPr>
          <a:xfrm>
            <a:off x="1047446" y="493096"/>
            <a:ext cx="10363503" cy="5850738"/>
          </a:xfrm>
          <a:prstGeom prst="rect">
            <a:avLst/>
          </a:prstGeom>
        </p:spPr>
      </p:pic>
      <p:sp>
        <p:nvSpPr>
          <p:cNvPr id="2" name="Title 1">
            <a:extLst>
              <a:ext uri="{FF2B5EF4-FFF2-40B4-BE49-F238E27FC236}">
                <a16:creationId xmlns:a16="http://schemas.microsoft.com/office/drawing/2014/main" id="{A9DC3F18-60ED-C036-3A02-C900FF7513D2}"/>
              </a:ext>
            </a:extLst>
          </p:cNvPr>
          <p:cNvSpPr>
            <a:spLocks noGrp="1"/>
          </p:cNvSpPr>
          <p:nvPr>
            <p:ph type="title"/>
          </p:nvPr>
        </p:nvSpPr>
        <p:spPr>
          <a:xfrm>
            <a:off x="235670" y="29958"/>
            <a:ext cx="11555593" cy="411890"/>
          </a:xfrm>
        </p:spPr>
        <p:txBody>
          <a:bodyPr>
            <a:noAutofit/>
          </a:bodyPr>
          <a:lstStyle/>
          <a:p>
            <a:r>
              <a:rPr lang="en-US" sz="2800" b="1" dirty="0">
                <a:solidFill>
                  <a:srgbClr val="C00000"/>
                </a:solidFill>
                <a:latin typeface="Times New Roman" panose="02010803020104030203" pitchFamily="2" charset="-79"/>
                <a:cs typeface="Times New Roman" panose="02010803020104030203" pitchFamily="2" charset="-79"/>
              </a:rPr>
              <a:t>3.4 Design: Simulation- </a:t>
            </a:r>
            <a:r>
              <a:rPr lang="en-US" sz="2800" b="1" i="1" dirty="0">
                <a:solidFill>
                  <a:srgbClr val="C00000"/>
                </a:solidFill>
                <a:latin typeface="Times New Roman" panose="02010803020104030203" pitchFamily="2" charset="-79"/>
                <a:cs typeface="Times New Roman" panose="02010803020104030203" pitchFamily="2" charset="-79"/>
              </a:rPr>
              <a:t>Particle Swarm Optimization (PSO)</a:t>
            </a:r>
            <a:r>
              <a:rPr lang="en-US" sz="2800" b="1" dirty="0">
                <a:solidFill>
                  <a:srgbClr val="C00000"/>
                </a:solidFill>
                <a:latin typeface="Times New Roman" panose="02010803020104030203" pitchFamily="2" charset="-79"/>
                <a:cs typeface="Times New Roman" panose="02010803020104030203" pitchFamily="2" charset="-79"/>
              </a:rPr>
              <a:t>Algorithm</a:t>
            </a:r>
            <a:endParaRPr lang="en-BD" sz="2800" b="1" dirty="0">
              <a:solidFill>
                <a:srgbClr val="C00000"/>
              </a:solidFill>
              <a:latin typeface="Times New Roman" panose="02010803020104030203" pitchFamily="2" charset="-79"/>
              <a:cs typeface="Times New Roman" panose="02010803020104030203" pitchFamily="2" charset="-79"/>
            </a:endParaRPr>
          </a:p>
        </p:txBody>
      </p:sp>
      <p:sp>
        <p:nvSpPr>
          <p:cNvPr id="6" name="Slide Number Placeholder 5">
            <a:extLst>
              <a:ext uri="{FF2B5EF4-FFF2-40B4-BE49-F238E27FC236}">
                <a16:creationId xmlns:a16="http://schemas.microsoft.com/office/drawing/2014/main" id="{79C6359A-0BE9-29AD-F295-386E007D9754}"/>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11</a:t>
            </a:fld>
            <a:endParaRPr lang="en-BD">
              <a:latin typeface="Times New Roman"/>
              <a:cs typeface="Times New Roman"/>
            </a:endParaRPr>
          </a:p>
        </p:txBody>
      </p:sp>
      <p:sp>
        <p:nvSpPr>
          <p:cNvPr id="7" name="Date Placeholder 5">
            <a:extLst>
              <a:ext uri="{FF2B5EF4-FFF2-40B4-BE49-F238E27FC236}">
                <a16:creationId xmlns:a16="http://schemas.microsoft.com/office/drawing/2014/main" id="{A1F200AE-BA9B-D863-1FAE-FF1D4E907FB7}"/>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pic>
        <p:nvPicPr>
          <p:cNvPr id="31" name="Picture 30" descr="chi2.png">
            <a:extLst>
              <a:ext uri="{FF2B5EF4-FFF2-40B4-BE49-F238E27FC236}">
                <a16:creationId xmlns:a16="http://schemas.microsoft.com/office/drawing/2014/main" id="{AD654F77-C8E1-A9E8-716B-E10082528712}"/>
              </a:ext>
            </a:extLst>
          </p:cNvPr>
          <p:cNvPicPr>
            <a:picLocks noChangeAspect="1"/>
          </p:cNvPicPr>
          <p:nvPr/>
        </p:nvPicPr>
        <p:blipFill>
          <a:blip r:embed="rId3"/>
          <a:stretch>
            <a:fillRect/>
          </a:stretch>
        </p:blipFill>
        <p:spPr>
          <a:xfrm>
            <a:off x="573289" y="2969742"/>
            <a:ext cx="4992136" cy="579120"/>
          </a:xfrm>
          <a:prstGeom prst="rect">
            <a:avLst/>
          </a:prstGeom>
        </p:spPr>
      </p:pic>
      <p:sp>
        <p:nvSpPr>
          <p:cNvPr id="32" name="TextBox 31">
            <a:extLst>
              <a:ext uri="{FF2B5EF4-FFF2-40B4-BE49-F238E27FC236}">
                <a16:creationId xmlns:a16="http://schemas.microsoft.com/office/drawing/2014/main" id="{B8EB2F9C-C571-77AB-AC2B-53F97E8526D5}"/>
              </a:ext>
            </a:extLst>
          </p:cNvPr>
          <p:cNvSpPr txBox="1"/>
          <p:nvPr/>
        </p:nvSpPr>
        <p:spPr>
          <a:xfrm>
            <a:off x="6229197" y="2062181"/>
            <a:ext cx="2726267" cy="332399"/>
          </a:xfrm>
          <a:prstGeom prst="rect">
            <a:avLst/>
          </a:prstGeom>
          <a:noFill/>
        </p:spPr>
        <p:txBody>
          <a:bodyPr wrap="square" lIns="45720" tIns="27432" rIns="45720" bIns="27432" anchor="t">
            <a:spAutoFit/>
          </a:bodyPr>
          <a:lstStyle/>
          <a:p>
            <a:pPr algn="l"/>
            <a:r>
              <a:rPr lang="en-US" b="1" i="0" dirty="0" err="1">
                <a:solidFill>
                  <a:srgbClr val="595959"/>
                </a:solidFill>
                <a:latin typeface="Times New Roman" panose="02020603050405020304" pitchFamily="18" charset="0"/>
                <a:cs typeface="Times New Roman" panose="02020603050405020304" pitchFamily="18" charset="0"/>
              </a:rPr>
              <a:t>X</a:t>
            </a:r>
            <a:r>
              <a:rPr lang="en-US" sz="1400" b="1" i="0" dirty="0" err="1">
                <a:solidFill>
                  <a:srgbClr val="595959"/>
                </a:solidFill>
                <a:latin typeface="Times New Roman" panose="02020603050405020304" pitchFamily="18" charset="0"/>
                <a:cs typeface="Times New Roman" panose="02020603050405020304" pitchFamily="18" charset="0"/>
              </a:rPr>
              <a:t>c</a:t>
            </a:r>
            <a:r>
              <a:rPr lang="en-US" b="1" i="0" dirty="0">
                <a:solidFill>
                  <a:srgbClr val="595959"/>
                </a:solidFill>
                <a:latin typeface="Times New Roman" panose="02020603050405020304" pitchFamily="18" charset="0"/>
                <a:cs typeface="Times New Roman" panose="02020603050405020304" pitchFamily="18" charset="0"/>
              </a:rPr>
              <a:t>: Capacitor Size Vector </a:t>
            </a:r>
          </a:p>
        </p:txBody>
      </p:sp>
      <p:sp>
        <p:nvSpPr>
          <p:cNvPr id="4" name="TextBox 3">
            <a:extLst>
              <a:ext uri="{FF2B5EF4-FFF2-40B4-BE49-F238E27FC236}">
                <a16:creationId xmlns:a16="http://schemas.microsoft.com/office/drawing/2014/main" id="{D3E95735-A7A9-3C8D-D9E4-02DDED3BA18E}"/>
              </a:ext>
            </a:extLst>
          </p:cNvPr>
          <p:cNvSpPr txBox="1"/>
          <p:nvPr/>
        </p:nvSpPr>
        <p:spPr>
          <a:xfrm>
            <a:off x="7209934" y="4145877"/>
            <a:ext cx="2227868" cy="369332"/>
          </a:xfrm>
          <a:prstGeom prst="rect">
            <a:avLst/>
          </a:prstGeom>
          <a:noFill/>
        </p:spPr>
        <p:txBody>
          <a:bodyPr wrap="square">
            <a:spAutoFit/>
          </a:bodyPr>
          <a:lstStyle/>
          <a:p>
            <a:pPr algn="l"/>
            <a:r>
              <a:rPr lang="en-US" b="1" i="0" dirty="0" err="1">
                <a:solidFill>
                  <a:srgbClr val="595959"/>
                </a:solidFill>
                <a:latin typeface="Times New Roman" panose="02020603050405020304" pitchFamily="18" charset="0"/>
                <a:cs typeface="Times New Roman" panose="02020603050405020304" pitchFamily="18" charset="0"/>
              </a:rPr>
              <a:t>P</a:t>
            </a:r>
            <a:r>
              <a:rPr lang="en-US" sz="1200" b="1" i="0" dirty="0" err="1">
                <a:solidFill>
                  <a:srgbClr val="595959"/>
                </a:solidFill>
                <a:latin typeface="Times New Roman" panose="02020603050405020304" pitchFamily="18" charset="0"/>
                <a:cs typeface="Times New Roman" panose="02020603050405020304" pitchFamily="18" charset="0"/>
              </a:rPr>
              <a:t>best</a:t>
            </a:r>
            <a:r>
              <a:rPr lang="en-US" b="1" i="0" dirty="0">
                <a:solidFill>
                  <a:srgbClr val="595959"/>
                </a:solidFill>
                <a:latin typeface="Times New Roman" panose="02020603050405020304" pitchFamily="18" charset="0"/>
                <a:cs typeface="Times New Roman" panose="02020603050405020304" pitchFamily="18" charset="0"/>
              </a:rPr>
              <a:t>: Personal Best</a:t>
            </a:r>
          </a:p>
        </p:txBody>
      </p:sp>
      <p:sp>
        <p:nvSpPr>
          <p:cNvPr id="8" name="TextBox 7">
            <a:extLst>
              <a:ext uri="{FF2B5EF4-FFF2-40B4-BE49-F238E27FC236}">
                <a16:creationId xmlns:a16="http://schemas.microsoft.com/office/drawing/2014/main" id="{98C60680-FC37-3A28-51B8-CFC38D8489D6}"/>
              </a:ext>
            </a:extLst>
          </p:cNvPr>
          <p:cNvSpPr txBox="1"/>
          <p:nvPr/>
        </p:nvSpPr>
        <p:spPr>
          <a:xfrm>
            <a:off x="9584879" y="4127982"/>
            <a:ext cx="2033832" cy="369332"/>
          </a:xfrm>
          <a:prstGeom prst="rect">
            <a:avLst/>
          </a:prstGeom>
          <a:noFill/>
        </p:spPr>
        <p:txBody>
          <a:bodyPr wrap="square">
            <a:spAutoFit/>
          </a:bodyPr>
          <a:lstStyle/>
          <a:p>
            <a:r>
              <a:rPr lang="en-US" sz="1800" b="1" i="0" dirty="0" err="1">
                <a:solidFill>
                  <a:srgbClr val="595959"/>
                </a:solidFill>
                <a:latin typeface="Times New Roman" panose="02020603050405020304" pitchFamily="18" charset="0"/>
                <a:cs typeface="Times New Roman" panose="02020603050405020304" pitchFamily="18" charset="0"/>
              </a:rPr>
              <a:t>G</a:t>
            </a:r>
            <a:r>
              <a:rPr lang="en-US" sz="1400" b="1" i="0" dirty="0" err="1">
                <a:solidFill>
                  <a:srgbClr val="595959"/>
                </a:solidFill>
                <a:latin typeface="Times New Roman" panose="02020603050405020304" pitchFamily="18" charset="0"/>
                <a:cs typeface="Times New Roman" panose="02020603050405020304" pitchFamily="18" charset="0"/>
              </a:rPr>
              <a:t>best</a:t>
            </a:r>
            <a:r>
              <a:rPr lang="en-US" sz="1800" b="1" i="0" dirty="0">
                <a:solidFill>
                  <a:srgbClr val="595959"/>
                </a:solidFill>
                <a:latin typeface="Times New Roman" panose="02020603050405020304" pitchFamily="18" charset="0"/>
                <a:cs typeface="Times New Roman" panose="02020603050405020304" pitchFamily="18" charset="0"/>
              </a:rPr>
              <a:t>: Global Best</a:t>
            </a:r>
            <a:endParaRPr lang="en-US" b="1" dirty="0"/>
          </a:p>
        </p:txBody>
      </p:sp>
    </p:spTree>
    <p:extLst>
      <p:ext uri="{BB962C8B-B14F-4D97-AF65-F5344CB8AC3E}">
        <p14:creationId xmlns:p14="http://schemas.microsoft.com/office/powerpoint/2010/main" val="2474773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3535" y="102289"/>
            <a:ext cx="10058400" cy="729006"/>
          </a:xfrm>
        </p:spPr>
        <p:txBody>
          <a:bodyPr>
            <a:normAutofit/>
          </a:bodyPr>
          <a:lstStyle/>
          <a:p>
            <a:r>
              <a:rPr sz="3600" b="1" i="0" u="none" dirty="0">
                <a:solidFill>
                  <a:srgbClr val="C00000"/>
                </a:solidFill>
                <a:latin typeface="Times New Roman"/>
              </a:rPr>
              <a:t>4</a:t>
            </a:r>
            <a:r>
              <a:rPr sz="3600" b="1" dirty="0">
                <a:solidFill>
                  <a:srgbClr val="C00000"/>
                </a:solidFill>
                <a:latin typeface="Times New Roman"/>
              </a:rPr>
              <a:t>.</a:t>
            </a:r>
            <a:r>
              <a:rPr sz="3600" b="1" i="0" u="none" dirty="0">
                <a:solidFill>
                  <a:srgbClr val="C00000"/>
                </a:solidFill>
                <a:latin typeface="Times New Roman"/>
              </a:rPr>
              <a:t> Investigation: Results and Analysis(PO(d))</a:t>
            </a:r>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12</a:t>
            </a:fld>
            <a:endParaRPr lang="en-BD">
              <a:latin typeface="Times New Roman"/>
              <a:cs typeface="Times New Roman"/>
            </a:endParaRPr>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p:cNvSpPr txBox="1"/>
          <p:nvPr/>
        </p:nvSpPr>
        <p:spPr>
          <a:xfrm>
            <a:off x="424815" y="903442"/>
            <a:ext cx="11247120" cy="424732"/>
          </a:xfrm>
          <a:prstGeom prst="rect">
            <a:avLst/>
          </a:prstGeom>
          <a:noFill/>
        </p:spPr>
        <p:txBody>
          <a:bodyPr wrap="square" lIns="45720" tIns="27432" rIns="45720" bIns="27432" anchor="t">
            <a:spAutoFit/>
          </a:bodyPr>
          <a:lstStyle/>
          <a:p>
            <a:r>
              <a:rPr sz="2400" b="1" i="0" u="sng" dirty="0">
                <a:solidFill>
                  <a:srgbClr val="C00000"/>
                </a:solidFill>
                <a:latin typeface="Times New Roman"/>
              </a:rPr>
              <a:t>IEEE 14-Bus — GA Tap Optimization Results</a:t>
            </a:r>
          </a:p>
        </p:txBody>
      </p:sp>
      <p:sp>
        <p:nvSpPr>
          <p:cNvPr id="17" name="TextBox 16"/>
          <p:cNvSpPr txBox="1"/>
          <p:nvPr/>
        </p:nvSpPr>
        <p:spPr>
          <a:xfrm>
            <a:off x="346710" y="5600921"/>
            <a:ext cx="6629126" cy="670953"/>
          </a:xfrm>
          <a:prstGeom prst="rect">
            <a:avLst/>
          </a:prstGeom>
          <a:noFill/>
        </p:spPr>
        <p:txBody>
          <a:bodyPr wrap="square" lIns="45720" tIns="27432" rIns="45720" bIns="27432" anchor="t">
            <a:spAutoFit/>
          </a:bodyPr>
          <a:lstStyle/>
          <a:p>
            <a:pPr marL="292608" indent="-292608">
              <a:spcAft>
                <a:spcPts val="0"/>
              </a:spcAft>
              <a:buClr>
                <a:srgbClr val="C00000"/>
              </a:buClr>
              <a:buFont typeface="Wingdings" pitchFamily="2" charset="2"/>
              <a:buChar char="q"/>
            </a:pPr>
            <a:r>
              <a:rPr sz="2000" b="1" i="0" u="sng" dirty="0">
                <a:solidFill>
                  <a:srgbClr val="C00000"/>
                </a:solidFill>
                <a:latin typeface="Times New Roman"/>
              </a:rPr>
              <a:t>Reading the result: </a:t>
            </a:r>
            <a:r>
              <a:rPr lang="en-US" sz="2000" dirty="0">
                <a:solidFill>
                  <a:srgbClr val="1A1A1A"/>
                </a:solidFill>
                <a:latin typeface="Times New Roman"/>
              </a:rPr>
              <a:t>V</a:t>
            </a:r>
            <a:r>
              <a:rPr sz="2000" b="0" i="0" u="none" dirty="0">
                <a:solidFill>
                  <a:srgbClr val="1A1A1A"/>
                </a:solidFill>
                <a:latin typeface="Times New Roman"/>
              </a:rPr>
              <a:t>oltage violation falls 53.8% </a:t>
            </a:r>
            <a:endParaRPr lang="en-US" sz="2000" b="0" i="0" u="none" dirty="0">
              <a:solidFill>
                <a:srgbClr val="1A1A1A"/>
              </a:solidFill>
              <a:latin typeface="Times New Roman"/>
            </a:endParaRPr>
          </a:p>
          <a:p>
            <a:pPr>
              <a:spcAft>
                <a:spcPts val="0"/>
              </a:spcAft>
              <a:buClr>
                <a:srgbClr val="C00000"/>
              </a:buClr>
            </a:pPr>
            <a:r>
              <a:rPr sz="2000" b="0" i="0" u="none" dirty="0">
                <a:solidFill>
                  <a:srgbClr val="1A1A1A"/>
                </a:solidFill>
                <a:latin typeface="Times New Roman"/>
              </a:rPr>
              <a:t>(2.6229 → 1.2121 pu) but several buses remain below 0.95 pu</a:t>
            </a:r>
            <a:r>
              <a:rPr lang="en-US" sz="2000" b="0" i="0" u="none" dirty="0">
                <a:solidFill>
                  <a:srgbClr val="1A1A1A"/>
                </a:solidFill>
                <a:latin typeface="Times New Roman"/>
              </a:rPr>
              <a:t>.</a:t>
            </a:r>
            <a:endParaRPr sz="2000" b="0" i="0" u="none" dirty="0">
              <a:solidFill>
                <a:srgbClr val="1A1A1A"/>
              </a:solidFill>
              <a:latin typeface="Times New Roman"/>
            </a:endParaRPr>
          </a:p>
        </p:txBody>
      </p:sp>
      <p:pic>
        <p:nvPicPr>
          <p:cNvPr id="4" name="Picture 3">
            <a:extLst>
              <a:ext uri="{FF2B5EF4-FFF2-40B4-BE49-F238E27FC236}">
                <a16:creationId xmlns:a16="http://schemas.microsoft.com/office/drawing/2014/main" id="{CDB475D6-4539-3777-E4C5-927950A60054}"/>
              </a:ext>
            </a:extLst>
          </p:cNvPr>
          <p:cNvPicPr>
            <a:picLocks noChangeAspect="1"/>
          </p:cNvPicPr>
          <p:nvPr/>
        </p:nvPicPr>
        <p:blipFill>
          <a:blip r:embed="rId2"/>
          <a:stretch>
            <a:fillRect/>
          </a:stretch>
        </p:blipFill>
        <p:spPr>
          <a:xfrm>
            <a:off x="22584" y="1297779"/>
            <a:ext cx="12169416" cy="4230995"/>
          </a:xfrm>
          <a:prstGeom prst="rect">
            <a:avLst/>
          </a:prstGeom>
        </p:spPr>
      </p:pic>
      <p:sp>
        <p:nvSpPr>
          <p:cNvPr id="7" name="Rectangle 6">
            <a:extLst>
              <a:ext uri="{FF2B5EF4-FFF2-40B4-BE49-F238E27FC236}">
                <a16:creationId xmlns:a16="http://schemas.microsoft.com/office/drawing/2014/main" id="{F015CA49-8F1C-56D8-0C4B-B9001D3F58B9}"/>
              </a:ext>
            </a:extLst>
          </p:cNvPr>
          <p:cNvSpPr/>
          <p:nvPr/>
        </p:nvSpPr>
        <p:spPr>
          <a:xfrm>
            <a:off x="7720388" y="1838226"/>
            <a:ext cx="4363058" cy="716437"/>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i="0" u="none" dirty="0">
                <a:solidFill>
                  <a:srgbClr val="C00000"/>
                </a:solidFill>
                <a:latin typeface="Times New Roman"/>
              </a:rPr>
              <a:t>+23.7%</a:t>
            </a:r>
          </a:p>
          <a:p>
            <a:pPr algn="ctr">
              <a:spcBef>
                <a:spcPts val="300"/>
              </a:spcBef>
            </a:pPr>
            <a:r>
              <a:rPr sz="1600" b="1" i="0" u="none" dirty="0">
                <a:solidFill>
                  <a:srgbClr val="1A1A1A"/>
                </a:solidFill>
                <a:latin typeface="Times New Roman"/>
              </a:rPr>
              <a:t>Minimum voltage: 0.6474 → 0.8008 pu (bus 14)</a:t>
            </a:r>
          </a:p>
        </p:txBody>
      </p:sp>
      <p:sp>
        <p:nvSpPr>
          <p:cNvPr id="10" name="Rectangle 9">
            <a:extLst>
              <a:ext uri="{FF2B5EF4-FFF2-40B4-BE49-F238E27FC236}">
                <a16:creationId xmlns:a16="http://schemas.microsoft.com/office/drawing/2014/main" id="{437940F8-8330-CB2F-9731-DF32772CDADF}"/>
              </a:ext>
            </a:extLst>
          </p:cNvPr>
          <p:cNvSpPr/>
          <p:nvPr/>
        </p:nvSpPr>
        <p:spPr>
          <a:xfrm>
            <a:off x="8107052" y="5433658"/>
            <a:ext cx="3976394" cy="967552"/>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sz="1600" b="0" i="0" u="none" dirty="0">
              <a:solidFill>
                <a:srgbClr val="1A1A1A"/>
              </a:solidFill>
              <a:latin typeface="Times New Roman"/>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C01FC21-4646-BA1F-6FDF-5A7CFD1FA27A}"/>
                  </a:ext>
                </a:extLst>
              </p:cNvPr>
              <p:cNvSpPr txBox="1"/>
              <p:nvPr/>
            </p:nvSpPr>
            <p:spPr>
              <a:xfrm>
                <a:off x="8107051" y="5477399"/>
                <a:ext cx="4030671" cy="923330"/>
              </a:xfrm>
              <a:prstGeom prst="rect">
                <a:avLst/>
              </a:prstGeom>
              <a:noFill/>
            </p:spPr>
            <p:txBody>
              <a:bodyPr wrap="square" rtlCol="0">
                <a:spAutoFit/>
              </a:bodyPr>
              <a:lstStyle/>
              <a:p>
                <a:r>
                  <a:rPr lang="en-US" b="1" dirty="0"/>
                  <a:t>CRITICAL FVSI — Line 1–5</a:t>
                </a:r>
                <a:endParaRPr lang="en-US" dirty="0"/>
              </a:p>
              <a:p>
                <a:r>
                  <a:rPr lang="en-US" b="1" dirty="0"/>
                  <a:t>Maximum FVSI:</a:t>
                </a:r>
                <a:r>
                  <a:rPr lang="en-US" dirty="0"/>
                  <a:t> 0.3727 </a:t>
                </a:r>
                <a14:m>
                  <m:oMath xmlns:m="http://schemas.openxmlformats.org/officeDocument/2006/math">
                    <m:r>
                      <a:rPr lang="en-US" i="1">
                        <a:latin typeface="Cambria Math" panose="02040503050406030204" pitchFamily="18" charset="0"/>
                      </a:rPr>
                      <m:t>→</m:t>
                    </m:r>
                  </m:oMath>
                </a14:m>
                <a:r>
                  <a:rPr lang="en-US" dirty="0"/>
                  <a:t> 0.2896</a:t>
                </a:r>
              </a:p>
              <a:p>
                <a:r>
                  <a:rPr lang="en-US" b="1" dirty="0"/>
                  <a:t>Q-Margin:</a:t>
                </a:r>
                <a:r>
                  <a:rPr lang="en-US" dirty="0"/>
                  <a:t> +19.15 MVAr</a:t>
                </a:r>
              </a:p>
            </p:txBody>
          </p:sp>
        </mc:Choice>
        <mc:Fallback xmlns="">
          <p:sp>
            <p:nvSpPr>
              <p:cNvPr id="13" name="TextBox 12">
                <a:extLst>
                  <a:ext uri="{FF2B5EF4-FFF2-40B4-BE49-F238E27FC236}">
                    <a16:creationId xmlns:a16="http://schemas.microsoft.com/office/drawing/2014/main" id="{7C01FC21-4646-BA1F-6FDF-5A7CFD1FA27A}"/>
                  </a:ext>
                </a:extLst>
              </p:cNvPr>
              <p:cNvSpPr txBox="1">
                <a:spLocks noRot="1" noChangeAspect="1" noMove="1" noResize="1" noEditPoints="1" noAdjustHandles="1" noChangeArrowheads="1" noChangeShapeType="1" noTextEdit="1"/>
              </p:cNvSpPr>
              <p:nvPr/>
            </p:nvSpPr>
            <p:spPr>
              <a:xfrm>
                <a:off x="8107051" y="5477399"/>
                <a:ext cx="4030671" cy="923330"/>
              </a:xfrm>
              <a:prstGeom prst="rect">
                <a:avLst/>
              </a:prstGeom>
              <a:blipFill>
                <a:blip r:embed="rId3"/>
                <a:stretch>
                  <a:fillRect l="-1362" t="-3974" b="-9934"/>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08BD9-17C5-EEDD-C873-9010DFB6997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BF4908-D262-166D-A70D-F496B56566D0}"/>
              </a:ext>
            </a:extLst>
          </p:cNvPr>
          <p:cNvSpPr>
            <a:spLocks noGrp="1"/>
          </p:cNvSpPr>
          <p:nvPr>
            <p:ph type="sldNum" sz="quarter" idx="12"/>
          </p:nvPr>
        </p:nvSpPr>
        <p:spPr>
          <a:xfrm>
            <a:off x="11498529" y="6501637"/>
            <a:ext cx="521970" cy="308530"/>
          </a:xfrm>
        </p:spPr>
        <p:txBody>
          <a:bodyPr/>
          <a:lstStyle/>
          <a:p>
            <a:fld id="{E9C29D53-9981-884B-B5B6-B5743DF81FD1}" type="slidenum">
              <a:rPr lang="en-BD" smtClean="0">
                <a:latin typeface="Times New Roman"/>
                <a:cs typeface="Times New Roman"/>
              </a:rPr>
              <a:t>13</a:t>
            </a:fld>
            <a:endParaRPr lang="en-BD">
              <a:latin typeface="Times New Roman"/>
              <a:cs typeface="Times New Roman"/>
            </a:endParaRPr>
          </a:p>
        </p:txBody>
      </p:sp>
      <p:sp>
        <p:nvSpPr>
          <p:cNvPr id="9" name="Date Placeholder 5">
            <a:extLst>
              <a:ext uri="{FF2B5EF4-FFF2-40B4-BE49-F238E27FC236}">
                <a16:creationId xmlns:a16="http://schemas.microsoft.com/office/drawing/2014/main" id="{00B24147-2417-886D-31A8-91D2B8EB28E5}"/>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a:extLst>
              <a:ext uri="{FF2B5EF4-FFF2-40B4-BE49-F238E27FC236}">
                <a16:creationId xmlns:a16="http://schemas.microsoft.com/office/drawing/2014/main" id="{9313F45E-54D6-78E3-8C1A-EC281058D753}"/>
              </a:ext>
            </a:extLst>
          </p:cNvPr>
          <p:cNvSpPr txBox="1"/>
          <p:nvPr/>
        </p:nvSpPr>
        <p:spPr>
          <a:xfrm>
            <a:off x="3139351" y="37533"/>
            <a:ext cx="7305548" cy="486287"/>
          </a:xfrm>
          <a:prstGeom prst="rect">
            <a:avLst/>
          </a:prstGeom>
          <a:noFill/>
        </p:spPr>
        <p:txBody>
          <a:bodyPr wrap="square" lIns="45720" tIns="27432" rIns="45720" bIns="27432" anchor="t">
            <a:spAutoFit/>
          </a:bodyPr>
          <a:lstStyle/>
          <a:p>
            <a:r>
              <a:rPr sz="2800" b="1" i="0" u="sng" dirty="0">
                <a:solidFill>
                  <a:srgbClr val="C00000"/>
                </a:solidFill>
                <a:latin typeface="Times New Roman"/>
              </a:rPr>
              <a:t>IEEE 14-Bus — GA Tap Optimization Results</a:t>
            </a:r>
          </a:p>
        </p:txBody>
      </p:sp>
      <p:sp>
        <p:nvSpPr>
          <p:cNvPr id="13" name="Rectangle 12">
            <a:extLst>
              <a:ext uri="{FF2B5EF4-FFF2-40B4-BE49-F238E27FC236}">
                <a16:creationId xmlns:a16="http://schemas.microsoft.com/office/drawing/2014/main" id="{43B01CCD-EB13-AFD5-BB8E-F684F5CAC6BC}"/>
              </a:ext>
            </a:extLst>
          </p:cNvPr>
          <p:cNvSpPr/>
          <p:nvPr/>
        </p:nvSpPr>
        <p:spPr>
          <a:xfrm>
            <a:off x="1628270" y="5526266"/>
            <a:ext cx="4046665" cy="850927"/>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200" b="1" i="0" u="none" dirty="0">
                <a:solidFill>
                  <a:srgbClr val="C00000"/>
                </a:solidFill>
                <a:latin typeface="Times New Roman"/>
              </a:rPr>
              <a:t>12.5% ↓</a:t>
            </a:r>
          </a:p>
          <a:p>
            <a:pPr algn="ctr">
              <a:spcBef>
                <a:spcPts val="300"/>
              </a:spcBef>
            </a:pPr>
            <a:r>
              <a:rPr b="0" i="0" u="none" dirty="0">
                <a:solidFill>
                  <a:srgbClr val="1A1A1A"/>
                </a:solidFill>
                <a:latin typeface="Times New Roman"/>
              </a:rPr>
              <a:t>Active power loss: 71.03 → 62.14 MW</a:t>
            </a:r>
          </a:p>
        </p:txBody>
      </p:sp>
      <p:sp>
        <p:nvSpPr>
          <p:cNvPr id="15" name="TextBox 14">
            <a:extLst>
              <a:ext uri="{FF2B5EF4-FFF2-40B4-BE49-F238E27FC236}">
                <a16:creationId xmlns:a16="http://schemas.microsoft.com/office/drawing/2014/main" id="{0EA74420-C549-145F-9235-06B3FAF8C764}"/>
              </a:ext>
            </a:extLst>
          </p:cNvPr>
          <p:cNvSpPr txBox="1"/>
          <p:nvPr/>
        </p:nvSpPr>
        <p:spPr>
          <a:xfrm>
            <a:off x="7121622" y="5055244"/>
            <a:ext cx="2565642" cy="332399"/>
          </a:xfrm>
          <a:prstGeom prst="rect">
            <a:avLst/>
          </a:prstGeom>
          <a:noFill/>
        </p:spPr>
        <p:txBody>
          <a:bodyPr wrap="square" lIns="45720" tIns="27432" rIns="45720" bIns="27432" anchor="t">
            <a:spAutoFit/>
          </a:bodyPr>
          <a:lstStyle/>
          <a:p>
            <a:r>
              <a:rPr b="1" i="0" u="sng" dirty="0">
                <a:solidFill>
                  <a:srgbClr val="C00000"/>
                </a:solidFill>
                <a:latin typeface="Times New Roman"/>
              </a:rPr>
              <a:t>Optimized Tap Ratios</a:t>
            </a:r>
          </a:p>
        </p:txBody>
      </p:sp>
      <p:sp>
        <p:nvSpPr>
          <p:cNvPr id="16" name="TextBox 15">
            <a:extLst>
              <a:ext uri="{FF2B5EF4-FFF2-40B4-BE49-F238E27FC236}">
                <a16:creationId xmlns:a16="http://schemas.microsoft.com/office/drawing/2014/main" id="{482F3379-FF8C-0E52-42E1-B8480EA170CE}"/>
              </a:ext>
            </a:extLst>
          </p:cNvPr>
          <p:cNvSpPr txBox="1"/>
          <p:nvPr/>
        </p:nvSpPr>
        <p:spPr>
          <a:xfrm>
            <a:off x="7121622" y="5373382"/>
            <a:ext cx="2565642" cy="1081322"/>
          </a:xfrm>
          <a:prstGeom prst="rect">
            <a:avLst/>
          </a:prstGeom>
          <a:noFill/>
        </p:spPr>
        <p:txBody>
          <a:bodyPr wrap="square" lIns="45720" tIns="27432" rIns="45720" bIns="27432" anchor="t">
            <a:spAutoFit/>
          </a:bodyPr>
          <a:lstStyle/>
          <a:p>
            <a:pPr marL="292608" indent="-292608">
              <a:spcAft>
                <a:spcPts val="400"/>
              </a:spcAft>
              <a:buClr>
                <a:srgbClr val="C00000"/>
              </a:buClr>
              <a:buFont typeface="Wingdings" pitchFamily="2" charset="2"/>
              <a:buChar char="q"/>
            </a:pPr>
            <a:r>
              <a:rPr sz="2000" b="1" i="0" u="none" dirty="0">
                <a:solidFill>
                  <a:schemeClr val="accent2">
                    <a:lumMod val="50000"/>
                  </a:schemeClr>
                </a:solidFill>
                <a:latin typeface="Times New Roman"/>
              </a:rPr>
              <a:t>4–7:  0.978 → 0.880</a:t>
            </a:r>
          </a:p>
          <a:p>
            <a:pPr marL="292608" indent="-292608">
              <a:spcAft>
                <a:spcPts val="400"/>
              </a:spcAft>
              <a:buClr>
                <a:srgbClr val="C00000"/>
              </a:buClr>
              <a:buFont typeface="Wingdings" pitchFamily="2" charset="2"/>
              <a:buChar char="q"/>
            </a:pPr>
            <a:r>
              <a:rPr sz="2000" b="1" i="0" u="none" dirty="0">
                <a:solidFill>
                  <a:schemeClr val="accent2">
                    <a:lumMod val="50000"/>
                  </a:schemeClr>
                </a:solidFill>
                <a:latin typeface="Times New Roman"/>
              </a:rPr>
              <a:t>4–9:  0.969 → 0.949</a:t>
            </a:r>
          </a:p>
          <a:p>
            <a:pPr marL="292608" indent="-292608">
              <a:spcAft>
                <a:spcPts val="400"/>
              </a:spcAft>
              <a:buClr>
                <a:srgbClr val="C00000"/>
              </a:buClr>
              <a:buFont typeface="Wingdings" pitchFamily="2" charset="2"/>
              <a:buChar char="q"/>
            </a:pPr>
            <a:r>
              <a:rPr sz="2000" b="1" i="0" u="none" dirty="0">
                <a:solidFill>
                  <a:schemeClr val="accent2">
                    <a:lumMod val="50000"/>
                  </a:schemeClr>
                </a:solidFill>
                <a:latin typeface="Times New Roman"/>
              </a:rPr>
              <a:t>5–6:  0.932 → 0.873</a:t>
            </a:r>
          </a:p>
        </p:txBody>
      </p:sp>
      <p:pic>
        <p:nvPicPr>
          <p:cNvPr id="5" name="Picture 4">
            <a:extLst>
              <a:ext uri="{FF2B5EF4-FFF2-40B4-BE49-F238E27FC236}">
                <a16:creationId xmlns:a16="http://schemas.microsoft.com/office/drawing/2014/main" id="{855B2D92-FE08-91B3-6526-2F20A1411804}"/>
              </a:ext>
            </a:extLst>
          </p:cNvPr>
          <p:cNvPicPr>
            <a:picLocks noChangeAspect="1"/>
          </p:cNvPicPr>
          <p:nvPr/>
        </p:nvPicPr>
        <p:blipFill>
          <a:blip r:embed="rId2"/>
          <a:stretch>
            <a:fillRect/>
          </a:stretch>
        </p:blipFill>
        <p:spPr>
          <a:xfrm>
            <a:off x="6762927" y="523820"/>
            <a:ext cx="5429073" cy="4531424"/>
          </a:xfrm>
          <a:prstGeom prst="rect">
            <a:avLst/>
          </a:prstGeom>
        </p:spPr>
      </p:pic>
      <p:pic>
        <p:nvPicPr>
          <p:cNvPr id="12" name="Picture 11">
            <a:extLst>
              <a:ext uri="{FF2B5EF4-FFF2-40B4-BE49-F238E27FC236}">
                <a16:creationId xmlns:a16="http://schemas.microsoft.com/office/drawing/2014/main" id="{063E6EF9-D122-B4BE-0D7C-AB7A7BD5897E}"/>
              </a:ext>
            </a:extLst>
          </p:cNvPr>
          <p:cNvPicPr>
            <a:picLocks noChangeAspect="1"/>
          </p:cNvPicPr>
          <p:nvPr/>
        </p:nvPicPr>
        <p:blipFill>
          <a:blip r:embed="rId3"/>
          <a:stretch>
            <a:fillRect/>
          </a:stretch>
        </p:blipFill>
        <p:spPr>
          <a:xfrm>
            <a:off x="101127" y="523820"/>
            <a:ext cx="6661800" cy="4879329"/>
          </a:xfrm>
          <a:prstGeom prst="rect">
            <a:avLst/>
          </a:prstGeom>
        </p:spPr>
      </p:pic>
    </p:spTree>
    <p:extLst>
      <p:ext uri="{BB962C8B-B14F-4D97-AF65-F5344CB8AC3E}">
        <p14:creationId xmlns:p14="http://schemas.microsoft.com/office/powerpoint/2010/main" val="192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14</a:t>
            </a:fld>
            <a:endParaRPr lang="en-BD">
              <a:latin typeface="Times New Roman"/>
              <a:cs typeface="Times New Roman"/>
            </a:endParaRPr>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p:cNvSpPr txBox="1"/>
          <p:nvPr/>
        </p:nvSpPr>
        <p:spPr>
          <a:xfrm>
            <a:off x="2665193" y="0"/>
            <a:ext cx="6861614" cy="424732"/>
          </a:xfrm>
          <a:prstGeom prst="rect">
            <a:avLst/>
          </a:prstGeom>
          <a:noFill/>
        </p:spPr>
        <p:txBody>
          <a:bodyPr wrap="square" lIns="45720" tIns="27432" rIns="45720" bIns="27432" anchor="t">
            <a:spAutoFit/>
          </a:bodyPr>
          <a:lstStyle/>
          <a:p>
            <a:r>
              <a:rPr sz="2400" b="1" i="0" u="sng" dirty="0">
                <a:solidFill>
                  <a:srgbClr val="C00000"/>
                </a:solidFill>
                <a:latin typeface="Times New Roman"/>
              </a:rPr>
              <a:t>IEEE 14-Bus — PSO Capacitor Allocation Results</a:t>
            </a:r>
          </a:p>
        </p:txBody>
      </p:sp>
      <p:sp>
        <p:nvSpPr>
          <p:cNvPr id="17" name="TextBox 16"/>
          <p:cNvSpPr txBox="1"/>
          <p:nvPr/>
        </p:nvSpPr>
        <p:spPr>
          <a:xfrm>
            <a:off x="108554" y="5651129"/>
            <a:ext cx="7847669" cy="363176"/>
          </a:xfrm>
          <a:prstGeom prst="rect">
            <a:avLst/>
          </a:prstGeom>
          <a:noFill/>
        </p:spPr>
        <p:txBody>
          <a:bodyPr wrap="square" lIns="45720" tIns="27432" rIns="45720" bIns="27432" anchor="t">
            <a:spAutoFit/>
          </a:bodyPr>
          <a:lstStyle/>
          <a:p>
            <a:pPr marL="292608" indent="-292608">
              <a:spcAft>
                <a:spcPts val="0"/>
              </a:spcAft>
              <a:buClr>
                <a:srgbClr val="C00000"/>
              </a:buClr>
              <a:buFont typeface="Wingdings" pitchFamily="2" charset="2"/>
              <a:buChar char="q"/>
            </a:pPr>
            <a:r>
              <a:rPr sz="2000" b="1" i="0" u="sng" dirty="0">
                <a:solidFill>
                  <a:srgbClr val="C00000"/>
                </a:solidFill>
                <a:latin typeface="Times New Roman"/>
              </a:rPr>
              <a:t>Reading the result: </a:t>
            </a:r>
            <a:r>
              <a:rPr sz="2000" b="0" i="0" u="none" dirty="0">
                <a:solidFill>
                  <a:srgbClr val="1A1A1A"/>
                </a:solidFill>
                <a:latin typeface="Times New Roman"/>
              </a:rPr>
              <a:t>Voltage violation falls 92.1% (2.6229 → 0.2074 pu)</a:t>
            </a:r>
          </a:p>
        </p:txBody>
      </p:sp>
      <p:pic>
        <p:nvPicPr>
          <p:cNvPr id="23" name="Picture 22">
            <a:extLst>
              <a:ext uri="{FF2B5EF4-FFF2-40B4-BE49-F238E27FC236}">
                <a16:creationId xmlns:a16="http://schemas.microsoft.com/office/drawing/2014/main" id="{CE73A0B1-8C99-97EE-1B7A-6FE2BAE2A9E0}"/>
              </a:ext>
            </a:extLst>
          </p:cNvPr>
          <p:cNvPicPr>
            <a:picLocks noChangeAspect="1"/>
          </p:cNvPicPr>
          <p:nvPr/>
        </p:nvPicPr>
        <p:blipFill>
          <a:blip r:embed="rId2"/>
          <a:stretch>
            <a:fillRect/>
          </a:stretch>
        </p:blipFill>
        <p:spPr>
          <a:xfrm>
            <a:off x="54277" y="525160"/>
            <a:ext cx="12083446" cy="5076549"/>
          </a:xfrm>
          <a:prstGeom prst="rect">
            <a:avLst/>
          </a:prstGeom>
        </p:spPr>
      </p:pic>
      <p:sp>
        <p:nvSpPr>
          <p:cNvPr id="25" name="Rectangle 24">
            <a:extLst>
              <a:ext uri="{FF2B5EF4-FFF2-40B4-BE49-F238E27FC236}">
                <a16:creationId xmlns:a16="http://schemas.microsoft.com/office/drawing/2014/main" id="{6064A028-B931-9ED5-220A-9CFAE0293735}"/>
              </a:ext>
            </a:extLst>
          </p:cNvPr>
          <p:cNvSpPr/>
          <p:nvPr/>
        </p:nvSpPr>
        <p:spPr>
          <a:xfrm>
            <a:off x="8107052" y="2945224"/>
            <a:ext cx="3179354" cy="967552"/>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i="0" u="none" dirty="0">
                <a:solidFill>
                  <a:srgbClr val="C00000"/>
                </a:solidFill>
                <a:latin typeface="Times New Roman"/>
              </a:rPr>
              <a:t>+37.6%</a:t>
            </a:r>
          </a:p>
          <a:p>
            <a:pPr algn="ctr">
              <a:spcBef>
                <a:spcPts val="300"/>
              </a:spcBef>
            </a:pPr>
            <a:r>
              <a:rPr sz="1600" b="0" i="0" u="none" dirty="0">
                <a:solidFill>
                  <a:srgbClr val="1A1A1A"/>
                </a:solidFill>
                <a:latin typeface="Times New Roman"/>
              </a:rPr>
              <a:t>Minimum voltage: </a:t>
            </a:r>
            <a:endParaRPr lang="en-US" sz="1600" b="0" i="0" u="none" dirty="0">
              <a:solidFill>
                <a:srgbClr val="1A1A1A"/>
              </a:solidFill>
              <a:latin typeface="Times New Roman"/>
            </a:endParaRPr>
          </a:p>
          <a:p>
            <a:pPr algn="ctr">
              <a:spcBef>
                <a:spcPts val="300"/>
              </a:spcBef>
            </a:pPr>
            <a:r>
              <a:rPr sz="1600" b="0" i="0" u="none" dirty="0">
                <a:solidFill>
                  <a:srgbClr val="1A1A1A"/>
                </a:solidFill>
                <a:latin typeface="Times New Roman"/>
              </a:rPr>
              <a:t>0.6474 → 0.8905 pu (bus 14)</a:t>
            </a:r>
          </a:p>
        </p:txBody>
      </p:sp>
      <p:sp>
        <p:nvSpPr>
          <p:cNvPr id="13" name="Rectangle 12">
            <a:extLst>
              <a:ext uri="{FF2B5EF4-FFF2-40B4-BE49-F238E27FC236}">
                <a16:creationId xmlns:a16="http://schemas.microsoft.com/office/drawing/2014/main" id="{456AC77C-CF61-67AF-FA69-D6E22ED97548}"/>
              </a:ext>
            </a:extLst>
          </p:cNvPr>
          <p:cNvSpPr/>
          <p:nvPr/>
        </p:nvSpPr>
        <p:spPr>
          <a:xfrm>
            <a:off x="8107052" y="5433658"/>
            <a:ext cx="3976394" cy="967552"/>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sz="1600" b="0" i="0" u="none" dirty="0">
              <a:solidFill>
                <a:srgbClr val="1A1A1A"/>
              </a:solidFill>
              <a:latin typeface="Times New Roman"/>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AE722CE-49C9-4005-93F6-C887BDFA2288}"/>
                  </a:ext>
                </a:extLst>
              </p:cNvPr>
              <p:cNvSpPr txBox="1"/>
              <p:nvPr/>
            </p:nvSpPr>
            <p:spPr>
              <a:xfrm>
                <a:off x="8107051" y="5477399"/>
                <a:ext cx="4030671" cy="923330"/>
              </a:xfrm>
              <a:prstGeom prst="rect">
                <a:avLst/>
              </a:prstGeom>
              <a:noFill/>
            </p:spPr>
            <p:txBody>
              <a:bodyPr wrap="square" rtlCol="0">
                <a:spAutoFit/>
              </a:bodyPr>
              <a:lstStyle/>
              <a:p>
                <a:r>
                  <a:rPr lang="en-US" b="1" dirty="0"/>
                  <a:t>CRITICAL FVSI— Line 7–9</a:t>
                </a:r>
                <a:endParaRPr lang="en-US" dirty="0"/>
              </a:p>
              <a:p>
                <a:r>
                  <a:rPr lang="en-US" b="1" dirty="0"/>
                  <a:t>Maximum FVSI:</a:t>
                </a:r>
                <a:r>
                  <a:rPr lang="en-US" dirty="0"/>
                  <a:t> 0.3727 </a:t>
                </a:r>
                <a14:m>
                  <m:oMath xmlns:m="http://schemas.openxmlformats.org/officeDocument/2006/math">
                    <m:r>
                      <a:rPr lang="en-US" i="1">
                        <a:latin typeface="Cambria Math" panose="02040503050406030204" pitchFamily="18" charset="0"/>
                      </a:rPr>
                      <m:t>→</m:t>
                    </m:r>
                  </m:oMath>
                </a14:m>
                <a:r>
                  <a:rPr lang="en-US" dirty="0"/>
                  <a:t> 0.1208</a:t>
                </a:r>
              </a:p>
              <a:p>
                <a:r>
                  <a:rPr lang="en-US" b="1" dirty="0"/>
                  <a:t>Q-Margin:</a:t>
                </a:r>
                <a:r>
                  <a:rPr lang="en-US" dirty="0"/>
                  <a:t> +17.48 MVAr</a:t>
                </a:r>
              </a:p>
            </p:txBody>
          </p:sp>
        </mc:Choice>
        <mc:Fallback xmlns="">
          <p:sp>
            <p:nvSpPr>
              <p:cNvPr id="15" name="TextBox 14">
                <a:extLst>
                  <a:ext uri="{FF2B5EF4-FFF2-40B4-BE49-F238E27FC236}">
                    <a16:creationId xmlns:a16="http://schemas.microsoft.com/office/drawing/2014/main" id="{AAE722CE-49C9-4005-93F6-C887BDFA2288}"/>
                  </a:ext>
                </a:extLst>
              </p:cNvPr>
              <p:cNvSpPr txBox="1">
                <a:spLocks noRot="1" noChangeAspect="1" noMove="1" noResize="1" noEditPoints="1" noAdjustHandles="1" noChangeArrowheads="1" noChangeShapeType="1" noTextEdit="1"/>
              </p:cNvSpPr>
              <p:nvPr/>
            </p:nvSpPr>
            <p:spPr>
              <a:xfrm>
                <a:off x="8107051" y="5477399"/>
                <a:ext cx="4030671" cy="923330"/>
              </a:xfrm>
              <a:prstGeom prst="rect">
                <a:avLst/>
              </a:prstGeom>
              <a:blipFill>
                <a:blip r:embed="rId3"/>
                <a:stretch>
                  <a:fillRect l="-1362" t="-3974" b="-9934"/>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97F4-DF8C-DD3B-FF77-153E476AE0D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264060D-734B-FC51-6674-992EC096F8D0}"/>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15</a:t>
            </a:fld>
            <a:endParaRPr lang="en-BD">
              <a:latin typeface="Times New Roman"/>
              <a:cs typeface="Times New Roman"/>
            </a:endParaRPr>
          </a:p>
        </p:txBody>
      </p:sp>
      <p:sp>
        <p:nvSpPr>
          <p:cNvPr id="9" name="Date Placeholder 5">
            <a:extLst>
              <a:ext uri="{FF2B5EF4-FFF2-40B4-BE49-F238E27FC236}">
                <a16:creationId xmlns:a16="http://schemas.microsoft.com/office/drawing/2014/main" id="{D53083E8-9EF5-E172-C922-447D2E00D3F7}"/>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a:extLst>
              <a:ext uri="{FF2B5EF4-FFF2-40B4-BE49-F238E27FC236}">
                <a16:creationId xmlns:a16="http://schemas.microsoft.com/office/drawing/2014/main" id="{7A7A4DC5-37FA-6AB5-966C-CF821C722E00}"/>
              </a:ext>
            </a:extLst>
          </p:cNvPr>
          <p:cNvSpPr txBox="1"/>
          <p:nvPr/>
        </p:nvSpPr>
        <p:spPr>
          <a:xfrm>
            <a:off x="3385323" y="-20372"/>
            <a:ext cx="6871040" cy="424732"/>
          </a:xfrm>
          <a:prstGeom prst="rect">
            <a:avLst/>
          </a:prstGeom>
          <a:noFill/>
        </p:spPr>
        <p:txBody>
          <a:bodyPr wrap="square" lIns="45720" tIns="27432" rIns="45720" bIns="27432" anchor="t">
            <a:spAutoFit/>
          </a:bodyPr>
          <a:lstStyle/>
          <a:p>
            <a:r>
              <a:rPr sz="2400" b="1" i="0" u="sng" dirty="0">
                <a:solidFill>
                  <a:srgbClr val="C00000"/>
                </a:solidFill>
                <a:latin typeface="Times New Roman"/>
              </a:rPr>
              <a:t>IEEE 14-Bus — PSO Capacitor Allocation Results</a:t>
            </a:r>
          </a:p>
        </p:txBody>
      </p:sp>
      <p:sp>
        <p:nvSpPr>
          <p:cNvPr id="13" name="Rectangle 12">
            <a:extLst>
              <a:ext uri="{FF2B5EF4-FFF2-40B4-BE49-F238E27FC236}">
                <a16:creationId xmlns:a16="http://schemas.microsoft.com/office/drawing/2014/main" id="{DDED0273-1194-D4F2-3D22-8D606CF7FBA4}"/>
              </a:ext>
            </a:extLst>
          </p:cNvPr>
          <p:cNvSpPr/>
          <p:nvPr/>
        </p:nvSpPr>
        <p:spPr>
          <a:xfrm>
            <a:off x="7433329" y="5300309"/>
            <a:ext cx="3478491" cy="1013041"/>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800" b="1" i="0" u="none" dirty="0">
                <a:solidFill>
                  <a:srgbClr val="C00000"/>
                </a:solidFill>
                <a:latin typeface="Times New Roman"/>
              </a:rPr>
              <a:t>33.2% ↓</a:t>
            </a:r>
          </a:p>
          <a:p>
            <a:pPr algn="ctr">
              <a:spcBef>
                <a:spcPts val="300"/>
              </a:spcBef>
            </a:pPr>
            <a:r>
              <a:rPr sz="1600" b="0" i="0" u="none" dirty="0">
                <a:solidFill>
                  <a:srgbClr val="1A1A1A"/>
                </a:solidFill>
                <a:latin typeface="Times New Roman"/>
              </a:rPr>
              <a:t>Active power loss: 71.03 → 47.42 MW</a:t>
            </a:r>
          </a:p>
        </p:txBody>
      </p:sp>
      <p:sp>
        <p:nvSpPr>
          <p:cNvPr id="16" name="TextBox 15">
            <a:extLst>
              <a:ext uri="{FF2B5EF4-FFF2-40B4-BE49-F238E27FC236}">
                <a16:creationId xmlns:a16="http://schemas.microsoft.com/office/drawing/2014/main" id="{7AA5FA0E-FD6B-065A-3146-CAF7FEDFCC59}"/>
              </a:ext>
            </a:extLst>
          </p:cNvPr>
          <p:cNvSpPr txBox="1"/>
          <p:nvPr/>
        </p:nvSpPr>
        <p:spPr>
          <a:xfrm>
            <a:off x="472440" y="5312181"/>
            <a:ext cx="5107914" cy="1081322"/>
          </a:xfrm>
          <a:prstGeom prst="rect">
            <a:avLst/>
          </a:prstGeom>
          <a:noFill/>
        </p:spPr>
        <p:txBody>
          <a:bodyPr wrap="square" lIns="45720" tIns="27432" rIns="45720" bIns="27432" anchor="t">
            <a:spAutoFit/>
          </a:bodyPr>
          <a:lstStyle/>
          <a:p>
            <a:pPr marL="292608" indent="-292608">
              <a:spcAft>
                <a:spcPts val="400"/>
              </a:spcAft>
              <a:buClr>
                <a:srgbClr val="C00000"/>
              </a:buClr>
              <a:buFont typeface="Wingdings" pitchFamily="2" charset="2"/>
              <a:buChar char="q"/>
            </a:pPr>
            <a:r>
              <a:rPr sz="2000" b="0" i="0" u="none" dirty="0">
                <a:solidFill>
                  <a:srgbClr val="1A1A1A"/>
                </a:solidFill>
                <a:latin typeface="Times New Roman"/>
              </a:rPr>
              <a:t>Bus 4:  50.0 MVAr</a:t>
            </a:r>
          </a:p>
          <a:p>
            <a:pPr marL="292608" indent="-292608">
              <a:spcAft>
                <a:spcPts val="400"/>
              </a:spcAft>
              <a:buClr>
                <a:srgbClr val="C00000"/>
              </a:buClr>
              <a:buFont typeface="Wingdings" pitchFamily="2" charset="2"/>
              <a:buChar char="q"/>
            </a:pPr>
            <a:r>
              <a:rPr sz="2000" b="0" i="0" u="none" dirty="0">
                <a:solidFill>
                  <a:srgbClr val="1A1A1A"/>
                </a:solidFill>
                <a:latin typeface="Times New Roman"/>
              </a:rPr>
              <a:t>Bus 5:  45.0 MVAr</a:t>
            </a:r>
          </a:p>
          <a:p>
            <a:pPr marL="292608" indent="-292608">
              <a:spcAft>
                <a:spcPts val="400"/>
              </a:spcAft>
              <a:buClr>
                <a:srgbClr val="C00000"/>
              </a:buClr>
              <a:buFont typeface="Wingdings" pitchFamily="2" charset="2"/>
              <a:buChar char="q"/>
            </a:pPr>
            <a:r>
              <a:rPr sz="2000" b="0" i="0" u="none" dirty="0">
                <a:solidFill>
                  <a:srgbClr val="1A1A1A"/>
                </a:solidFill>
                <a:latin typeface="Times New Roman"/>
              </a:rPr>
              <a:t>Bus 7:  5.0 MVAr  (100 MVAr total, 3 sites)</a:t>
            </a:r>
          </a:p>
        </p:txBody>
      </p:sp>
      <p:pic>
        <p:nvPicPr>
          <p:cNvPr id="4" name="Picture 3">
            <a:extLst>
              <a:ext uri="{FF2B5EF4-FFF2-40B4-BE49-F238E27FC236}">
                <a16:creationId xmlns:a16="http://schemas.microsoft.com/office/drawing/2014/main" id="{5E280149-55B8-063B-6009-72A0C85850F2}"/>
              </a:ext>
            </a:extLst>
          </p:cNvPr>
          <p:cNvPicPr>
            <a:picLocks noChangeAspect="1"/>
          </p:cNvPicPr>
          <p:nvPr/>
        </p:nvPicPr>
        <p:blipFill>
          <a:blip r:embed="rId2"/>
          <a:stretch>
            <a:fillRect/>
          </a:stretch>
        </p:blipFill>
        <p:spPr>
          <a:xfrm>
            <a:off x="108555" y="593890"/>
            <a:ext cx="6153150" cy="4765426"/>
          </a:xfrm>
          <a:prstGeom prst="rect">
            <a:avLst/>
          </a:prstGeom>
        </p:spPr>
      </p:pic>
      <p:pic>
        <p:nvPicPr>
          <p:cNvPr id="7" name="Picture 6">
            <a:extLst>
              <a:ext uri="{FF2B5EF4-FFF2-40B4-BE49-F238E27FC236}">
                <a16:creationId xmlns:a16="http://schemas.microsoft.com/office/drawing/2014/main" id="{28BCFC9A-FA33-1EF4-15C2-38C19240C138}"/>
              </a:ext>
            </a:extLst>
          </p:cNvPr>
          <p:cNvPicPr>
            <a:picLocks noChangeAspect="1"/>
          </p:cNvPicPr>
          <p:nvPr/>
        </p:nvPicPr>
        <p:blipFill>
          <a:blip r:embed="rId3"/>
          <a:stretch>
            <a:fillRect/>
          </a:stretch>
        </p:blipFill>
        <p:spPr>
          <a:xfrm>
            <a:off x="6179948" y="593890"/>
            <a:ext cx="5985252" cy="4427459"/>
          </a:xfrm>
          <a:prstGeom prst="rect">
            <a:avLst/>
          </a:prstGeom>
        </p:spPr>
      </p:pic>
    </p:spTree>
    <p:extLst>
      <p:ext uri="{BB962C8B-B14F-4D97-AF65-F5344CB8AC3E}">
        <p14:creationId xmlns:p14="http://schemas.microsoft.com/office/powerpoint/2010/main" val="1073541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16</a:t>
            </a:fld>
            <a:endParaRPr lang="en-BD">
              <a:latin typeface="Times New Roman"/>
              <a:cs typeface="Times New Roman"/>
            </a:endParaRPr>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p:cNvSpPr txBox="1"/>
          <p:nvPr/>
        </p:nvSpPr>
        <p:spPr>
          <a:xfrm>
            <a:off x="3766008" y="109280"/>
            <a:ext cx="6311246" cy="424732"/>
          </a:xfrm>
          <a:prstGeom prst="rect">
            <a:avLst/>
          </a:prstGeom>
          <a:noFill/>
        </p:spPr>
        <p:txBody>
          <a:bodyPr wrap="square" lIns="45720" tIns="27432" rIns="45720" bIns="27432" anchor="t">
            <a:spAutoFit/>
          </a:bodyPr>
          <a:lstStyle/>
          <a:p>
            <a:r>
              <a:rPr sz="2400" b="1" i="0" u="sng" dirty="0">
                <a:solidFill>
                  <a:srgbClr val="C00000"/>
                </a:solidFill>
                <a:latin typeface="Times New Roman"/>
              </a:rPr>
              <a:t>IEEE 39-Bus — GA Tap Optimization Results</a:t>
            </a:r>
          </a:p>
        </p:txBody>
      </p:sp>
      <p:sp>
        <p:nvSpPr>
          <p:cNvPr id="17" name="TextBox 16"/>
          <p:cNvSpPr txBox="1"/>
          <p:nvPr/>
        </p:nvSpPr>
        <p:spPr>
          <a:xfrm>
            <a:off x="75416" y="5790383"/>
            <a:ext cx="7852527" cy="363176"/>
          </a:xfrm>
          <a:prstGeom prst="rect">
            <a:avLst/>
          </a:prstGeom>
          <a:noFill/>
        </p:spPr>
        <p:txBody>
          <a:bodyPr wrap="square" lIns="45720" tIns="27432" rIns="45720" bIns="27432" anchor="t">
            <a:spAutoFit/>
          </a:bodyPr>
          <a:lstStyle/>
          <a:p>
            <a:pPr marL="292608" indent="-292608">
              <a:spcAft>
                <a:spcPts val="0"/>
              </a:spcAft>
              <a:buClr>
                <a:srgbClr val="C00000"/>
              </a:buClr>
              <a:buFont typeface="Wingdings" pitchFamily="2" charset="2"/>
              <a:buChar char="q"/>
            </a:pPr>
            <a:r>
              <a:rPr sz="2000" b="1" i="0" u="sng" dirty="0">
                <a:solidFill>
                  <a:srgbClr val="C00000"/>
                </a:solidFill>
                <a:latin typeface="Times New Roman"/>
              </a:rPr>
              <a:t>Reading the result: </a:t>
            </a:r>
            <a:r>
              <a:rPr lang="en-US" sz="2000" dirty="0">
                <a:solidFill>
                  <a:srgbClr val="1A1A1A"/>
                </a:solidFill>
                <a:latin typeface="Times New Roman"/>
              </a:rPr>
              <a:t>V</a:t>
            </a:r>
            <a:r>
              <a:rPr sz="2000" b="0" i="0" u="none" dirty="0">
                <a:solidFill>
                  <a:srgbClr val="1A1A1A"/>
                </a:solidFill>
                <a:latin typeface="Times New Roman"/>
              </a:rPr>
              <a:t>oltage violation falls 87.3% (1.0267 → 0.1307 pu)  </a:t>
            </a:r>
            <a:endParaRPr lang="en-US" sz="2000" b="0" i="0" u="none" dirty="0">
              <a:solidFill>
                <a:srgbClr val="1A1A1A"/>
              </a:solidFill>
              <a:latin typeface="Times New Roman"/>
            </a:endParaRPr>
          </a:p>
        </p:txBody>
      </p:sp>
      <p:pic>
        <p:nvPicPr>
          <p:cNvPr id="4" name="Picture 3">
            <a:extLst>
              <a:ext uri="{FF2B5EF4-FFF2-40B4-BE49-F238E27FC236}">
                <a16:creationId xmlns:a16="http://schemas.microsoft.com/office/drawing/2014/main" id="{0CDCE65B-4530-DCD8-F908-9FA55A9772CD}"/>
              </a:ext>
            </a:extLst>
          </p:cNvPr>
          <p:cNvPicPr>
            <a:picLocks noChangeAspect="1"/>
          </p:cNvPicPr>
          <p:nvPr/>
        </p:nvPicPr>
        <p:blipFill>
          <a:blip r:embed="rId2"/>
          <a:stretch>
            <a:fillRect/>
          </a:stretch>
        </p:blipFill>
        <p:spPr>
          <a:xfrm>
            <a:off x="0" y="577754"/>
            <a:ext cx="12028602" cy="5026328"/>
          </a:xfrm>
          <a:prstGeom prst="rect">
            <a:avLst/>
          </a:prstGeom>
        </p:spPr>
      </p:pic>
      <p:sp>
        <p:nvSpPr>
          <p:cNvPr id="7" name="Rectangle 6">
            <a:extLst>
              <a:ext uri="{FF2B5EF4-FFF2-40B4-BE49-F238E27FC236}">
                <a16:creationId xmlns:a16="http://schemas.microsoft.com/office/drawing/2014/main" id="{A56A561F-9504-647B-F807-10070C40631B}"/>
              </a:ext>
            </a:extLst>
          </p:cNvPr>
          <p:cNvSpPr/>
          <p:nvPr/>
        </p:nvSpPr>
        <p:spPr>
          <a:xfrm>
            <a:off x="7645139" y="3410299"/>
            <a:ext cx="4113227" cy="836755"/>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200" b="1" i="0" u="none" dirty="0">
                <a:solidFill>
                  <a:srgbClr val="C00000"/>
                </a:solidFill>
                <a:latin typeface="Times New Roman"/>
              </a:rPr>
              <a:t>+12.8%</a:t>
            </a:r>
          </a:p>
          <a:p>
            <a:pPr algn="ctr">
              <a:spcBef>
                <a:spcPts val="300"/>
              </a:spcBef>
            </a:pPr>
            <a:r>
              <a:rPr sz="1600" b="0" i="0" u="none" dirty="0">
                <a:solidFill>
                  <a:srgbClr val="1A1A1A"/>
                </a:solidFill>
                <a:latin typeface="Times New Roman"/>
              </a:rPr>
              <a:t>Minimum voltage: 0.8193 → 0.9242 pu (bus 7)</a:t>
            </a:r>
          </a:p>
        </p:txBody>
      </p:sp>
      <p:sp>
        <p:nvSpPr>
          <p:cNvPr id="8" name="Rectangle 7">
            <a:extLst>
              <a:ext uri="{FF2B5EF4-FFF2-40B4-BE49-F238E27FC236}">
                <a16:creationId xmlns:a16="http://schemas.microsoft.com/office/drawing/2014/main" id="{23D2C567-5EE8-3B2C-2AE5-3EF2DC4B2AB9}"/>
              </a:ext>
            </a:extLst>
          </p:cNvPr>
          <p:cNvSpPr/>
          <p:nvPr/>
        </p:nvSpPr>
        <p:spPr>
          <a:xfrm>
            <a:off x="8107052" y="5433658"/>
            <a:ext cx="3976394" cy="967552"/>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sz="1600" b="0" i="0" u="none" dirty="0">
              <a:solidFill>
                <a:srgbClr val="1A1A1A"/>
              </a:solidFill>
              <a:latin typeface="Times New Roman"/>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EE85B8-C70F-D090-B0A4-66BC5D199A8A}"/>
                  </a:ext>
                </a:extLst>
              </p:cNvPr>
              <p:cNvSpPr txBox="1"/>
              <p:nvPr/>
            </p:nvSpPr>
            <p:spPr>
              <a:xfrm>
                <a:off x="8107051" y="5477399"/>
                <a:ext cx="4030671" cy="923330"/>
              </a:xfrm>
              <a:prstGeom prst="rect">
                <a:avLst/>
              </a:prstGeom>
              <a:noFill/>
            </p:spPr>
            <p:txBody>
              <a:bodyPr wrap="square" rtlCol="0">
                <a:spAutoFit/>
              </a:bodyPr>
              <a:lstStyle/>
              <a:p>
                <a:r>
                  <a:rPr lang="en-US" b="1" dirty="0"/>
                  <a:t>CRITICAL FVSI— Line 19–16</a:t>
                </a:r>
                <a:endParaRPr lang="en-US" dirty="0"/>
              </a:p>
              <a:p>
                <a:r>
                  <a:rPr lang="en-US" b="1" dirty="0"/>
                  <a:t>Maximum FVSI:</a:t>
                </a:r>
                <a:r>
                  <a:rPr lang="en-US" dirty="0"/>
                  <a:t> 0.2479 </a:t>
                </a:r>
                <a14:m>
                  <m:oMath xmlns:m="http://schemas.openxmlformats.org/officeDocument/2006/math">
                    <m:r>
                      <a:rPr lang="en-US" i="1">
                        <a:latin typeface="Cambria Math" panose="02040503050406030204" pitchFamily="18" charset="0"/>
                      </a:rPr>
                      <m:t>→</m:t>
                    </m:r>
                  </m:oMath>
                </a14:m>
                <a:r>
                  <a:rPr lang="en-US" dirty="0"/>
                  <a:t> 0.2104</a:t>
                </a:r>
              </a:p>
              <a:p>
                <a:r>
                  <a:rPr lang="en-US" b="1" dirty="0"/>
                  <a:t>Q-Margin:</a:t>
                </a:r>
                <a:r>
                  <a:rPr lang="en-US" dirty="0"/>
                  <a:t>  +418.44 MVAr</a:t>
                </a:r>
              </a:p>
            </p:txBody>
          </p:sp>
        </mc:Choice>
        <mc:Fallback xmlns="">
          <p:sp>
            <p:nvSpPr>
              <p:cNvPr id="12" name="TextBox 11">
                <a:extLst>
                  <a:ext uri="{FF2B5EF4-FFF2-40B4-BE49-F238E27FC236}">
                    <a16:creationId xmlns:a16="http://schemas.microsoft.com/office/drawing/2014/main" id="{EFEE85B8-C70F-D090-B0A4-66BC5D199A8A}"/>
                  </a:ext>
                </a:extLst>
              </p:cNvPr>
              <p:cNvSpPr txBox="1">
                <a:spLocks noRot="1" noChangeAspect="1" noMove="1" noResize="1" noEditPoints="1" noAdjustHandles="1" noChangeArrowheads="1" noChangeShapeType="1" noTextEdit="1"/>
              </p:cNvSpPr>
              <p:nvPr/>
            </p:nvSpPr>
            <p:spPr>
              <a:xfrm>
                <a:off x="8107051" y="5477399"/>
                <a:ext cx="4030671" cy="923330"/>
              </a:xfrm>
              <a:prstGeom prst="rect">
                <a:avLst/>
              </a:prstGeom>
              <a:blipFill>
                <a:blip r:embed="rId3"/>
                <a:stretch>
                  <a:fillRect l="-1362" t="-3974" b="-9934"/>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5C7EC-F432-3A0B-B5F6-0B80F43E8D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BF4C2F0-BFA5-EB03-1F5E-787F21F4B6C2}"/>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17</a:t>
            </a:fld>
            <a:endParaRPr lang="en-BD">
              <a:latin typeface="Times New Roman"/>
              <a:cs typeface="Times New Roman"/>
            </a:endParaRPr>
          </a:p>
        </p:txBody>
      </p:sp>
      <p:sp>
        <p:nvSpPr>
          <p:cNvPr id="9" name="Date Placeholder 5">
            <a:extLst>
              <a:ext uri="{FF2B5EF4-FFF2-40B4-BE49-F238E27FC236}">
                <a16:creationId xmlns:a16="http://schemas.microsoft.com/office/drawing/2014/main" id="{A8919A4E-DA7A-A106-7949-46DE30112230}"/>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a:extLst>
              <a:ext uri="{FF2B5EF4-FFF2-40B4-BE49-F238E27FC236}">
                <a16:creationId xmlns:a16="http://schemas.microsoft.com/office/drawing/2014/main" id="{2A3EF9C2-074F-BC23-3A09-720CDC7AC337}"/>
              </a:ext>
            </a:extLst>
          </p:cNvPr>
          <p:cNvSpPr txBox="1"/>
          <p:nvPr/>
        </p:nvSpPr>
        <p:spPr>
          <a:xfrm>
            <a:off x="2960016" y="114340"/>
            <a:ext cx="6230646" cy="424732"/>
          </a:xfrm>
          <a:prstGeom prst="rect">
            <a:avLst/>
          </a:prstGeom>
          <a:noFill/>
        </p:spPr>
        <p:txBody>
          <a:bodyPr wrap="square" lIns="45720" tIns="27432" rIns="45720" bIns="27432" anchor="t">
            <a:spAutoFit/>
          </a:bodyPr>
          <a:lstStyle/>
          <a:p>
            <a:r>
              <a:rPr sz="2400" b="1" i="0" u="sng" dirty="0">
                <a:solidFill>
                  <a:srgbClr val="C00000"/>
                </a:solidFill>
                <a:latin typeface="Times New Roman"/>
              </a:rPr>
              <a:t>IEEE 39-Bus — GA Tap Optimization Results</a:t>
            </a:r>
          </a:p>
        </p:txBody>
      </p:sp>
      <p:sp>
        <p:nvSpPr>
          <p:cNvPr id="13" name="Rectangle 12">
            <a:extLst>
              <a:ext uri="{FF2B5EF4-FFF2-40B4-BE49-F238E27FC236}">
                <a16:creationId xmlns:a16="http://schemas.microsoft.com/office/drawing/2014/main" id="{7AB9FC51-E526-B3E7-8E45-73E756CAD0AE}"/>
              </a:ext>
            </a:extLst>
          </p:cNvPr>
          <p:cNvSpPr/>
          <p:nvPr/>
        </p:nvSpPr>
        <p:spPr>
          <a:xfrm>
            <a:off x="205033" y="5552388"/>
            <a:ext cx="4225565" cy="819720"/>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3200" b="1" i="0" u="none" dirty="0">
                <a:solidFill>
                  <a:srgbClr val="C00000"/>
                </a:solidFill>
                <a:latin typeface="Times New Roman"/>
              </a:rPr>
              <a:t>20.5% ↓</a:t>
            </a:r>
          </a:p>
          <a:p>
            <a:pPr algn="ctr">
              <a:spcBef>
                <a:spcPts val="300"/>
              </a:spcBef>
            </a:pPr>
            <a:r>
              <a:rPr sz="1600" b="0" i="0" u="none" dirty="0">
                <a:solidFill>
                  <a:srgbClr val="1A1A1A"/>
                </a:solidFill>
                <a:latin typeface="Times New Roman"/>
              </a:rPr>
              <a:t>Active power loss: 124.75 → 99.21 MW</a:t>
            </a:r>
          </a:p>
        </p:txBody>
      </p:sp>
      <p:sp>
        <p:nvSpPr>
          <p:cNvPr id="15" name="TextBox 14">
            <a:extLst>
              <a:ext uri="{FF2B5EF4-FFF2-40B4-BE49-F238E27FC236}">
                <a16:creationId xmlns:a16="http://schemas.microsoft.com/office/drawing/2014/main" id="{EB16FDBB-E2A3-E290-16BD-9F1FFC8B47AD}"/>
              </a:ext>
            </a:extLst>
          </p:cNvPr>
          <p:cNvSpPr txBox="1"/>
          <p:nvPr/>
        </p:nvSpPr>
        <p:spPr>
          <a:xfrm>
            <a:off x="7761404" y="5324342"/>
            <a:ext cx="3332531" cy="363176"/>
          </a:xfrm>
          <a:prstGeom prst="rect">
            <a:avLst/>
          </a:prstGeom>
          <a:noFill/>
        </p:spPr>
        <p:txBody>
          <a:bodyPr wrap="square" lIns="45720" tIns="27432" rIns="45720" bIns="27432" anchor="t">
            <a:spAutoFit/>
          </a:bodyPr>
          <a:lstStyle/>
          <a:p>
            <a:r>
              <a:rPr sz="2000" b="1" i="0" u="sng" dirty="0">
                <a:solidFill>
                  <a:srgbClr val="C00000"/>
                </a:solidFill>
                <a:latin typeface="Times New Roman"/>
              </a:rPr>
              <a:t>Tap Adjustment Summary</a:t>
            </a:r>
          </a:p>
        </p:txBody>
      </p:sp>
      <p:sp>
        <p:nvSpPr>
          <p:cNvPr id="16" name="TextBox 15">
            <a:extLst>
              <a:ext uri="{FF2B5EF4-FFF2-40B4-BE49-F238E27FC236}">
                <a16:creationId xmlns:a16="http://schemas.microsoft.com/office/drawing/2014/main" id="{920D201D-ABDB-05F6-D3EF-AE8DBC32084B}"/>
              </a:ext>
            </a:extLst>
          </p:cNvPr>
          <p:cNvSpPr txBox="1"/>
          <p:nvPr/>
        </p:nvSpPr>
        <p:spPr>
          <a:xfrm>
            <a:off x="7541443" y="5668504"/>
            <a:ext cx="4528009" cy="722249"/>
          </a:xfrm>
          <a:prstGeom prst="rect">
            <a:avLst/>
          </a:prstGeom>
          <a:noFill/>
        </p:spPr>
        <p:txBody>
          <a:bodyPr wrap="square" lIns="45720" tIns="27432" rIns="45720" bIns="27432" anchor="t">
            <a:spAutoFit/>
          </a:bodyPr>
          <a:lstStyle/>
          <a:p>
            <a:pPr marL="292608" indent="-292608">
              <a:spcAft>
                <a:spcPts val="400"/>
              </a:spcAft>
              <a:buClr>
                <a:srgbClr val="C00000"/>
              </a:buClr>
              <a:buFont typeface="Wingdings" pitchFamily="2" charset="2"/>
              <a:buChar char="q"/>
            </a:pPr>
            <a:r>
              <a:rPr sz="2000" b="1" i="0" u="none" dirty="0">
                <a:solidFill>
                  <a:srgbClr val="1A1A1A"/>
                </a:solidFill>
                <a:latin typeface="Times New Roman"/>
              </a:rPr>
              <a:t>12 of 12 transformers moved</a:t>
            </a:r>
          </a:p>
          <a:p>
            <a:pPr marL="292608" indent="-292608">
              <a:spcAft>
                <a:spcPts val="400"/>
              </a:spcAft>
              <a:buClr>
                <a:srgbClr val="C00000"/>
              </a:buClr>
              <a:buFont typeface="Wingdings" pitchFamily="2" charset="2"/>
              <a:buChar char="q"/>
            </a:pPr>
            <a:r>
              <a:rPr sz="2000" b="1" i="0" u="none" dirty="0">
                <a:solidFill>
                  <a:srgbClr val="1A1A1A"/>
                </a:solidFill>
                <a:latin typeface="Times New Roman"/>
              </a:rPr>
              <a:t>Largest shift: 19–33, 1.070 → 1.143</a:t>
            </a:r>
          </a:p>
        </p:txBody>
      </p:sp>
      <p:pic>
        <p:nvPicPr>
          <p:cNvPr id="5" name="Picture 4">
            <a:extLst>
              <a:ext uri="{FF2B5EF4-FFF2-40B4-BE49-F238E27FC236}">
                <a16:creationId xmlns:a16="http://schemas.microsoft.com/office/drawing/2014/main" id="{03DD7FCC-FB2E-D8B7-3DBD-BA0125D2E698}"/>
              </a:ext>
            </a:extLst>
          </p:cNvPr>
          <p:cNvPicPr>
            <a:picLocks noChangeAspect="1"/>
          </p:cNvPicPr>
          <p:nvPr/>
        </p:nvPicPr>
        <p:blipFill>
          <a:blip r:embed="rId2"/>
          <a:stretch>
            <a:fillRect/>
          </a:stretch>
        </p:blipFill>
        <p:spPr>
          <a:xfrm>
            <a:off x="0" y="539072"/>
            <a:ext cx="6579909" cy="4951469"/>
          </a:xfrm>
          <a:prstGeom prst="rect">
            <a:avLst/>
          </a:prstGeom>
        </p:spPr>
      </p:pic>
      <p:pic>
        <p:nvPicPr>
          <p:cNvPr id="12" name="Picture 11">
            <a:extLst>
              <a:ext uri="{FF2B5EF4-FFF2-40B4-BE49-F238E27FC236}">
                <a16:creationId xmlns:a16="http://schemas.microsoft.com/office/drawing/2014/main" id="{DCB359A0-B650-790F-4188-2C36145D789C}"/>
              </a:ext>
            </a:extLst>
          </p:cNvPr>
          <p:cNvPicPr>
            <a:picLocks noChangeAspect="1"/>
          </p:cNvPicPr>
          <p:nvPr/>
        </p:nvPicPr>
        <p:blipFill>
          <a:blip r:embed="rId3"/>
          <a:stretch>
            <a:fillRect/>
          </a:stretch>
        </p:blipFill>
        <p:spPr>
          <a:xfrm>
            <a:off x="6579910" y="649957"/>
            <a:ext cx="5612090" cy="4674385"/>
          </a:xfrm>
          <a:prstGeom prst="rect">
            <a:avLst/>
          </a:prstGeom>
        </p:spPr>
      </p:pic>
    </p:spTree>
    <p:extLst>
      <p:ext uri="{BB962C8B-B14F-4D97-AF65-F5344CB8AC3E}">
        <p14:creationId xmlns:p14="http://schemas.microsoft.com/office/powerpoint/2010/main" val="213178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2F9F73-2B6B-395A-08BD-13F24949755F}"/>
              </a:ext>
            </a:extLst>
          </p:cNvPr>
          <p:cNvPicPr>
            <a:picLocks noChangeAspect="1"/>
          </p:cNvPicPr>
          <p:nvPr/>
        </p:nvPicPr>
        <p:blipFill>
          <a:blip r:embed="rId2"/>
          <a:stretch>
            <a:fillRect/>
          </a:stretch>
        </p:blipFill>
        <p:spPr>
          <a:xfrm>
            <a:off x="0" y="445274"/>
            <a:ext cx="12192000" cy="5330870"/>
          </a:xfrm>
          <a:prstGeom prst="rect">
            <a:avLst/>
          </a:prstGeom>
        </p:spPr>
      </p:pic>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18</a:t>
            </a:fld>
            <a:endParaRPr lang="en-BD">
              <a:latin typeface="Times New Roman"/>
              <a:cs typeface="Times New Roman"/>
            </a:endParaRPr>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p:cNvSpPr txBox="1"/>
          <p:nvPr/>
        </p:nvSpPr>
        <p:spPr>
          <a:xfrm>
            <a:off x="3883516" y="110279"/>
            <a:ext cx="5462832" cy="347788"/>
          </a:xfrm>
          <a:prstGeom prst="rect">
            <a:avLst/>
          </a:prstGeom>
          <a:noFill/>
        </p:spPr>
        <p:txBody>
          <a:bodyPr wrap="square" lIns="45720" tIns="27432" rIns="45720" bIns="27432" anchor="t">
            <a:spAutoFit/>
          </a:bodyPr>
          <a:lstStyle/>
          <a:p>
            <a:r>
              <a:rPr sz="1900" b="1" i="0" u="sng" dirty="0">
                <a:solidFill>
                  <a:srgbClr val="C00000"/>
                </a:solidFill>
                <a:latin typeface="Times New Roman"/>
              </a:rPr>
              <a:t>IEEE 39-Bus — PSO Capacitor Allocation Results</a:t>
            </a:r>
          </a:p>
        </p:txBody>
      </p:sp>
      <p:sp>
        <p:nvSpPr>
          <p:cNvPr id="14" name="Rectangle 13"/>
          <p:cNvSpPr/>
          <p:nvPr/>
        </p:nvSpPr>
        <p:spPr>
          <a:xfrm>
            <a:off x="8823489" y="5599522"/>
            <a:ext cx="3274243" cy="813205"/>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n-US" sz="1400" b="0" i="0" u="none" dirty="0">
              <a:solidFill>
                <a:srgbClr val="1A1A1A"/>
              </a:solidFill>
              <a:latin typeface="Times New Roman"/>
            </a:endParaRPr>
          </a:p>
        </p:txBody>
      </p:sp>
      <p:sp>
        <p:nvSpPr>
          <p:cNvPr id="17" name="TextBox 16"/>
          <p:cNvSpPr txBox="1"/>
          <p:nvPr/>
        </p:nvSpPr>
        <p:spPr>
          <a:xfrm>
            <a:off x="94268" y="5834106"/>
            <a:ext cx="9002270" cy="578620"/>
          </a:xfrm>
          <a:prstGeom prst="rect">
            <a:avLst/>
          </a:prstGeom>
          <a:noFill/>
        </p:spPr>
        <p:txBody>
          <a:bodyPr wrap="square" lIns="45720" tIns="27432" rIns="45720" bIns="27432" anchor="t">
            <a:spAutoFit/>
          </a:bodyPr>
          <a:lstStyle/>
          <a:p>
            <a:pPr marL="292608" indent="-292608">
              <a:spcAft>
                <a:spcPts val="0"/>
              </a:spcAft>
              <a:buClr>
                <a:srgbClr val="C00000"/>
              </a:buClr>
              <a:buFont typeface="Wingdings" pitchFamily="2" charset="2"/>
              <a:buChar char="q"/>
            </a:pPr>
            <a:r>
              <a:rPr sz="1700" b="1" i="0" u="sng" dirty="0">
                <a:solidFill>
                  <a:srgbClr val="C00000"/>
                </a:solidFill>
                <a:latin typeface="Times New Roman"/>
              </a:rPr>
              <a:t>Reading the result: </a:t>
            </a:r>
            <a:r>
              <a:rPr lang="en-US" sz="1700" dirty="0">
                <a:solidFill>
                  <a:srgbClr val="1A1A1A"/>
                </a:solidFill>
                <a:latin typeface="Times New Roman"/>
              </a:rPr>
              <a:t> E</a:t>
            </a:r>
            <a:r>
              <a:rPr sz="1700" b="0" i="0" u="none" dirty="0">
                <a:solidFill>
                  <a:srgbClr val="1A1A1A"/>
                </a:solidFill>
                <a:latin typeface="Times New Roman"/>
              </a:rPr>
              <a:t>very load bus clears 0.95 pu (violation falls 98.7%, 1.0267 → 0.0135 pu). The one remaining violation is generator bus 36 at 1.0635 pu, which no capacitor can move.</a:t>
            </a:r>
          </a:p>
        </p:txBody>
      </p:sp>
      <p:sp>
        <p:nvSpPr>
          <p:cNvPr id="3" name="Rectangle 2">
            <a:extLst>
              <a:ext uri="{FF2B5EF4-FFF2-40B4-BE49-F238E27FC236}">
                <a16:creationId xmlns:a16="http://schemas.microsoft.com/office/drawing/2014/main" id="{1C23854A-9DCB-2A31-0F17-08BA9E250198}"/>
              </a:ext>
            </a:extLst>
          </p:cNvPr>
          <p:cNvSpPr/>
          <p:nvPr/>
        </p:nvSpPr>
        <p:spPr>
          <a:xfrm>
            <a:off x="7963196" y="3548297"/>
            <a:ext cx="3976394" cy="967552"/>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sz="1600" b="0" i="0" u="none" dirty="0">
              <a:solidFill>
                <a:srgbClr val="1A1A1A"/>
              </a:solidFill>
              <a:latin typeface="Times New Roman"/>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CF9BC8-593C-B468-A7B5-5BF5E1025363}"/>
                  </a:ext>
                </a:extLst>
              </p:cNvPr>
              <p:cNvSpPr txBox="1"/>
              <p:nvPr/>
            </p:nvSpPr>
            <p:spPr>
              <a:xfrm>
                <a:off x="7963195" y="3592038"/>
                <a:ext cx="4030671" cy="923330"/>
              </a:xfrm>
              <a:prstGeom prst="rect">
                <a:avLst/>
              </a:prstGeom>
              <a:noFill/>
            </p:spPr>
            <p:txBody>
              <a:bodyPr wrap="square" rtlCol="0">
                <a:spAutoFit/>
              </a:bodyPr>
              <a:lstStyle/>
              <a:p>
                <a:r>
                  <a:rPr lang="en-US" b="1" dirty="0"/>
                  <a:t>CRITICAL FVSI— Line 19–16</a:t>
                </a:r>
                <a:endParaRPr lang="en-US" dirty="0"/>
              </a:p>
              <a:p>
                <a:r>
                  <a:rPr lang="en-US" b="1" dirty="0"/>
                  <a:t>Maximum FVSI:</a:t>
                </a:r>
                <a:r>
                  <a:rPr lang="en-US" dirty="0"/>
                  <a:t> 0.2479 </a:t>
                </a:r>
                <a14:m>
                  <m:oMath xmlns:m="http://schemas.openxmlformats.org/officeDocument/2006/math">
                    <m:r>
                      <a:rPr lang="en-US" i="1">
                        <a:latin typeface="Cambria Math" panose="02040503050406030204" pitchFamily="18" charset="0"/>
                      </a:rPr>
                      <m:t>→</m:t>
                    </m:r>
                  </m:oMath>
                </a14:m>
                <a:r>
                  <a:rPr lang="en-US" dirty="0"/>
                  <a:t> 0.2104</a:t>
                </a:r>
              </a:p>
              <a:p>
                <a:r>
                  <a:rPr lang="en-US" b="1" dirty="0"/>
                  <a:t>Q-Margin:</a:t>
                </a:r>
                <a:r>
                  <a:rPr lang="en-US" dirty="0"/>
                  <a:t>  + 418.44 MVAr</a:t>
                </a:r>
              </a:p>
            </p:txBody>
          </p:sp>
        </mc:Choice>
        <mc:Fallback xmlns="">
          <p:sp>
            <p:nvSpPr>
              <p:cNvPr id="7" name="TextBox 6">
                <a:extLst>
                  <a:ext uri="{FF2B5EF4-FFF2-40B4-BE49-F238E27FC236}">
                    <a16:creationId xmlns:a16="http://schemas.microsoft.com/office/drawing/2014/main" id="{9CCF9BC8-593C-B468-A7B5-5BF5E1025363}"/>
                  </a:ext>
                </a:extLst>
              </p:cNvPr>
              <p:cNvSpPr txBox="1">
                <a:spLocks noRot="1" noChangeAspect="1" noMove="1" noResize="1" noEditPoints="1" noAdjustHandles="1" noChangeArrowheads="1" noChangeShapeType="1" noTextEdit="1"/>
              </p:cNvSpPr>
              <p:nvPr/>
            </p:nvSpPr>
            <p:spPr>
              <a:xfrm>
                <a:off x="7963195" y="3592038"/>
                <a:ext cx="4030671" cy="923330"/>
              </a:xfrm>
              <a:prstGeom prst="rect">
                <a:avLst/>
              </a:prstGeom>
              <a:blipFill>
                <a:blip r:embed="rId3"/>
                <a:stretch>
                  <a:fillRect l="-1210" t="-3289" b="-921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4325FEF-8B58-D82B-D252-BC1031FCFE8B}"/>
              </a:ext>
            </a:extLst>
          </p:cNvPr>
          <p:cNvSpPr txBox="1"/>
          <p:nvPr/>
        </p:nvSpPr>
        <p:spPr>
          <a:xfrm>
            <a:off x="8804603" y="5618512"/>
            <a:ext cx="3293129" cy="892552"/>
          </a:xfrm>
          <a:prstGeom prst="rect">
            <a:avLst/>
          </a:prstGeom>
          <a:noFill/>
        </p:spPr>
        <p:txBody>
          <a:bodyPr wrap="square" rtlCol="0">
            <a:spAutoFit/>
          </a:bodyPr>
          <a:lstStyle/>
          <a:p>
            <a:pPr algn="ctr"/>
            <a:r>
              <a:rPr lang="en-US" sz="2000" b="1" dirty="0">
                <a:solidFill>
                  <a:srgbClr val="C00000"/>
                </a:solidFill>
              </a:rPr>
              <a:t>+19.9% (Bus 7)</a:t>
            </a:r>
            <a:endParaRPr lang="en-US" sz="1350" b="1" dirty="0">
              <a:solidFill>
                <a:srgbClr val="C00000"/>
              </a:solidFill>
            </a:endParaRPr>
          </a:p>
          <a:p>
            <a:r>
              <a:rPr lang="en-US" sz="1350" b="1" dirty="0">
                <a:solidFill>
                  <a:schemeClr val="tx2">
                    <a:lumMod val="50000"/>
                  </a:schemeClr>
                </a:solidFill>
              </a:rPr>
              <a:t>Minimum voltage</a:t>
            </a:r>
            <a:r>
              <a:rPr lang="en-US" sz="1350" b="1" dirty="0"/>
              <a:t>: </a:t>
            </a:r>
            <a:r>
              <a:rPr lang="en-US" sz="1600" b="1" dirty="0"/>
              <a:t>0.8193 → 0.9820 pu</a:t>
            </a:r>
          </a:p>
          <a:p>
            <a:endParaRPr lang="en-US" sz="16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94892-53EE-AEC8-467F-21D58E8494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02E822-3B8A-A788-3CA6-7A7540B46BFE}"/>
              </a:ext>
            </a:extLst>
          </p:cNvPr>
          <p:cNvPicPr>
            <a:picLocks noChangeAspect="1"/>
          </p:cNvPicPr>
          <p:nvPr/>
        </p:nvPicPr>
        <p:blipFill>
          <a:blip r:embed="rId2"/>
          <a:stretch>
            <a:fillRect/>
          </a:stretch>
        </p:blipFill>
        <p:spPr>
          <a:xfrm>
            <a:off x="0" y="867930"/>
            <a:ext cx="7862598" cy="4822811"/>
          </a:xfrm>
          <a:prstGeom prst="rect">
            <a:avLst/>
          </a:prstGeom>
        </p:spPr>
      </p:pic>
      <p:sp>
        <p:nvSpPr>
          <p:cNvPr id="6" name="Slide Number Placeholder 5">
            <a:extLst>
              <a:ext uri="{FF2B5EF4-FFF2-40B4-BE49-F238E27FC236}">
                <a16:creationId xmlns:a16="http://schemas.microsoft.com/office/drawing/2014/main" id="{726DB72A-6F4D-18C2-5337-9F29A54D422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19</a:t>
            </a:fld>
            <a:endParaRPr lang="en-BD">
              <a:latin typeface="Times New Roman"/>
              <a:cs typeface="Times New Roman"/>
            </a:endParaRPr>
          </a:p>
        </p:txBody>
      </p:sp>
      <p:sp>
        <p:nvSpPr>
          <p:cNvPr id="9" name="Date Placeholder 5">
            <a:extLst>
              <a:ext uri="{FF2B5EF4-FFF2-40B4-BE49-F238E27FC236}">
                <a16:creationId xmlns:a16="http://schemas.microsoft.com/office/drawing/2014/main" id="{0D1B74E4-3B1A-7F53-64EB-E43CFC744A51}"/>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
        <p:nvSpPr>
          <p:cNvPr id="11" name="TextBox 10">
            <a:extLst>
              <a:ext uri="{FF2B5EF4-FFF2-40B4-BE49-F238E27FC236}">
                <a16:creationId xmlns:a16="http://schemas.microsoft.com/office/drawing/2014/main" id="{F56C64EE-90D4-0614-FF34-192745765506}"/>
              </a:ext>
            </a:extLst>
          </p:cNvPr>
          <p:cNvSpPr txBox="1"/>
          <p:nvPr/>
        </p:nvSpPr>
        <p:spPr>
          <a:xfrm>
            <a:off x="3181547" y="438253"/>
            <a:ext cx="5462832" cy="347788"/>
          </a:xfrm>
          <a:prstGeom prst="rect">
            <a:avLst/>
          </a:prstGeom>
          <a:noFill/>
        </p:spPr>
        <p:txBody>
          <a:bodyPr wrap="square" lIns="45720" tIns="27432" rIns="45720" bIns="27432" anchor="t">
            <a:spAutoFit/>
          </a:bodyPr>
          <a:lstStyle/>
          <a:p>
            <a:r>
              <a:rPr sz="1900" b="1" i="0" u="sng" dirty="0">
                <a:solidFill>
                  <a:srgbClr val="C00000"/>
                </a:solidFill>
                <a:latin typeface="Times New Roman"/>
              </a:rPr>
              <a:t>IEEE 39-Bus — PSO Capacitor Allocation Results</a:t>
            </a:r>
          </a:p>
        </p:txBody>
      </p:sp>
      <p:sp>
        <p:nvSpPr>
          <p:cNvPr id="13" name="Rectangle 12">
            <a:extLst>
              <a:ext uri="{FF2B5EF4-FFF2-40B4-BE49-F238E27FC236}">
                <a16:creationId xmlns:a16="http://schemas.microsoft.com/office/drawing/2014/main" id="{1C4E54B8-F278-0DD0-D5A4-F8C58329AF77}"/>
              </a:ext>
            </a:extLst>
          </p:cNvPr>
          <p:cNvSpPr/>
          <p:nvPr/>
        </p:nvSpPr>
        <p:spPr>
          <a:xfrm>
            <a:off x="358218" y="5690741"/>
            <a:ext cx="3704735" cy="729006"/>
          </a:xfrm>
          <a:prstGeom prst="rect">
            <a:avLst/>
          </a:prstGeom>
          <a:solidFill>
            <a:srgbClr val="FBF3F3"/>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400" b="1" i="0" u="none" dirty="0">
                <a:solidFill>
                  <a:srgbClr val="C00000"/>
                </a:solidFill>
                <a:latin typeface="Times New Roman"/>
              </a:rPr>
              <a:t>31.9% ↓</a:t>
            </a:r>
          </a:p>
          <a:p>
            <a:pPr algn="ctr">
              <a:spcBef>
                <a:spcPts val="300"/>
              </a:spcBef>
            </a:pPr>
            <a:r>
              <a:rPr sz="1550" b="0" i="0" u="none" dirty="0">
                <a:solidFill>
                  <a:srgbClr val="1A1A1A"/>
                </a:solidFill>
                <a:latin typeface="Times New Roman"/>
              </a:rPr>
              <a:t>Active power loss: 124.75 → 85.02 MW</a:t>
            </a:r>
          </a:p>
        </p:txBody>
      </p:sp>
      <p:pic>
        <p:nvPicPr>
          <p:cNvPr id="12" name="Picture 11">
            <a:extLst>
              <a:ext uri="{FF2B5EF4-FFF2-40B4-BE49-F238E27FC236}">
                <a16:creationId xmlns:a16="http://schemas.microsoft.com/office/drawing/2014/main" id="{9D36FA57-BA2D-1724-5E21-F19B5A914973}"/>
              </a:ext>
            </a:extLst>
          </p:cNvPr>
          <p:cNvPicPr>
            <a:picLocks noChangeAspect="1"/>
          </p:cNvPicPr>
          <p:nvPr/>
        </p:nvPicPr>
        <p:blipFill>
          <a:blip r:embed="rId3"/>
          <a:stretch>
            <a:fillRect/>
          </a:stretch>
        </p:blipFill>
        <p:spPr>
          <a:xfrm>
            <a:off x="7484882" y="1171361"/>
            <a:ext cx="4626841" cy="4519380"/>
          </a:xfrm>
          <a:prstGeom prst="rect">
            <a:avLst/>
          </a:prstGeom>
        </p:spPr>
      </p:pic>
      <p:sp>
        <p:nvSpPr>
          <p:cNvPr id="15" name="TextBox 14">
            <a:extLst>
              <a:ext uri="{FF2B5EF4-FFF2-40B4-BE49-F238E27FC236}">
                <a16:creationId xmlns:a16="http://schemas.microsoft.com/office/drawing/2014/main" id="{432B8208-210C-2615-44D6-055DB17BFE9A}"/>
              </a:ext>
            </a:extLst>
          </p:cNvPr>
          <p:cNvSpPr txBox="1"/>
          <p:nvPr/>
        </p:nvSpPr>
        <p:spPr>
          <a:xfrm>
            <a:off x="8878972" y="5539930"/>
            <a:ext cx="2216377" cy="301621"/>
          </a:xfrm>
          <a:prstGeom prst="rect">
            <a:avLst/>
          </a:prstGeom>
          <a:noFill/>
        </p:spPr>
        <p:txBody>
          <a:bodyPr wrap="square" lIns="45720" tIns="27432" rIns="45720" bIns="27432" anchor="t">
            <a:spAutoFit/>
          </a:bodyPr>
          <a:lstStyle/>
          <a:p>
            <a:r>
              <a:rPr sz="1600" b="1" i="0" u="sng" dirty="0">
                <a:solidFill>
                  <a:srgbClr val="C00000"/>
                </a:solidFill>
                <a:latin typeface="Times New Roman"/>
              </a:rPr>
              <a:t>Capacitor Deployment</a:t>
            </a:r>
          </a:p>
        </p:txBody>
      </p:sp>
      <p:sp>
        <p:nvSpPr>
          <p:cNvPr id="16" name="TextBox 15">
            <a:extLst>
              <a:ext uri="{FF2B5EF4-FFF2-40B4-BE49-F238E27FC236}">
                <a16:creationId xmlns:a16="http://schemas.microsoft.com/office/drawing/2014/main" id="{6401175D-2AD4-678F-28DD-BABCE527F3E9}"/>
              </a:ext>
            </a:extLst>
          </p:cNvPr>
          <p:cNvSpPr txBox="1"/>
          <p:nvPr/>
        </p:nvSpPr>
        <p:spPr>
          <a:xfrm>
            <a:off x="8644379" y="5839987"/>
            <a:ext cx="3547621" cy="599138"/>
          </a:xfrm>
          <a:prstGeom prst="rect">
            <a:avLst/>
          </a:prstGeom>
          <a:noFill/>
        </p:spPr>
        <p:txBody>
          <a:bodyPr wrap="square" lIns="45720" tIns="27432" rIns="45720" bIns="27432" anchor="t">
            <a:spAutoFit/>
          </a:bodyPr>
          <a:lstStyle/>
          <a:p>
            <a:pPr marL="292608" indent="-292608">
              <a:spcAft>
                <a:spcPts val="400"/>
              </a:spcAft>
              <a:buClr>
                <a:srgbClr val="C00000"/>
              </a:buClr>
              <a:buFont typeface="Wingdings" pitchFamily="2" charset="2"/>
              <a:buChar char="q"/>
            </a:pPr>
            <a:r>
              <a:rPr sz="1600" b="0" i="0" u="none" dirty="0">
                <a:solidFill>
                  <a:srgbClr val="1A1A1A"/>
                </a:solidFill>
                <a:latin typeface="Times New Roman"/>
              </a:rPr>
              <a:t>12 buses used, up to 100 MVAr each</a:t>
            </a:r>
          </a:p>
          <a:p>
            <a:pPr marL="292608" indent="-292608">
              <a:spcAft>
                <a:spcPts val="400"/>
              </a:spcAft>
              <a:buClr>
                <a:srgbClr val="C00000"/>
              </a:buClr>
              <a:buFont typeface="Wingdings" pitchFamily="2" charset="2"/>
              <a:buChar char="q"/>
            </a:pPr>
            <a:r>
              <a:rPr sz="1600" b="0" i="0" u="none" dirty="0">
                <a:solidFill>
                  <a:srgbClr val="1A1A1A"/>
                </a:solidFill>
                <a:latin typeface="Times New Roman"/>
              </a:rPr>
              <a:t>1110 MVAr installed in total</a:t>
            </a:r>
          </a:p>
        </p:txBody>
      </p:sp>
    </p:spTree>
    <p:extLst>
      <p:ext uri="{BB962C8B-B14F-4D97-AF65-F5344CB8AC3E}">
        <p14:creationId xmlns:p14="http://schemas.microsoft.com/office/powerpoint/2010/main" val="247055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6809" y="17843"/>
            <a:ext cx="3683109" cy="443802"/>
          </a:xfrm>
        </p:spPr>
        <p:txBody>
          <a:bodyPr>
            <a:normAutofit fontScale="90000"/>
          </a:bodyPr>
          <a:lstStyle/>
          <a:p>
            <a:r>
              <a:rPr sz="3200" b="1" i="0" u="none" dirty="0">
                <a:solidFill>
                  <a:srgbClr val="C00000"/>
                </a:solidFill>
                <a:latin typeface="Times New Roman"/>
              </a:rPr>
              <a:t> Results and Analysis</a:t>
            </a:r>
          </a:p>
        </p:txBody>
      </p:sp>
      <p:sp>
        <p:nvSpPr>
          <p:cNvPr id="6" name="Slide Number Placeholder 5">
            <a:extLst>
              <a:ext uri="{FF2B5EF4-FFF2-40B4-BE49-F238E27FC236}">
                <a16:creationId xmlns:a16="http://schemas.microsoft.com/office/drawing/2014/main" id="{E585F763-F781-F043-808B-881C1C3AFE55}"/>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latin typeface="Times New Roman"/>
                <a:cs typeface="Times New Roman"/>
              </a:rPr>
              <a:t>20</a:t>
            </a:fld>
            <a:endParaRPr lang="en-BD">
              <a:latin typeface="Times New Roman"/>
              <a:cs typeface="Times New Roman"/>
            </a:endParaRPr>
          </a:p>
        </p:txBody>
      </p:sp>
      <p:sp>
        <p:nvSpPr>
          <p:cNvPr id="9" name="Date Placeholder 5">
            <a:extLst>
              <a:ext uri="{FF2B5EF4-FFF2-40B4-BE49-F238E27FC236}">
                <a16:creationId xmlns:a16="http://schemas.microsoft.com/office/drawing/2014/main" id="{C602F4CA-DD7B-CF49-91E1-C48A0A6688A2}"/>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FC865944-23B6-4207-513A-4CC24E03F69E}"/>
                  </a:ext>
                </a:extLst>
              </p:cNvPr>
              <p:cNvGraphicFramePr>
                <a:graphicFrameLocks noGrp="1"/>
              </p:cNvGraphicFramePr>
              <p:nvPr/>
            </p:nvGraphicFramePr>
            <p:xfrm>
              <a:off x="1" y="449792"/>
              <a:ext cx="12192001" cy="6006462"/>
            </p:xfrm>
            <a:graphic>
              <a:graphicData uri="http://schemas.openxmlformats.org/drawingml/2006/table">
                <a:tbl>
                  <a:tblPr firstRow="1" firstCol="1" bandRow="1">
                    <a:tableStyleId>{08FB837D-C827-4EFA-A057-4D05807E0F7C}</a:tableStyleId>
                  </a:tblPr>
                  <a:tblGrid>
                    <a:gridCol w="1602556">
                      <a:extLst>
                        <a:ext uri="{9D8B030D-6E8A-4147-A177-3AD203B41FA5}">
                          <a16:colId xmlns:a16="http://schemas.microsoft.com/office/drawing/2014/main" val="3862564385"/>
                        </a:ext>
                      </a:extLst>
                    </a:gridCol>
                    <a:gridCol w="1046375">
                      <a:extLst>
                        <a:ext uri="{9D8B030D-6E8A-4147-A177-3AD203B41FA5}">
                          <a16:colId xmlns:a16="http://schemas.microsoft.com/office/drawing/2014/main" val="3138168475"/>
                        </a:ext>
                      </a:extLst>
                    </a:gridCol>
                    <a:gridCol w="1725105">
                      <a:extLst>
                        <a:ext uri="{9D8B030D-6E8A-4147-A177-3AD203B41FA5}">
                          <a16:colId xmlns:a16="http://schemas.microsoft.com/office/drawing/2014/main" val="300313310"/>
                        </a:ext>
                      </a:extLst>
                    </a:gridCol>
                    <a:gridCol w="2026763">
                      <a:extLst>
                        <a:ext uri="{9D8B030D-6E8A-4147-A177-3AD203B41FA5}">
                          <a16:colId xmlns:a16="http://schemas.microsoft.com/office/drawing/2014/main" val="1421160245"/>
                        </a:ext>
                      </a:extLst>
                    </a:gridCol>
                    <a:gridCol w="1990686">
                      <a:extLst>
                        <a:ext uri="{9D8B030D-6E8A-4147-A177-3AD203B41FA5}">
                          <a16:colId xmlns:a16="http://schemas.microsoft.com/office/drawing/2014/main" val="72873943"/>
                        </a:ext>
                      </a:extLst>
                    </a:gridCol>
                    <a:gridCol w="2056932">
                      <a:extLst>
                        <a:ext uri="{9D8B030D-6E8A-4147-A177-3AD203B41FA5}">
                          <a16:colId xmlns:a16="http://schemas.microsoft.com/office/drawing/2014/main" val="3738082752"/>
                        </a:ext>
                      </a:extLst>
                    </a:gridCol>
                    <a:gridCol w="1743584">
                      <a:extLst>
                        <a:ext uri="{9D8B030D-6E8A-4147-A177-3AD203B41FA5}">
                          <a16:colId xmlns:a16="http://schemas.microsoft.com/office/drawing/2014/main" val="1640340412"/>
                        </a:ext>
                      </a:extLst>
                    </a:gridCol>
                  </a:tblGrid>
                  <a:tr h="1368443">
                    <a:tc>
                      <a:txBody>
                        <a:bodyPr/>
                        <a:lstStyle/>
                        <a:p>
                          <a:pPr marL="0" marR="0" algn="l">
                            <a:lnSpc>
                              <a:spcPct val="115000"/>
                            </a:lnSpc>
                            <a:spcAft>
                              <a:spcPts val="800"/>
                            </a:spcAft>
                            <a:buNone/>
                          </a:pPr>
                          <a:r>
                            <a:rPr lang="en-US" sz="2000" kern="100">
                              <a:solidFill>
                                <a:schemeClr val="accent2">
                                  <a:lumMod val="50000"/>
                                </a:schemeClr>
                              </a:solidFill>
                              <a:effectLst/>
                            </a:rPr>
                            <a:t>Network &amp; Algorithm Setup</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a:solidFill>
                                <a:schemeClr val="accent2">
                                  <a:lumMod val="50000"/>
                                </a:schemeClr>
                              </a:solidFill>
                              <a:effectLst/>
                            </a:rPr>
                            <a:t>Violated Buses</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a:solidFill>
                                <a:schemeClr val="accent2">
                                  <a:lumMod val="50000"/>
                                </a:schemeClr>
                              </a:solidFill>
                              <a:effectLst/>
                            </a:rPr>
                            <a:t>Active Loss </a:t>
                          </a:r>
                          <a14:m>
                            <m:oMath xmlns:m="http://schemas.openxmlformats.org/officeDocument/2006/math">
                              <m:sSub>
                                <m:sSubPr>
                                  <m:ctrlPr>
                                    <a:rPr lang="en-US" sz="2000" kern="100">
                                      <a:solidFill>
                                        <a:schemeClr val="accent2">
                                          <a:lumMod val="50000"/>
                                        </a:schemeClr>
                                      </a:solidFill>
                                      <a:effectLst/>
                                      <a:latin typeface="Cambria Math" panose="02040503050406030204" pitchFamily="18" charset="0"/>
                                    </a:rPr>
                                  </m:ctrlPr>
                                </m:sSubPr>
                                <m:e>
                                  <m:r>
                                    <a:rPr lang="en-US" sz="2000" kern="100">
                                      <a:solidFill>
                                        <a:schemeClr val="accent2">
                                          <a:lumMod val="50000"/>
                                        </a:schemeClr>
                                      </a:solidFill>
                                      <a:effectLst/>
                                      <a:latin typeface="Cambria Math" panose="02040503050406030204" pitchFamily="18" charset="0"/>
                                    </a:rPr>
                                    <m:t>𝑃</m:t>
                                  </m:r>
                                </m:e>
                                <m:sub>
                                  <m:r>
                                    <a:rPr lang="en-US" sz="2000" kern="100">
                                      <a:solidFill>
                                        <a:schemeClr val="accent2">
                                          <a:lumMod val="50000"/>
                                        </a:schemeClr>
                                      </a:solidFill>
                                      <a:effectLst/>
                                      <a:latin typeface="Cambria Math" panose="02040503050406030204" pitchFamily="18" charset="0"/>
                                    </a:rPr>
                                    <m:t>𝑙𝑜𝑠𝑠</m:t>
                                  </m:r>
                                </m:sub>
                              </m:sSub>
                            </m:oMath>
                          </a14:m>
                          <a:r>
                            <a:rPr lang="en-US" sz="2000" kern="100">
                              <a:solidFill>
                                <a:schemeClr val="accent2">
                                  <a:lumMod val="50000"/>
                                </a:schemeClr>
                              </a:solidFill>
                              <a:effectLst/>
                            </a:rPr>
                            <a:t>(MW)</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dirty="0">
                              <a:solidFill>
                                <a:schemeClr val="accent2">
                                  <a:lumMod val="50000"/>
                                </a:schemeClr>
                              </a:solidFill>
                              <a:effectLst/>
                            </a:rPr>
                            <a:t>Reactive Loss </a:t>
                          </a:r>
                          <a14:m>
                            <m:oMath xmlns:m="http://schemas.openxmlformats.org/officeDocument/2006/math">
                              <m:sSub>
                                <m:sSubPr>
                                  <m:ctrlPr>
                                    <a:rPr lang="en-US" sz="2000" kern="100">
                                      <a:solidFill>
                                        <a:schemeClr val="accent2">
                                          <a:lumMod val="50000"/>
                                        </a:schemeClr>
                                      </a:solidFill>
                                      <a:effectLst/>
                                      <a:latin typeface="Cambria Math" panose="02040503050406030204" pitchFamily="18" charset="0"/>
                                    </a:rPr>
                                  </m:ctrlPr>
                                </m:sSubPr>
                                <m:e>
                                  <m:r>
                                    <a:rPr lang="en-US" sz="2000" kern="100">
                                      <a:solidFill>
                                        <a:schemeClr val="accent2">
                                          <a:lumMod val="50000"/>
                                        </a:schemeClr>
                                      </a:solidFill>
                                      <a:effectLst/>
                                      <a:latin typeface="Cambria Math" panose="02040503050406030204" pitchFamily="18" charset="0"/>
                                    </a:rPr>
                                    <m:t>𝑄</m:t>
                                  </m:r>
                                </m:e>
                                <m:sub>
                                  <m:r>
                                    <a:rPr lang="en-US" sz="2000" kern="100">
                                      <a:solidFill>
                                        <a:schemeClr val="accent2">
                                          <a:lumMod val="50000"/>
                                        </a:schemeClr>
                                      </a:solidFill>
                                      <a:effectLst/>
                                      <a:latin typeface="Cambria Math" panose="02040503050406030204" pitchFamily="18" charset="0"/>
                                    </a:rPr>
                                    <m:t>𝑙𝑜𝑠𝑠</m:t>
                                  </m:r>
                                </m:sub>
                              </m:sSub>
                            </m:oMath>
                          </a14:m>
                          <a:r>
                            <a:rPr lang="en-US" sz="2000" kern="100" dirty="0">
                              <a:solidFill>
                                <a:schemeClr val="accent2">
                                  <a:lumMod val="50000"/>
                                </a:schemeClr>
                              </a:solidFill>
                              <a:effectLst/>
                            </a:rPr>
                            <a:t>(MVAr)</a:t>
                          </a:r>
                          <a:endParaRPr lang="en-US" sz="18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it-IT" sz="2000" kern="100">
                              <a:solidFill>
                                <a:schemeClr val="accent2">
                                  <a:lumMod val="50000"/>
                                </a:schemeClr>
                              </a:solidFill>
                              <a:effectLst/>
                            </a:rPr>
                            <a:t>Min Voltage </a:t>
                          </a:r>
                          <a14:m>
                            <m:oMath xmlns:m="http://schemas.openxmlformats.org/officeDocument/2006/math">
                              <m:sSub>
                                <m:sSubPr>
                                  <m:ctrlPr>
                                    <a:rPr lang="en-US" sz="2000" kern="100">
                                      <a:solidFill>
                                        <a:schemeClr val="accent2">
                                          <a:lumMod val="50000"/>
                                        </a:schemeClr>
                                      </a:solidFill>
                                      <a:effectLst/>
                                      <a:latin typeface="Cambria Math" panose="02040503050406030204" pitchFamily="18" charset="0"/>
                                    </a:rPr>
                                  </m:ctrlPr>
                                </m:sSubPr>
                                <m:e>
                                  <m:r>
                                    <a:rPr lang="en-US" sz="2000" kern="100">
                                      <a:solidFill>
                                        <a:schemeClr val="accent2">
                                          <a:lumMod val="50000"/>
                                        </a:schemeClr>
                                      </a:solidFill>
                                      <a:effectLst/>
                                      <a:latin typeface="Cambria Math" panose="02040503050406030204" pitchFamily="18" charset="0"/>
                                    </a:rPr>
                                    <m:t>𝑉</m:t>
                                  </m:r>
                                </m:e>
                                <m:sub>
                                  <m:r>
                                    <a:rPr lang="en-US" sz="2000" kern="100">
                                      <a:solidFill>
                                        <a:schemeClr val="accent2">
                                          <a:lumMod val="50000"/>
                                        </a:schemeClr>
                                      </a:solidFill>
                                      <a:effectLst/>
                                      <a:latin typeface="Cambria Math" panose="02040503050406030204" pitchFamily="18" charset="0"/>
                                    </a:rPr>
                                    <m:t>𝑚𝑖𝑛</m:t>
                                  </m:r>
                                </m:sub>
                              </m:sSub>
                            </m:oMath>
                          </a14:m>
                          <a:r>
                            <a:rPr lang="it-IT" sz="2000" kern="100">
                              <a:solidFill>
                                <a:schemeClr val="accent2">
                                  <a:lumMod val="50000"/>
                                </a:schemeClr>
                              </a:solidFill>
                              <a:effectLst/>
                            </a:rPr>
                            <a:t>(pu)</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a:solidFill>
                                <a:schemeClr val="accent2">
                                  <a:lumMod val="50000"/>
                                </a:schemeClr>
                              </a:solidFill>
                              <a:effectLst/>
                            </a:rPr>
                            <a:t>Peak Line FVSI</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dirty="0">
                              <a:solidFill>
                                <a:schemeClr val="accent2">
                                  <a:lumMod val="50000"/>
                                </a:schemeClr>
                              </a:solidFill>
                              <a:effectLst/>
                            </a:rPr>
                            <a:t>Critical-Corridor </a:t>
                          </a:r>
                          <a14:m>
                            <m:oMath xmlns:m="http://schemas.openxmlformats.org/officeDocument/2006/math">
                              <m:r>
                                <a:rPr lang="en-US" sz="2000" kern="100">
                                  <a:solidFill>
                                    <a:schemeClr val="accent2">
                                      <a:lumMod val="50000"/>
                                    </a:schemeClr>
                                  </a:solidFill>
                                  <a:effectLst/>
                                  <a:latin typeface="Cambria Math" panose="02040503050406030204" pitchFamily="18" charset="0"/>
                                </a:rPr>
                                <m:t>𝑄</m:t>
                              </m:r>
                            </m:oMath>
                          </a14:m>
                          <a:r>
                            <a:rPr lang="en-US" sz="2000" kern="100" dirty="0">
                              <a:solidFill>
                                <a:schemeClr val="accent2">
                                  <a:lumMod val="50000"/>
                                </a:schemeClr>
                              </a:solidFill>
                              <a:effectLst/>
                            </a:rPr>
                            <a:t>-Margin (MVAr)</a:t>
                          </a:r>
                          <a:endParaRPr lang="en-US" sz="18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338919904"/>
                      </a:ext>
                    </a:extLst>
                  </a:tr>
                  <a:tr h="1231643">
                    <a:tc>
                      <a:txBody>
                        <a:bodyPr/>
                        <a:lstStyle/>
                        <a:p>
                          <a:pPr marL="0" marR="0" algn="ctr">
                            <a:lnSpc>
                              <a:spcPct val="115000"/>
                            </a:lnSpc>
                            <a:spcAft>
                              <a:spcPts val="800"/>
                            </a:spcAft>
                            <a:buNone/>
                          </a:pPr>
                          <a:r>
                            <a:rPr lang="en-US" sz="1800" kern="100" dirty="0">
                              <a:solidFill>
                                <a:schemeClr val="accent2">
                                  <a:lumMod val="50000"/>
                                </a:schemeClr>
                              </a:solidFill>
                              <a:effectLst/>
                            </a:rPr>
                            <a:t>IEEE 14-Bus GA (Transformer Taps)</a:t>
                          </a:r>
                          <a:endParaRPr lang="en-US" sz="16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14</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71.03 → 62.14</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296.62 → 250.72</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0.6474 → 0.8008</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0.3727 → 0.2896</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19.15</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84722629"/>
                      </a:ext>
                    </a:extLst>
                  </a:tr>
                  <a:tr h="1079657">
                    <a:tc>
                      <a:txBody>
                        <a:bodyPr/>
                        <a:lstStyle/>
                        <a:p>
                          <a:pPr marL="0" marR="0" algn="ctr">
                            <a:lnSpc>
                              <a:spcPct val="115000"/>
                            </a:lnSpc>
                            <a:spcAft>
                              <a:spcPts val="800"/>
                            </a:spcAft>
                            <a:buNone/>
                          </a:pPr>
                          <a:r>
                            <a:rPr lang="en-US" sz="1800" kern="100">
                              <a:solidFill>
                                <a:schemeClr val="accent2">
                                  <a:lumMod val="50000"/>
                                </a:schemeClr>
                              </a:solidFill>
                              <a:effectLst/>
                            </a:rPr>
                            <a:t>IEEE 14-Bus PSO (Caps: </a:t>
                          </a:r>
                          <a14:m>
                            <m:oMath xmlns:m="http://schemas.openxmlformats.org/officeDocument/2006/math">
                              <m:r>
                                <a:rPr lang="en-US" sz="1800" kern="100">
                                  <a:solidFill>
                                    <a:schemeClr val="accent2">
                                      <a:lumMod val="50000"/>
                                    </a:schemeClr>
                                  </a:solidFill>
                                  <a:effectLst/>
                                  <a:latin typeface="Cambria Math" panose="02040503050406030204" pitchFamily="18" charset="0"/>
                                </a:rPr>
                                <m:t>𝐾</m:t>
                              </m:r>
                              <m:r>
                                <a:rPr lang="en-US" sz="1800" kern="100">
                                  <a:solidFill>
                                    <a:schemeClr val="accent2">
                                      <a:lumMod val="50000"/>
                                    </a:schemeClr>
                                  </a:solidFill>
                                  <a:effectLst/>
                                  <a:latin typeface="Cambria Math" panose="02040503050406030204" pitchFamily="18" charset="0"/>
                                </a:rPr>
                                <m:t>=3</m:t>
                              </m:r>
                            </m:oMath>
                          </a14:m>
                          <a:r>
                            <a:rPr lang="en-US" sz="1800" kern="100">
                              <a:solidFill>
                                <a:schemeClr val="accent2">
                                  <a:lumMod val="50000"/>
                                </a:schemeClr>
                              </a:solidFill>
                              <a:effectLst/>
                            </a:rPr>
                            <a:t>)</a:t>
                          </a:r>
                          <a:endParaRPr lang="en-US" sz="16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9</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71.03 → 47.42</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296.62 → 192.58</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0.6474 → 0.8905</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0.3727 → 0.1208</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17.48</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433497741"/>
                      </a:ext>
                    </a:extLst>
                  </a:tr>
                  <a:tr h="1231643">
                    <a:tc>
                      <a:txBody>
                        <a:bodyPr/>
                        <a:lstStyle/>
                        <a:p>
                          <a:pPr marL="0" marR="0" algn="ctr">
                            <a:lnSpc>
                              <a:spcPct val="115000"/>
                            </a:lnSpc>
                            <a:spcAft>
                              <a:spcPts val="800"/>
                            </a:spcAft>
                            <a:buNone/>
                          </a:pPr>
                          <a:r>
                            <a:rPr lang="en-US" sz="1800" kern="100">
                              <a:solidFill>
                                <a:schemeClr val="accent2">
                                  <a:lumMod val="50000"/>
                                </a:schemeClr>
                              </a:solidFill>
                              <a:effectLst/>
                            </a:rPr>
                            <a:t>IEEE 39-Bus GA (Transformer Taps)</a:t>
                          </a:r>
                          <a:endParaRPr lang="en-US" sz="16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10</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124.75 → 99.21</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5210.90 → 4032.69</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0.8193 → 0.9242</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0.2479 → 0.2104</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418.44</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19504966"/>
                      </a:ext>
                    </a:extLst>
                  </a:tr>
                  <a:tr h="1079657">
                    <a:tc>
                      <a:txBody>
                        <a:bodyPr/>
                        <a:lstStyle/>
                        <a:p>
                          <a:pPr marL="0" marR="0" algn="ctr">
                            <a:lnSpc>
                              <a:spcPct val="115000"/>
                            </a:lnSpc>
                            <a:spcAft>
                              <a:spcPts val="800"/>
                            </a:spcAft>
                            <a:buNone/>
                          </a:pPr>
                          <a:r>
                            <a:rPr lang="en-US" sz="1800" kern="100" dirty="0">
                              <a:solidFill>
                                <a:schemeClr val="accent2">
                                  <a:lumMod val="50000"/>
                                </a:schemeClr>
                              </a:solidFill>
                              <a:effectLst/>
                            </a:rPr>
                            <a:t>IEEE 39-Bus PSO (Caps: </a:t>
                          </a:r>
                          <a14:m>
                            <m:oMath xmlns:m="http://schemas.openxmlformats.org/officeDocument/2006/math">
                              <m:r>
                                <a:rPr lang="en-US" sz="1800" kern="100">
                                  <a:solidFill>
                                    <a:schemeClr val="accent2">
                                      <a:lumMod val="50000"/>
                                    </a:schemeClr>
                                  </a:solidFill>
                                  <a:effectLst/>
                                  <a:latin typeface="Cambria Math" panose="02040503050406030204" pitchFamily="18" charset="0"/>
                                </a:rPr>
                                <m:t>𝐾</m:t>
                              </m:r>
                              <m:r>
                                <a:rPr lang="en-US" sz="1800" kern="100">
                                  <a:solidFill>
                                    <a:schemeClr val="accent2">
                                      <a:lumMod val="50000"/>
                                    </a:schemeClr>
                                  </a:solidFill>
                                  <a:effectLst/>
                                  <a:latin typeface="Cambria Math" panose="02040503050406030204" pitchFamily="18" charset="0"/>
                                </a:rPr>
                                <m:t>=12</m:t>
                              </m:r>
                            </m:oMath>
                          </a14:m>
                          <a:r>
                            <a:rPr lang="en-US" sz="1800" kern="100" dirty="0">
                              <a:solidFill>
                                <a:schemeClr val="accent2">
                                  <a:lumMod val="50000"/>
                                </a:schemeClr>
                              </a:solidFill>
                              <a:effectLst/>
                            </a:rPr>
                            <a:t>)</a:t>
                          </a:r>
                          <a:endParaRPr lang="en-US" sz="16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1</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124.75 → 85.02</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5210.90 → 3578.57</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0.8193 → 0.9820</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0.2479 → 0.1005</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0.00 → 205.57</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010907729"/>
                      </a:ext>
                    </a:extLst>
                  </a:tr>
                </a:tbl>
              </a:graphicData>
            </a:graphic>
          </p:graphicFrame>
        </mc:Choice>
        <mc:Fallback xmlns="">
          <p:graphicFrame>
            <p:nvGraphicFramePr>
              <p:cNvPr id="14" name="Table 13">
                <a:extLst>
                  <a:ext uri="{FF2B5EF4-FFF2-40B4-BE49-F238E27FC236}">
                    <a16:creationId xmlns:a16="http://schemas.microsoft.com/office/drawing/2014/main" id="{FC865944-23B6-4207-513A-4CC24E03F69E}"/>
                  </a:ext>
                </a:extLst>
              </p:cNvPr>
              <p:cNvGraphicFramePr>
                <a:graphicFrameLocks noGrp="1"/>
              </p:cNvGraphicFramePr>
              <p:nvPr>
                <p:extLst>
                  <p:ext uri="{D42A27DB-BD31-4B8C-83A1-F6EECF244321}">
                    <p14:modId xmlns:p14="http://schemas.microsoft.com/office/powerpoint/2010/main" val="2497796868"/>
                  </p:ext>
                </p:extLst>
              </p:nvPr>
            </p:nvGraphicFramePr>
            <p:xfrm>
              <a:off x="1" y="449792"/>
              <a:ext cx="12192001" cy="6006462"/>
            </p:xfrm>
            <a:graphic>
              <a:graphicData uri="http://schemas.openxmlformats.org/drawingml/2006/table">
                <a:tbl>
                  <a:tblPr firstRow="1" firstCol="1" bandRow="1">
                    <a:tableStyleId>{08FB837D-C827-4EFA-A057-4D05807E0F7C}</a:tableStyleId>
                  </a:tblPr>
                  <a:tblGrid>
                    <a:gridCol w="1602556">
                      <a:extLst>
                        <a:ext uri="{9D8B030D-6E8A-4147-A177-3AD203B41FA5}">
                          <a16:colId xmlns:a16="http://schemas.microsoft.com/office/drawing/2014/main" val="3862564385"/>
                        </a:ext>
                      </a:extLst>
                    </a:gridCol>
                    <a:gridCol w="1046375">
                      <a:extLst>
                        <a:ext uri="{9D8B030D-6E8A-4147-A177-3AD203B41FA5}">
                          <a16:colId xmlns:a16="http://schemas.microsoft.com/office/drawing/2014/main" val="3138168475"/>
                        </a:ext>
                      </a:extLst>
                    </a:gridCol>
                    <a:gridCol w="1725105">
                      <a:extLst>
                        <a:ext uri="{9D8B030D-6E8A-4147-A177-3AD203B41FA5}">
                          <a16:colId xmlns:a16="http://schemas.microsoft.com/office/drawing/2014/main" val="300313310"/>
                        </a:ext>
                      </a:extLst>
                    </a:gridCol>
                    <a:gridCol w="2026763">
                      <a:extLst>
                        <a:ext uri="{9D8B030D-6E8A-4147-A177-3AD203B41FA5}">
                          <a16:colId xmlns:a16="http://schemas.microsoft.com/office/drawing/2014/main" val="1421160245"/>
                        </a:ext>
                      </a:extLst>
                    </a:gridCol>
                    <a:gridCol w="1990686">
                      <a:extLst>
                        <a:ext uri="{9D8B030D-6E8A-4147-A177-3AD203B41FA5}">
                          <a16:colId xmlns:a16="http://schemas.microsoft.com/office/drawing/2014/main" val="72873943"/>
                        </a:ext>
                      </a:extLst>
                    </a:gridCol>
                    <a:gridCol w="2056932">
                      <a:extLst>
                        <a:ext uri="{9D8B030D-6E8A-4147-A177-3AD203B41FA5}">
                          <a16:colId xmlns:a16="http://schemas.microsoft.com/office/drawing/2014/main" val="3738082752"/>
                        </a:ext>
                      </a:extLst>
                    </a:gridCol>
                    <a:gridCol w="1743584">
                      <a:extLst>
                        <a:ext uri="{9D8B030D-6E8A-4147-A177-3AD203B41FA5}">
                          <a16:colId xmlns:a16="http://schemas.microsoft.com/office/drawing/2014/main" val="1640340412"/>
                        </a:ext>
                      </a:extLst>
                    </a:gridCol>
                  </a:tblGrid>
                  <a:tr h="1373950">
                    <a:tc>
                      <a:txBody>
                        <a:bodyPr/>
                        <a:lstStyle/>
                        <a:p>
                          <a:pPr marL="0" marR="0" algn="l">
                            <a:lnSpc>
                              <a:spcPct val="115000"/>
                            </a:lnSpc>
                            <a:spcAft>
                              <a:spcPts val="800"/>
                            </a:spcAft>
                            <a:buNone/>
                          </a:pPr>
                          <a:r>
                            <a:rPr lang="en-US" sz="2000" kern="100">
                              <a:solidFill>
                                <a:schemeClr val="accent2">
                                  <a:lumMod val="50000"/>
                                </a:schemeClr>
                              </a:solidFill>
                              <a:effectLst/>
                            </a:rPr>
                            <a:t>Network &amp; Algorithm Setup</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nSpc>
                              <a:spcPct val="115000"/>
                            </a:lnSpc>
                            <a:spcAft>
                              <a:spcPts val="800"/>
                            </a:spcAft>
                            <a:buNone/>
                          </a:pPr>
                          <a:r>
                            <a:rPr lang="en-US" sz="2000" kern="100">
                              <a:solidFill>
                                <a:schemeClr val="accent2">
                                  <a:lumMod val="50000"/>
                                </a:schemeClr>
                              </a:solidFill>
                              <a:effectLst/>
                            </a:rPr>
                            <a:t>Violated Buses</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endParaRPr lang="en-US"/>
                        </a:p>
                      </a:txBody>
                      <a:tcPr marL="68580" marR="68580" marT="0" marB="0" anchor="ctr">
                        <a:blipFill>
                          <a:blip r:embed="rId2"/>
                          <a:stretch>
                            <a:fillRect l="-154064" t="-3982" r="-453710" b="-340708"/>
                          </a:stretch>
                        </a:blipFill>
                      </a:tcPr>
                    </a:tc>
                    <a:tc>
                      <a:txBody>
                        <a:bodyPr/>
                        <a:lstStyle/>
                        <a:p>
                          <a:endParaRPr lang="en-US"/>
                        </a:p>
                      </a:txBody>
                      <a:tcPr marL="68580" marR="68580" marT="0" marB="0" anchor="ctr">
                        <a:blipFill>
                          <a:blip r:embed="rId2"/>
                          <a:stretch>
                            <a:fillRect l="-215916" t="-3982" r="-285586" b="-340708"/>
                          </a:stretch>
                        </a:blipFill>
                      </a:tcPr>
                    </a:tc>
                    <a:tc>
                      <a:txBody>
                        <a:bodyPr/>
                        <a:lstStyle/>
                        <a:p>
                          <a:endParaRPr lang="en-US"/>
                        </a:p>
                      </a:txBody>
                      <a:tcPr marL="68580" marR="68580" marT="0" marB="0" anchor="ctr">
                        <a:blipFill>
                          <a:blip r:embed="rId2"/>
                          <a:stretch>
                            <a:fillRect l="-322699" t="-3982" r="-191718" b="-340708"/>
                          </a:stretch>
                        </a:blipFill>
                      </a:tcPr>
                    </a:tc>
                    <a:tc>
                      <a:txBody>
                        <a:bodyPr/>
                        <a:lstStyle/>
                        <a:p>
                          <a:pPr marL="0" marR="0">
                            <a:lnSpc>
                              <a:spcPct val="115000"/>
                            </a:lnSpc>
                            <a:spcAft>
                              <a:spcPts val="800"/>
                            </a:spcAft>
                            <a:buNone/>
                          </a:pPr>
                          <a:r>
                            <a:rPr lang="en-US" sz="2000" kern="100">
                              <a:solidFill>
                                <a:schemeClr val="accent2">
                                  <a:lumMod val="50000"/>
                                </a:schemeClr>
                              </a:solidFill>
                              <a:effectLst/>
                            </a:rPr>
                            <a:t>Peak Line FVSI</a:t>
                          </a:r>
                          <a:endParaRPr lang="en-US" sz="18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endParaRPr lang="en-US"/>
                        </a:p>
                      </a:txBody>
                      <a:tcPr marL="68580" marR="68580" marT="0" marB="0" anchor="ctr">
                        <a:blipFill>
                          <a:blip r:embed="rId2"/>
                          <a:stretch>
                            <a:fillRect l="-600000" t="-3982" r="-350" b="-340708"/>
                          </a:stretch>
                        </a:blipFill>
                      </a:tcPr>
                    </a:tc>
                    <a:extLst>
                      <a:ext uri="{0D108BD9-81ED-4DB2-BD59-A6C34878D82A}">
                        <a16:rowId xmlns:a16="http://schemas.microsoft.com/office/drawing/2014/main" val="3338919904"/>
                      </a:ext>
                    </a:extLst>
                  </a:tr>
                  <a:tr h="1236599">
                    <a:tc>
                      <a:txBody>
                        <a:bodyPr/>
                        <a:lstStyle/>
                        <a:p>
                          <a:pPr marL="0" marR="0" algn="ctr">
                            <a:lnSpc>
                              <a:spcPct val="115000"/>
                            </a:lnSpc>
                            <a:spcAft>
                              <a:spcPts val="800"/>
                            </a:spcAft>
                            <a:buNone/>
                          </a:pPr>
                          <a:r>
                            <a:rPr lang="en-US" sz="1800" kern="100" dirty="0">
                              <a:solidFill>
                                <a:schemeClr val="accent2">
                                  <a:lumMod val="50000"/>
                                </a:schemeClr>
                              </a:solidFill>
                              <a:effectLst/>
                            </a:rPr>
                            <a:t>IEEE 14-Bus GA (Transformer Taps)</a:t>
                          </a:r>
                          <a:endParaRPr lang="en-US" sz="16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14</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71.03 → 62.14</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296.62 → 250.72</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0.6474 → 0.8008</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0.3727 → 0.2896</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19.15</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384722629"/>
                      </a:ext>
                    </a:extLst>
                  </a:tr>
                  <a:tr h="1079657">
                    <a:tc>
                      <a:txBody>
                        <a:bodyPr/>
                        <a:lstStyle/>
                        <a:p>
                          <a:endParaRPr lang="en-US"/>
                        </a:p>
                      </a:txBody>
                      <a:tcPr marL="68580" marR="68580" marT="0" marB="0" anchor="ctr">
                        <a:blipFill>
                          <a:blip r:embed="rId2"/>
                          <a:stretch>
                            <a:fillRect l="-380" t="-247458" r="-661217" b="-220339"/>
                          </a:stretch>
                        </a:blipFill>
                      </a:tcPr>
                    </a:tc>
                    <a:tc>
                      <a:txBody>
                        <a:bodyPr/>
                        <a:lstStyle/>
                        <a:p>
                          <a:pPr marL="0" marR="0" algn="ctr">
                            <a:lnSpc>
                              <a:spcPct val="115000"/>
                            </a:lnSpc>
                            <a:spcAft>
                              <a:spcPts val="800"/>
                            </a:spcAft>
                            <a:buNone/>
                          </a:pPr>
                          <a:r>
                            <a:rPr lang="en-US" sz="2000" kern="100" dirty="0">
                              <a:solidFill>
                                <a:schemeClr val="accent2">
                                  <a:lumMod val="50000"/>
                                </a:schemeClr>
                              </a:solidFill>
                              <a:effectLst/>
                            </a:rPr>
                            <a:t>14 → 9</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71.03 → 47.42</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296.62 → 192.58</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0.6474 → 0.8905</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0.3727 → 0.1208</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17.48</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2433497741"/>
                      </a:ext>
                    </a:extLst>
                  </a:tr>
                  <a:tr h="1236599">
                    <a:tc>
                      <a:txBody>
                        <a:bodyPr/>
                        <a:lstStyle/>
                        <a:p>
                          <a:pPr marL="0" marR="0" algn="ctr">
                            <a:lnSpc>
                              <a:spcPct val="115000"/>
                            </a:lnSpc>
                            <a:spcAft>
                              <a:spcPts val="800"/>
                            </a:spcAft>
                            <a:buNone/>
                          </a:pPr>
                          <a:r>
                            <a:rPr lang="en-US" sz="1800" kern="100">
                              <a:solidFill>
                                <a:schemeClr val="accent2">
                                  <a:lumMod val="50000"/>
                                </a:schemeClr>
                              </a:solidFill>
                              <a:effectLst/>
                            </a:rPr>
                            <a:t>IEEE 39-Bus GA (Transformer Taps)</a:t>
                          </a:r>
                          <a:endParaRPr lang="en-US" sz="16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14 → 10</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124.75 → 99.21</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5210.90 → 4032.69</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0.8193 → 0.9242</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0.2479 → 0.2104</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a:solidFill>
                                <a:schemeClr val="accent2">
                                  <a:lumMod val="50000"/>
                                </a:schemeClr>
                              </a:solidFill>
                              <a:effectLst/>
                            </a:rPr>
                            <a:t>0.00 → 418.44</a:t>
                          </a:r>
                          <a:endParaRPr lang="en-US" sz="2000" kern="10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119504966"/>
                      </a:ext>
                    </a:extLst>
                  </a:tr>
                  <a:tr h="1079657">
                    <a:tc>
                      <a:txBody>
                        <a:bodyPr/>
                        <a:lstStyle/>
                        <a:p>
                          <a:endParaRPr lang="en-US"/>
                        </a:p>
                      </a:txBody>
                      <a:tcPr marL="68580" marR="68580" marT="0" marB="0" anchor="ctr">
                        <a:blipFill>
                          <a:blip r:embed="rId2"/>
                          <a:stretch>
                            <a:fillRect l="-380" t="-462712" r="-661217" b="-5085"/>
                          </a:stretch>
                        </a:blipFill>
                      </a:tcPr>
                    </a:tc>
                    <a:tc>
                      <a:txBody>
                        <a:bodyPr/>
                        <a:lstStyle/>
                        <a:p>
                          <a:pPr marL="0" marR="0" algn="ctr">
                            <a:lnSpc>
                              <a:spcPct val="115000"/>
                            </a:lnSpc>
                            <a:spcAft>
                              <a:spcPts val="800"/>
                            </a:spcAft>
                            <a:buNone/>
                          </a:pPr>
                          <a:r>
                            <a:rPr lang="en-US" sz="2000" kern="100" dirty="0">
                              <a:solidFill>
                                <a:schemeClr val="accent2">
                                  <a:lumMod val="50000"/>
                                </a:schemeClr>
                              </a:solidFill>
                              <a:effectLst/>
                            </a:rPr>
                            <a:t>14 → 1</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124.75 → 85.02</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5210.90 → 3578.57</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0.8193 → 0.9820</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0.2479 → 0.1005</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tc>
                      <a:txBody>
                        <a:bodyPr/>
                        <a:lstStyle/>
                        <a:p>
                          <a:pPr marL="0" marR="0" algn="ctr">
                            <a:lnSpc>
                              <a:spcPct val="115000"/>
                            </a:lnSpc>
                            <a:spcAft>
                              <a:spcPts val="800"/>
                            </a:spcAft>
                            <a:buNone/>
                          </a:pPr>
                          <a:r>
                            <a:rPr lang="en-US" sz="2000" kern="100" dirty="0">
                              <a:solidFill>
                                <a:schemeClr val="accent2">
                                  <a:lumMod val="50000"/>
                                </a:schemeClr>
                              </a:solidFill>
                              <a:effectLst/>
                            </a:rPr>
                            <a:t>0.00 → 205.57</a:t>
                          </a:r>
                          <a:endParaRPr lang="en-US" sz="2000" kern="100" dirty="0">
                            <a:solidFill>
                              <a:schemeClr val="accent2">
                                <a:lumMod val="50000"/>
                              </a:schemeClr>
                            </a:solidFill>
                            <a:effectLst/>
                            <a:latin typeface="+mn-lt"/>
                            <a:ea typeface="Aptos" panose="020B0004020202020204" pitchFamily="34" charset="0"/>
                            <a:cs typeface="Vrinda" panose="020B0502040204020203" pitchFamily="34" charset="0"/>
                          </a:endParaRPr>
                        </a:p>
                      </a:txBody>
                      <a:tcPr marL="68580" marR="68580" marT="0" marB="0" anchor="ctr"/>
                    </a:tc>
                    <a:extLst>
                      <a:ext uri="{0D108BD9-81ED-4DB2-BD59-A6C34878D82A}">
                        <a16:rowId xmlns:a16="http://schemas.microsoft.com/office/drawing/2014/main" val="4010907729"/>
                      </a:ext>
                    </a:extLst>
                  </a:tr>
                </a:tbl>
              </a:graphicData>
            </a:graphic>
          </p:graphicFram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1D77CF-EA65-97A0-4BD9-695F47A9EB5E}"/>
              </a:ext>
            </a:extLst>
          </p:cNvPr>
          <p:cNvSpPr>
            <a:spLocks noGrp="1"/>
          </p:cNvSpPr>
          <p:nvPr>
            <p:ph type="sldNum" sz="quarter" idx="12"/>
          </p:nvPr>
        </p:nvSpPr>
        <p:spPr/>
        <p:txBody>
          <a:bodyPr/>
          <a:lstStyle/>
          <a:p>
            <a:fld id="{E9C29D53-9981-884B-B5B6-B5743DF81FD1}" type="slidenum">
              <a:rPr lang="en-BD" smtClean="0">
                <a:latin typeface="Times New Roman"/>
                <a:cs typeface="Times New Roman"/>
              </a:rPr>
              <a:t>21</a:t>
            </a:fld>
            <a:endParaRPr lang="en-BD">
              <a:latin typeface="Times New Roman"/>
              <a:cs typeface="Times New Roman"/>
            </a:endParaRPr>
          </a:p>
        </p:txBody>
      </p:sp>
      <p:sp>
        <p:nvSpPr>
          <p:cNvPr id="5" name="Title 1">
            <a:extLst>
              <a:ext uri="{FF2B5EF4-FFF2-40B4-BE49-F238E27FC236}">
                <a16:creationId xmlns:a16="http://schemas.microsoft.com/office/drawing/2014/main" id="{CE8B2792-E428-13A2-B6CC-26965148808F}"/>
              </a:ext>
            </a:extLst>
          </p:cNvPr>
          <p:cNvSpPr txBox="1">
            <a:spLocks/>
          </p:cNvSpPr>
          <p:nvPr/>
        </p:nvSpPr>
        <p:spPr>
          <a:xfrm>
            <a:off x="1066800" y="459714"/>
            <a:ext cx="10501086" cy="729006"/>
          </a:xfrm>
          <a:prstGeom prst="rect">
            <a:avLst/>
          </a:prstGeom>
        </p:spPr>
        <p:txBody>
          <a:bodyPr>
            <a:noAutofit/>
          </a:bodyPr>
          <a:lstStyle>
            <a:lvl1pPr algn="l" defTabSz="914400" rtl="0" eaLnBrk="1" latinLnBrk="0" hangingPunct="1">
              <a:lnSpc>
                <a:spcPct val="90000"/>
              </a:lnSpc>
              <a:spcBef>
                <a:spcPct val="0"/>
              </a:spcBef>
              <a:buNone/>
              <a:defRPr lang="en-US" sz="4400" kern="1200" cap="none" spc="0" baseline="0" dirty="0">
                <a:solidFill>
                  <a:schemeClr val="tx1">
                    <a:lumMod val="85000"/>
                    <a:lumOff val="15000"/>
                  </a:schemeClr>
                </a:solidFill>
                <a:effectLst/>
                <a:latin typeface="Arial" panose="020B0604020202020204" pitchFamily="34" charset="0"/>
                <a:ea typeface="+mn-ea"/>
                <a:cs typeface="Arial" panose="020B0604020202020204" pitchFamily="34" charset="0"/>
              </a:defRPr>
            </a:lvl1pPr>
          </a:lstStyle>
          <a:p>
            <a:r>
              <a:rPr lang="en-GB" sz="3600" b="1" dirty="0">
                <a:solidFill>
                  <a:srgbClr val="C00000"/>
                </a:solidFill>
                <a:latin typeface="Times New Roman"/>
                <a:cs typeface="Times New Roman"/>
              </a:rPr>
              <a:t>5. Communication to External Stakeholders (PO(j))</a:t>
            </a:r>
          </a:p>
        </p:txBody>
      </p:sp>
      <p:sp>
        <p:nvSpPr>
          <p:cNvPr id="6" name="Content Placeholder 2">
            <a:extLst>
              <a:ext uri="{FF2B5EF4-FFF2-40B4-BE49-F238E27FC236}">
                <a16:creationId xmlns:a16="http://schemas.microsoft.com/office/drawing/2014/main" id="{BDAC3106-E1FD-483A-C3A7-7A9599376874}"/>
              </a:ext>
            </a:extLst>
          </p:cNvPr>
          <p:cNvSpPr txBox="1">
            <a:spLocks/>
          </p:cNvSpPr>
          <p:nvPr/>
        </p:nvSpPr>
        <p:spPr>
          <a:xfrm>
            <a:off x="1066800" y="1207769"/>
            <a:ext cx="10058400" cy="3317097"/>
          </a:xfrm>
          <a:prstGeom prst="rect">
            <a:avLst/>
          </a:prstGeom>
        </p:spPr>
        <p:txBody>
          <a:bodyPr>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2400" kern="1200">
                <a:solidFill>
                  <a:schemeClr val="tx1"/>
                </a:solidFill>
                <a:latin typeface="Arial" panose="020B0604020202020204" pitchFamily="34" charset="0"/>
                <a:ea typeface="+mn-ea"/>
                <a:cs typeface="Arial" panose="020B0604020202020204" pitchFamily="34" charset="0"/>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2000" kern="1200">
                <a:solidFill>
                  <a:schemeClr val="tx1"/>
                </a:solidFill>
                <a:latin typeface="Arial" panose="020B0604020202020204" pitchFamily="34" charset="0"/>
                <a:ea typeface="+mn-ea"/>
                <a:cs typeface="Arial" panose="020B0604020202020204" pitchFamily="34" charset="0"/>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742950" lvl="1" indent="-285750">
              <a:lnSpc>
                <a:spcPts val="1465"/>
              </a:lnSpc>
              <a:buFont typeface="+mj-lt"/>
              <a:buAutoNum type="arabicPeriod"/>
            </a:pPr>
            <a:endParaRPr lang="en-US" sz="3200" b="1" dirty="0">
              <a:latin typeface="Times New Roman" panose="02020603050405020304" pitchFamily="18" charset="0"/>
              <a:ea typeface="Times New Roman" panose="02020603050405020304" pitchFamily="18" charset="0"/>
              <a:cs typeface="Times New Roman"/>
            </a:endParaRPr>
          </a:p>
          <a:p>
            <a:pPr marL="742950" lvl="1" indent="-285750">
              <a:lnSpc>
                <a:spcPts val="1465"/>
              </a:lnSpc>
              <a:buFont typeface="+mj-lt"/>
              <a:buAutoNum type="arabicPeriod"/>
            </a:pPr>
            <a:endParaRPr lang="en-US" sz="3200" b="1" dirty="0">
              <a:latin typeface="Times New Roman" panose="02020603050405020304" pitchFamily="18" charset="0"/>
              <a:ea typeface="Times New Roman" panose="02020603050405020304" pitchFamily="18" charset="0"/>
              <a:cs typeface="Times New Roman"/>
            </a:endParaRPr>
          </a:p>
          <a:p>
            <a:pPr marL="742950" lvl="1" indent="-285750">
              <a:lnSpc>
                <a:spcPts val="1465"/>
              </a:lnSpc>
              <a:buFont typeface="+mj-lt"/>
              <a:buAutoNum type="arabicPeriod"/>
            </a:pPr>
            <a:endParaRPr lang="en-US" sz="3200" b="1" dirty="0">
              <a:latin typeface="Times New Roman" panose="02020603050405020304" pitchFamily="18" charset="0"/>
              <a:ea typeface="Times New Roman" panose="02020603050405020304" pitchFamily="18" charset="0"/>
              <a:cs typeface="Times New Roman"/>
            </a:endParaRPr>
          </a:p>
          <a:p>
            <a:pPr marL="742950" lvl="1" indent="-285750">
              <a:lnSpc>
                <a:spcPts val="1465"/>
              </a:lnSpc>
              <a:buFont typeface="+mj-lt"/>
              <a:buAutoNum type="arabicPeriod"/>
            </a:pPr>
            <a:endParaRPr lang="en-US" sz="3200" b="1" dirty="0">
              <a:latin typeface="Times New Roman" panose="02020603050405020304" pitchFamily="18" charset="0"/>
              <a:ea typeface="Times New Roman" panose="02020603050405020304" pitchFamily="18" charset="0"/>
              <a:cs typeface="Times New Roman"/>
            </a:endParaRPr>
          </a:p>
          <a:p>
            <a:pPr marL="742950" lvl="1" indent="-285750">
              <a:lnSpc>
                <a:spcPts val="1465"/>
              </a:lnSpc>
              <a:buFont typeface="+mj-lt"/>
              <a:buAutoNum type="arabicPeriod"/>
            </a:pPr>
            <a:r>
              <a:rPr lang="en-US" sz="3200" b="1" u="sng" dirty="0">
                <a:solidFill>
                  <a:srgbClr val="FF0000"/>
                </a:solidFill>
                <a:latin typeface="Times New Roman" panose="02020603050405020304" pitchFamily="18" charset="0"/>
                <a:ea typeface="Times New Roman" panose="02020603050405020304" pitchFamily="18" charset="0"/>
                <a:cs typeface="Times New Roman"/>
              </a:rPr>
              <a:t> Drive  Link</a:t>
            </a:r>
          </a:p>
          <a:p>
            <a:pPr lvl="1" indent="0">
              <a:lnSpc>
                <a:spcPts val="1465"/>
              </a:lnSpc>
              <a:buNone/>
            </a:pPr>
            <a:endParaRPr lang="en-US" sz="3200" b="1" dirty="0">
              <a:latin typeface="Times New Roman" panose="02020603050405020304" pitchFamily="18" charset="0"/>
              <a:ea typeface="Times New Roman" panose="02020603050405020304" pitchFamily="18" charset="0"/>
              <a:cs typeface="Times New Roman"/>
            </a:endParaRPr>
          </a:p>
          <a:p>
            <a:pPr lvl="1" indent="0">
              <a:lnSpc>
                <a:spcPct val="107000"/>
              </a:lnSpc>
              <a:spcBef>
                <a:spcPts val="1800"/>
              </a:spcBef>
              <a:spcAft>
                <a:spcPts val="1800"/>
              </a:spcAft>
              <a:buNone/>
            </a:pPr>
            <a:r>
              <a:rPr lang="en-GB" sz="3200" b="1" kern="0" dirty="0">
                <a:latin typeface="Times New Roman" panose="02020603050405020304" pitchFamily="18" charset="0"/>
                <a:ea typeface="Times New Roman" panose="02020603050405020304" pitchFamily="18" charset="0"/>
                <a:cs typeface="Times New Roman"/>
              </a:rPr>
              <a:t>https://drive.google.com/file/d/1S16e6D9CnCVc4tx-kQVD8_oTBZiHku-k/view?usp=sharing</a:t>
            </a:r>
          </a:p>
          <a:p>
            <a:endParaRPr lang="en-GB" sz="4000" dirty="0">
              <a:latin typeface="Times New Roman"/>
              <a:cs typeface="Times New Roman"/>
            </a:endParaRPr>
          </a:p>
        </p:txBody>
      </p:sp>
      <p:sp>
        <p:nvSpPr>
          <p:cNvPr id="9" name="Slide Number Placeholder 5">
            <a:extLst>
              <a:ext uri="{FF2B5EF4-FFF2-40B4-BE49-F238E27FC236}">
                <a16:creationId xmlns:a16="http://schemas.microsoft.com/office/drawing/2014/main" id="{0CE66ED0-7DAB-4A0F-AAC4-C9BA405E3EEF}"/>
              </a:ext>
            </a:extLst>
          </p:cNvPr>
          <p:cNvSpPr txBox="1">
            <a:spLocks/>
          </p:cNvSpPr>
          <p:nvPr/>
        </p:nvSpPr>
        <p:spPr>
          <a:xfrm>
            <a:off x="11410950" y="6501638"/>
            <a:ext cx="521970" cy="308530"/>
          </a:xfrm>
          <a:prstGeom prst="rect">
            <a:avLst/>
          </a:prstGeom>
        </p:spPr>
        <p:txBody>
          <a:bodyPr vert="horz" lIns="91440" tIns="45720" rIns="91440" bIns="45720" rtlCol="0" anchor="b"/>
          <a:lstStyle>
            <a:defPPr>
              <a:defRPr lang="en-US"/>
            </a:defPPr>
            <a:lvl1pPr marL="0" algn="r" defTabSz="457200" rtl="0" eaLnBrk="1" latinLnBrk="0" hangingPunct="1">
              <a:defRPr sz="1400" b="1" kern="1200">
                <a:solidFill>
                  <a:schemeClr val="bg1"/>
                </a:solidFill>
                <a:latin typeface="Times New Roman"/>
                <a:ea typeface="+mn-ea"/>
                <a:cs typeface="Times New Roman"/>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9C29D53-9981-884B-B5B6-B5743DF81FD1}" type="slidenum">
              <a:rPr lang="en-BD" smtClean="0"/>
              <a:pPr/>
              <a:t>21</a:t>
            </a:fld>
            <a:endParaRPr lang="en-BD" dirty="0"/>
          </a:p>
        </p:txBody>
      </p:sp>
      <p:sp>
        <p:nvSpPr>
          <p:cNvPr id="10" name="Date Placeholder 5">
            <a:extLst>
              <a:ext uri="{FF2B5EF4-FFF2-40B4-BE49-F238E27FC236}">
                <a16:creationId xmlns:a16="http://schemas.microsoft.com/office/drawing/2014/main" id="{52301952-5708-0B7E-1905-95E9B6248999}"/>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Tree>
    <p:extLst>
      <p:ext uri="{BB962C8B-B14F-4D97-AF65-F5344CB8AC3E}">
        <p14:creationId xmlns:p14="http://schemas.microsoft.com/office/powerpoint/2010/main" val="3868531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C672-E565-34D9-BD41-B504F1B7D6BA}"/>
              </a:ext>
            </a:extLst>
          </p:cNvPr>
          <p:cNvSpPr>
            <a:spLocks noGrp="1"/>
          </p:cNvSpPr>
          <p:nvPr>
            <p:ph type="title"/>
          </p:nvPr>
        </p:nvSpPr>
        <p:spPr/>
        <p:txBody>
          <a:bodyPr>
            <a:normAutofit/>
          </a:bodyPr>
          <a:lstStyle/>
          <a:p>
            <a:pPr algn="ctr"/>
            <a:r>
              <a:rPr lang="en-US" sz="4400" dirty="0">
                <a:solidFill>
                  <a:srgbClr val="C00000"/>
                </a:solidFill>
                <a:latin typeface="Aharoni" panose="02010803020104030203" pitchFamily="2" charset="-79"/>
                <a:cs typeface="Aharoni" panose="02010803020104030203" pitchFamily="2" charset="-79"/>
              </a:rPr>
              <a:t> </a:t>
            </a:r>
            <a:r>
              <a:rPr lang="en-GB" sz="4400" b="1" dirty="0">
                <a:solidFill>
                  <a:srgbClr val="C00000"/>
                </a:solidFill>
                <a:latin typeface="+mj-lt"/>
                <a:cs typeface="Aharoni" panose="02010803020104030203" pitchFamily="2" charset="-79"/>
              </a:rPr>
              <a:t>Limitations of Tools (PO(e))</a:t>
            </a:r>
            <a:endParaRPr lang="en-GB" b="1" dirty="0">
              <a:solidFill>
                <a:srgbClr val="C00000"/>
              </a:solidFill>
              <a:latin typeface="+mj-lt"/>
              <a:cs typeface="Aharoni" panose="02010803020104030203" pitchFamily="2" charset="-79"/>
            </a:endParaRPr>
          </a:p>
        </p:txBody>
      </p:sp>
      <p:sp>
        <p:nvSpPr>
          <p:cNvPr id="3" name="Content Placeholder 2">
            <a:extLst>
              <a:ext uri="{FF2B5EF4-FFF2-40B4-BE49-F238E27FC236}">
                <a16:creationId xmlns:a16="http://schemas.microsoft.com/office/drawing/2014/main" id="{624FE627-4B30-BCAF-2060-4ABCF5611A36}"/>
              </a:ext>
            </a:extLst>
          </p:cNvPr>
          <p:cNvSpPr>
            <a:spLocks noGrp="1"/>
          </p:cNvSpPr>
          <p:nvPr>
            <p:ph idx="1"/>
          </p:nvPr>
        </p:nvSpPr>
        <p:spPr>
          <a:xfrm>
            <a:off x="432486" y="848412"/>
            <a:ext cx="10349814" cy="5118048"/>
          </a:xfrm>
        </p:spPr>
        <p:txBody>
          <a:bodyPr>
            <a:normAutofit lnSpcReduction="10000"/>
          </a:bodyPr>
          <a:lstStyle/>
          <a:p>
            <a:pPr marL="0" indent="0">
              <a:buNone/>
            </a:pPr>
            <a:endParaRPr lang="en-US" sz="2800" dirty="0">
              <a:latin typeface="Times New Roman" panose="02020603050405020304" pitchFamily="18" charset="0"/>
              <a:cs typeface="Times New Roman" panose="02020603050405020304" pitchFamily="18" charset="0"/>
            </a:endParaRPr>
          </a:p>
          <a:p>
            <a:pPr lvl="1"/>
            <a:r>
              <a:rPr lang="en-US" sz="3200" b="1" u="sng" dirty="0">
                <a:solidFill>
                  <a:srgbClr val="0070C0"/>
                </a:solidFill>
                <a:latin typeface="Times New Roman" panose="02020603050405020304" pitchFamily="18" charset="0"/>
                <a:cs typeface="Times New Roman" panose="02020603050405020304" pitchFamily="18" charset="0"/>
              </a:rPr>
              <a:t>API Memory Leaks: </a:t>
            </a:r>
            <a:r>
              <a:rPr lang="en-US" sz="3200" dirty="0">
                <a:latin typeface="Times New Roman" panose="02020603050405020304" pitchFamily="18" charset="0"/>
                <a:cs typeface="Times New Roman" panose="02020603050405020304" pitchFamily="18" charset="0"/>
              </a:rPr>
              <a:t>The </a:t>
            </a:r>
            <a:r>
              <a:rPr lang="en-US" sz="3200" dirty="0" err="1">
                <a:latin typeface="Times New Roman" panose="02020603050405020304" pitchFamily="18" charset="0"/>
                <a:cs typeface="Times New Roman" panose="02020603050405020304" pitchFamily="18" charset="0"/>
              </a:rPr>
              <a:t>psspy</a:t>
            </a:r>
            <a:r>
              <a:rPr lang="en-US" sz="3200" dirty="0">
                <a:latin typeface="Times New Roman" panose="02020603050405020304" pitchFamily="18" charset="0"/>
                <a:cs typeface="Times New Roman" panose="02020603050405020304" pitchFamily="18" charset="0"/>
              </a:rPr>
              <a:t> API retains load-flow states in memory; 14,400 iterations caused buffer overflows until terminal outputs were explicitly suppressed. </a:t>
            </a:r>
            <a:endParaRPr lang="en-US" sz="2400" dirty="0">
              <a:latin typeface="Times New Roman" panose="02020603050405020304" pitchFamily="18" charset="0"/>
              <a:cs typeface="Times New Roman" panose="02020603050405020304" pitchFamily="18" charset="0"/>
            </a:endParaRPr>
          </a:p>
          <a:p>
            <a:pPr lvl="1"/>
            <a:r>
              <a:rPr lang="en-US" sz="3200" b="1" u="sng" dirty="0">
                <a:solidFill>
                  <a:srgbClr val="0070C0"/>
                </a:solidFill>
                <a:latin typeface="Times New Roman" panose="02020603050405020304" pitchFamily="18" charset="0"/>
                <a:cs typeface="Times New Roman" panose="02020603050405020304" pitchFamily="18" charset="0"/>
              </a:rPr>
              <a:t>Single-Threaded Bottleneck: </a:t>
            </a:r>
            <a:r>
              <a:rPr lang="en-US" sz="3200" dirty="0">
                <a:latin typeface="Times New Roman" panose="02020603050405020304" pitchFamily="18" charset="0"/>
                <a:cs typeface="Times New Roman" panose="02020603050405020304" pitchFamily="18" charset="0"/>
              </a:rPr>
              <a:t>PSS®E structurally locks the active .sav memory block, meaning the algorithms could not utilize multi-core parallel processing. </a:t>
            </a:r>
            <a:endParaRPr lang="en-US" sz="2800" dirty="0">
              <a:latin typeface="Times New Roman" panose="02020603050405020304" pitchFamily="18" charset="0"/>
              <a:cs typeface="Times New Roman" panose="02020603050405020304" pitchFamily="18" charset="0"/>
            </a:endParaRPr>
          </a:p>
          <a:p>
            <a:pPr lvl="1"/>
            <a:r>
              <a:rPr lang="en-US" sz="3200" b="1" u="sng" dirty="0">
                <a:solidFill>
                  <a:srgbClr val="0070C0"/>
                </a:solidFill>
                <a:latin typeface="Times New Roman" panose="02020603050405020304" pitchFamily="18" charset="0"/>
                <a:cs typeface="Times New Roman" panose="02020603050405020304" pitchFamily="18" charset="0"/>
              </a:rPr>
              <a:t>Stochastic Uncertainty: </a:t>
            </a:r>
            <a:r>
              <a:rPr lang="en-US" sz="3200" dirty="0">
                <a:latin typeface="Times New Roman" panose="02020603050405020304" pitchFamily="18" charset="0"/>
                <a:cs typeface="Times New Roman" panose="02020603050405020304" pitchFamily="18" charset="0"/>
              </a:rPr>
              <a:t>Metaheuristics lack mathematical gradient proofs that the final solution is the absolute global minimum. </a:t>
            </a:r>
            <a:endParaRPr lang="en-US" sz="2400" dirty="0">
              <a:latin typeface="Times New Roman" panose="02020603050405020304" pitchFamily="18" charset="0"/>
              <a:cs typeface="Times New Roman" panose="02020603050405020304" pitchFamily="18" charset="0"/>
            </a:endParaRPr>
          </a:p>
          <a:p>
            <a:endParaRPr lang="en-GB" sz="3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9777CD-4032-360E-7A48-7FE9636D077A}"/>
              </a:ext>
            </a:extLst>
          </p:cNvPr>
          <p:cNvSpPr>
            <a:spLocks noGrp="1"/>
          </p:cNvSpPr>
          <p:nvPr>
            <p:ph type="sldNum" sz="quarter" idx="12"/>
          </p:nvPr>
        </p:nvSpPr>
        <p:spPr>
          <a:xfrm>
            <a:off x="11410950" y="6501638"/>
            <a:ext cx="521970" cy="308530"/>
          </a:xfrm>
        </p:spPr>
        <p:txBody>
          <a:bodyPr/>
          <a:lstStyle/>
          <a:p>
            <a:fld id="{E9C29D53-9981-884B-B5B6-B5743DF81FD1}" type="slidenum">
              <a:rPr lang="en-BD" smtClean="0"/>
              <a:t>22</a:t>
            </a:fld>
            <a:endParaRPr lang="en-BD"/>
          </a:p>
        </p:txBody>
      </p:sp>
      <p:sp>
        <p:nvSpPr>
          <p:cNvPr id="5" name="Date Placeholder 4">
            <a:extLst>
              <a:ext uri="{FF2B5EF4-FFF2-40B4-BE49-F238E27FC236}">
                <a16:creationId xmlns:a16="http://schemas.microsoft.com/office/drawing/2014/main" id="{A253DE9F-9C2B-2286-EFD9-A8CBE2B41F3C}"/>
              </a:ext>
            </a:extLst>
          </p:cNvPr>
          <p:cNvSpPr>
            <a:spLocks noGrp="1"/>
          </p:cNvSpPr>
          <p:nvPr>
            <p:ph type="dt" sz="half" idx="10"/>
          </p:nvPr>
        </p:nvSpPr>
        <p:spPr>
          <a:xfrm>
            <a:off x="432486" y="6501637"/>
            <a:ext cx="4825314" cy="375412"/>
          </a:xfrm>
        </p:spPr>
        <p:txBody>
          <a:bodyPr/>
          <a:lstStyle/>
          <a:p>
            <a:r>
              <a:rPr lang="en-US" dirty="0">
                <a:latin typeface="Times New Roman"/>
              </a:rPr>
              <a:t>EEE 306 – Power System I Laboratory</a:t>
            </a:r>
            <a:endParaRPr lang="en-BD" dirty="0">
              <a:latin typeface="Times New Roman"/>
            </a:endParaRPr>
          </a:p>
        </p:txBody>
      </p:sp>
    </p:spTree>
    <p:extLst>
      <p:ext uri="{BB962C8B-B14F-4D97-AF65-F5344CB8AC3E}">
        <p14:creationId xmlns:p14="http://schemas.microsoft.com/office/powerpoint/2010/main" val="4216238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850A9-486E-98B7-94AE-69D57B9CA8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8AEB72-04A2-4311-F640-2759A10EF5BD}"/>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C629D546-8FB0-B085-DB47-E52BEA233413}"/>
              </a:ext>
            </a:extLst>
          </p:cNvPr>
          <p:cNvSpPr>
            <a:spLocks noGrp="1"/>
          </p:cNvSpPr>
          <p:nvPr>
            <p:ph type="dt" sz="half" idx="10"/>
          </p:nvPr>
        </p:nvSpPr>
        <p:spPr/>
        <p:txBody>
          <a:bodyPr/>
          <a:lstStyle/>
          <a:p>
            <a:r>
              <a:rPr lang="en-US" dirty="0">
                <a:latin typeface="Times New Roman"/>
                <a:cs typeface="Times New Roman"/>
              </a:rPr>
              <a:t>EEE 416 (2022) – Final Project Group </a:t>
            </a:r>
            <a:endParaRPr lang="en-BD" dirty="0">
              <a:latin typeface="Times New Roman"/>
              <a:cs typeface="Times New Roman"/>
            </a:endParaRPr>
          </a:p>
        </p:txBody>
      </p:sp>
      <p:sp>
        <p:nvSpPr>
          <p:cNvPr id="5" name="Footer Placeholder 4">
            <a:extLst>
              <a:ext uri="{FF2B5EF4-FFF2-40B4-BE49-F238E27FC236}">
                <a16:creationId xmlns:a16="http://schemas.microsoft.com/office/drawing/2014/main" id="{3C1600AB-AD2F-48FF-F9A6-6B63A1739D59}"/>
              </a:ext>
            </a:extLst>
          </p:cNvPr>
          <p:cNvSpPr>
            <a:spLocks noGrp="1"/>
          </p:cNvSpPr>
          <p:nvPr>
            <p:ph type="ftr" sz="quarter" idx="11"/>
          </p:nvPr>
        </p:nvSpPr>
        <p:spPr/>
        <p:txBody>
          <a:bodyPr/>
          <a:lstStyle/>
          <a:p>
            <a:pPr algn="ctr"/>
            <a:r>
              <a:rPr lang="en-BD">
                <a:latin typeface="Times New Roman"/>
                <a:cs typeface="Times New Roman"/>
              </a:rPr>
              <a:t>Title of the Project</a:t>
            </a:r>
            <a:endParaRPr lang="en-BD" dirty="0">
              <a:latin typeface="Times New Roman"/>
              <a:cs typeface="Times New Roman"/>
            </a:endParaRPr>
          </a:p>
        </p:txBody>
      </p:sp>
      <p:sp>
        <p:nvSpPr>
          <p:cNvPr id="6" name="Slide Number Placeholder 5">
            <a:extLst>
              <a:ext uri="{FF2B5EF4-FFF2-40B4-BE49-F238E27FC236}">
                <a16:creationId xmlns:a16="http://schemas.microsoft.com/office/drawing/2014/main" id="{FCC0C38A-6F2B-305F-05EA-C8F6C224C945}"/>
              </a:ext>
            </a:extLst>
          </p:cNvPr>
          <p:cNvSpPr>
            <a:spLocks noGrp="1"/>
          </p:cNvSpPr>
          <p:nvPr>
            <p:ph type="sldNum" sz="quarter" idx="12"/>
          </p:nvPr>
        </p:nvSpPr>
        <p:spPr/>
        <p:txBody>
          <a:bodyPr/>
          <a:lstStyle/>
          <a:p>
            <a:fld id="{E9C29D53-9981-884B-B5B6-B5743DF81FD1}" type="slidenum">
              <a:rPr lang="en-BD" smtClean="0">
                <a:latin typeface="Times New Roman"/>
                <a:cs typeface="Times New Roman"/>
              </a:rPr>
              <a:pPr/>
              <a:t>23</a:t>
            </a:fld>
            <a:endParaRPr lang="en-BD" dirty="0">
              <a:latin typeface="Times New Roman"/>
              <a:cs typeface="Times New Roman"/>
            </a:endParaRPr>
          </a:p>
        </p:txBody>
      </p:sp>
      <p:pic>
        <p:nvPicPr>
          <p:cNvPr id="8" name="Picture 7">
            <a:extLst>
              <a:ext uri="{FF2B5EF4-FFF2-40B4-BE49-F238E27FC236}">
                <a16:creationId xmlns:a16="http://schemas.microsoft.com/office/drawing/2014/main" id="{F9B2141C-765E-AE41-3AF9-4F165C83A086}"/>
              </a:ext>
            </a:extLst>
          </p:cNvPr>
          <p:cNvPicPr>
            <a:picLocks noChangeAspect="1"/>
          </p:cNvPicPr>
          <p:nvPr/>
        </p:nvPicPr>
        <p:blipFill>
          <a:blip r:embed="rId2"/>
          <a:stretch>
            <a:fillRect/>
          </a:stretch>
        </p:blipFill>
        <p:spPr>
          <a:xfrm>
            <a:off x="0" y="-47832"/>
            <a:ext cx="12192000" cy="6858000"/>
          </a:xfrm>
          <a:prstGeom prst="rect">
            <a:avLst/>
          </a:prstGeom>
        </p:spPr>
      </p:pic>
      <p:sp>
        <p:nvSpPr>
          <p:cNvPr id="10" name="Rectangle 9">
            <a:extLst>
              <a:ext uri="{FF2B5EF4-FFF2-40B4-BE49-F238E27FC236}">
                <a16:creationId xmlns:a16="http://schemas.microsoft.com/office/drawing/2014/main" id="{8C0D17E1-8D44-ABBD-988E-A11A28E96860}"/>
              </a:ext>
            </a:extLst>
          </p:cNvPr>
          <p:cNvSpPr/>
          <p:nvPr/>
        </p:nvSpPr>
        <p:spPr>
          <a:xfrm>
            <a:off x="11759514" y="6528712"/>
            <a:ext cx="260985" cy="254381"/>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3E27AFB-B9E3-A65A-2304-3F2F1BEF5EC7}"/>
              </a:ext>
            </a:extLst>
          </p:cNvPr>
          <p:cNvSpPr txBox="1"/>
          <p:nvPr/>
        </p:nvSpPr>
        <p:spPr>
          <a:xfrm>
            <a:off x="11671935" y="6449938"/>
            <a:ext cx="521970" cy="369332"/>
          </a:xfrm>
          <a:prstGeom prst="rect">
            <a:avLst/>
          </a:prstGeom>
          <a:noFill/>
        </p:spPr>
        <p:txBody>
          <a:bodyPr wrap="square" rtlCol="0">
            <a:spAutoFit/>
          </a:bodyPr>
          <a:lstStyle/>
          <a:p>
            <a:r>
              <a:rPr lang="en-US" b="1" dirty="0">
                <a:solidFill>
                  <a:schemeClr val="bg1"/>
                </a:solidFill>
              </a:rPr>
              <a:t>23</a:t>
            </a:r>
          </a:p>
        </p:txBody>
      </p:sp>
    </p:spTree>
    <p:extLst>
      <p:ext uri="{BB962C8B-B14F-4D97-AF65-F5344CB8AC3E}">
        <p14:creationId xmlns:p14="http://schemas.microsoft.com/office/powerpoint/2010/main" val="884942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8394-81FC-9718-C3C6-AD14D0856E52}"/>
              </a:ext>
            </a:extLst>
          </p:cNvPr>
          <p:cNvSpPr>
            <a:spLocks noGrp="1"/>
          </p:cNvSpPr>
          <p:nvPr>
            <p:ph type="title"/>
          </p:nvPr>
        </p:nvSpPr>
        <p:spPr>
          <a:xfrm>
            <a:off x="1066800" y="173758"/>
            <a:ext cx="10058400" cy="729006"/>
          </a:xfrm>
        </p:spPr>
        <p:txBody>
          <a:bodyPr/>
          <a:lstStyle/>
          <a:p>
            <a:pPr algn="ctr"/>
            <a:r>
              <a:rPr lang="en-GB" b="1" dirty="0">
                <a:solidFill>
                  <a:srgbClr val="C00000"/>
                </a:solidFill>
                <a:latin typeface="Times New Roman" panose="02010803020104030203" pitchFamily="2" charset="-79"/>
                <a:cs typeface="Times New Roman" panose="02010803020104030203" pitchFamily="2" charset="-79"/>
              </a:rPr>
              <a:t>7. Future Work</a:t>
            </a:r>
          </a:p>
        </p:txBody>
      </p:sp>
      <p:sp>
        <p:nvSpPr>
          <p:cNvPr id="3" name="Content Placeholder 2">
            <a:extLst>
              <a:ext uri="{FF2B5EF4-FFF2-40B4-BE49-F238E27FC236}">
                <a16:creationId xmlns:a16="http://schemas.microsoft.com/office/drawing/2014/main" id="{534A2677-3FFB-8A8B-1C49-4DD306231CD7}"/>
              </a:ext>
            </a:extLst>
          </p:cNvPr>
          <p:cNvSpPr>
            <a:spLocks noGrp="1"/>
          </p:cNvSpPr>
          <p:nvPr>
            <p:ph idx="1"/>
          </p:nvPr>
        </p:nvSpPr>
        <p:spPr>
          <a:xfrm>
            <a:off x="348792" y="913132"/>
            <a:ext cx="11584127" cy="5195437"/>
          </a:xfrm>
        </p:spPr>
        <p:txBody>
          <a:bodyPr>
            <a:normAutofit fontScale="92500"/>
          </a:bodyPr>
          <a:lstStyle/>
          <a:p>
            <a:pPr marR="0">
              <a:lnSpc>
                <a:spcPct val="115000"/>
              </a:lnSpc>
              <a:spcAft>
                <a:spcPts val="800"/>
              </a:spcAft>
              <a:buFont typeface="Wingdings" panose="05000000000000000000" pitchFamily="2" charset="2"/>
              <a:buChar char="§"/>
            </a:pPr>
            <a:r>
              <a:rPr lang="en-US" sz="24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To further enhance the robustness of this optimization framework, future iterations should incorporate the following developments: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0" lvl="0">
              <a:lnSpc>
                <a:spcPct val="115000"/>
              </a:lnSpc>
              <a:spcAft>
                <a:spcPts val="800"/>
              </a:spcAft>
              <a:buSzPct val="70000"/>
              <a:buFont typeface="Wingdings" panose="05000000000000000000" pitchFamily="2" charset="2"/>
              <a:buChar char="v"/>
              <a:tabLst>
                <a:tab pos="457200" algn="l"/>
              </a:tabLst>
            </a:pPr>
            <a:r>
              <a:rPr lang="en-US"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Dynamic ZIP Load Modeling:</a:t>
            </a:r>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Transitioning from static Constant Power (PQ) load models to voltage-dependent ZIP (Impedance, Current, Power) models to evaluate optimization performance under dynamic, non-linear load variations.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0" lvl="0">
              <a:lnSpc>
                <a:spcPct val="115000"/>
              </a:lnSpc>
              <a:spcAft>
                <a:spcPts val="800"/>
              </a:spcAft>
              <a:buSzPct val="70000"/>
              <a:buFont typeface="Wingdings" panose="05000000000000000000" pitchFamily="2" charset="2"/>
              <a:buChar char="v"/>
              <a:tabLst>
                <a:tab pos="457200" algn="l"/>
              </a:tabLst>
            </a:pPr>
            <a:r>
              <a:rPr lang="en-US"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N-1 Contingency Optimization:</a:t>
            </a:r>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Integrating the PSS®E ACCC (AC Contingency Calculation) module into the Python fitness function. This would force the PSO to allocate capacitor banks such that the grid remains stable even if the largest generator or transmission line unexpectedly trips.</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0" lvl="0">
              <a:lnSpc>
                <a:spcPct val="115000"/>
              </a:lnSpc>
              <a:spcAft>
                <a:spcPts val="800"/>
              </a:spcAft>
              <a:buSzPct val="70000"/>
              <a:buFont typeface="Wingdings" panose="05000000000000000000" pitchFamily="2" charset="2"/>
              <a:buChar char="v"/>
              <a:tabLst>
                <a:tab pos="457200" algn="l"/>
              </a:tabLst>
            </a:pPr>
            <a:r>
              <a:rPr lang="en-US"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Parallel Processing:</a:t>
            </a:r>
            <a:r>
              <a:rPr lang="en-US" sz="2400"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0" dirty="0">
                <a:solidFill>
                  <a:srgbClr val="1F1F1F"/>
                </a:solidFill>
                <a:effectLst/>
                <a:latin typeface="Times New Roman" panose="02020603050405020304" pitchFamily="18" charset="0"/>
                <a:ea typeface="Times New Roman" panose="02020603050405020304" pitchFamily="18" charset="0"/>
                <a:cs typeface="Times New Roman" panose="02020603050405020304" pitchFamily="18" charset="0"/>
              </a:rPr>
              <a:t>Circumventing the single-thread limitation of psspy by deploying the algorithm across multiple independent Python virtual environments or Docker containers, thereby evaluating multiple load flows simultaneously to drastically reduce execution time.</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EE4CD65-F7E3-85C7-2513-9C679DCD7A5F}"/>
              </a:ext>
            </a:extLst>
          </p:cNvPr>
          <p:cNvSpPr>
            <a:spLocks noGrp="1"/>
          </p:cNvSpPr>
          <p:nvPr>
            <p:ph type="dt" sz="half" idx="10"/>
          </p:nvPr>
        </p:nvSpPr>
        <p:spPr/>
        <p:txBody>
          <a:bodyPr/>
          <a:lstStyle/>
          <a:p>
            <a:r>
              <a:rPr lang="en-US" dirty="0">
                <a:latin typeface="Times New Roman"/>
              </a:rPr>
              <a:t>EEE 306 – Power System I Laboratory</a:t>
            </a:r>
            <a:endParaRPr lang="en-BD" dirty="0">
              <a:latin typeface="Times New Roman"/>
            </a:endParaRPr>
          </a:p>
        </p:txBody>
      </p:sp>
      <p:sp>
        <p:nvSpPr>
          <p:cNvPr id="6" name="Slide Number Placeholder 5">
            <a:extLst>
              <a:ext uri="{FF2B5EF4-FFF2-40B4-BE49-F238E27FC236}">
                <a16:creationId xmlns:a16="http://schemas.microsoft.com/office/drawing/2014/main" id="{989081B2-77D4-F78C-BC42-5C78C11F4A6A}"/>
              </a:ext>
            </a:extLst>
          </p:cNvPr>
          <p:cNvSpPr>
            <a:spLocks noGrp="1"/>
          </p:cNvSpPr>
          <p:nvPr>
            <p:ph type="sldNum" sz="quarter" idx="12"/>
          </p:nvPr>
        </p:nvSpPr>
        <p:spPr/>
        <p:txBody>
          <a:bodyPr/>
          <a:lstStyle/>
          <a:p>
            <a:fld id="{E9C29D53-9981-884B-B5B6-B5743DF81FD1}" type="slidenum">
              <a:rPr lang="en-BD" smtClean="0">
                <a:latin typeface="Times New Roman"/>
                <a:cs typeface="Times New Roman"/>
              </a:rPr>
              <a:pPr/>
              <a:t>24</a:t>
            </a:fld>
            <a:endParaRPr lang="en-BD" dirty="0">
              <a:latin typeface="Times New Roman"/>
              <a:cs typeface="Times New Roman"/>
            </a:endParaRPr>
          </a:p>
        </p:txBody>
      </p:sp>
    </p:spTree>
    <p:extLst>
      <p:ext uri="{BB962C8B-B14F-4D97-AF65-F5344CB8AC3E}">
        <p14:creationId xmlns:p14="http://schemas.microsoft.com/office/powerpoint/2010/main" val="3674043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8394-81FC-9718-C3C6-AD14D0856E52}"/>
              </a:ext>
            </a:extLst>
          </p:cNvPr>
          <p:cNvSpPr>
            <a:spLocks noGrp="1"/>
          </p:cNvSpPr>
          <p:nvPr>
            <p:ph type="title"/>
          </p:nvPr>
        </p:nvSpPr>
        <p:spPr>
          <a:xfrm>
            <a:off x="685800" y="43536"/>
            <a:ext cx="10820400" cy="553972"/>
          </a:xfrm>
        </p:spPr>
        <p:txBody>
          <a:bodyPr>
            <a:normAutofit/>
          </a:bodyPr>
          <a:lstStyle/>
          <a:p>
            <a:pPr algn="ctr"/>
            <a:r>
              <a:rPr lang="en-GB" sz="3200" dirty="0">
                <a:solidFill>
                  <a:srgbClr val="C00000"/>
                </a:solidFill>
                <a:latin typeface="Times New Roman" panose="02010803020104030203" pitchFamily="2" charset="-79"/>
                <a:cs typeface="Times New Roman" panose="02010803020104030203" pitchFamily="2" charset="-79"/>
              </a:rPr>
              <a:t>8.Course Outcomes (CO) &amp; Program Outcomes (PO) Mapping</a:t>
            </a:r>
          </a:p>
        </p:txBody>
      </p:sp>
      <p:sp>
        <p:nvSpPr>
          <p:cNvPr id="3" name="Content Placeholder 2">
            <a:extLst>
              <a:ext uri="{FF2B5EF4-FFF2-40B4-BE49-F238E27FC236}">
                <a16:creationId xmlns:a16="http://schemas.microsoft.com/office/drawing/2014/main" id="{534A2677-3FFB-8A8B-1C49-4DD306231CD7}"/>
              </a:ext>
            </a:extLst>
          </p:cNvPr>
          <p:cNvSpPr>
            <a:spLocks noGrp="1"/>
          </p:cNvSpPr>
          <p:nvPr>
            <p:ph idx="1"/>
          </p:nvPr>
        </p:nvSpPr>
        <p:spPr>
          <a:xfrm>
            <a:off x="457200" y="539800"/>
            <a:ext cx="11277600" cy="461665"/>
          </a:xfrm>
        </p:spPr>
        <p:txBody>
          <a:bodyPr>
            <a:normAutofit fontScale="92500"/>
          </a:bodyPr>
          <a:lstStyle/>
          <a:p>
            <a:pPr marR="0">
              <a:lnSpc>
                <a:spcPct val="115000"/>
              </a:lnSpc>
              <a:spcAft>
                <a:spcPts val="0"/>
              </a:spcAft>
              <a:buNone/>
            </a:pPr>
            <a:r>
              <a:rPr lang="en-US" sz="1800" b="1" kern="0" dirty="0">
                <a:solidFill>
                  <a:schemeClr val="tx2">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This design project fulfils the following EEE 306 Course Outcomes (CO) and their mapped Program Outcomes (PO):</a:t>
            </a:r>
            <a:endParaRPr lang="en-US" sz="1800" b="1" kern="100" dirty="0">
              <a:solidFill>
                <a:schemeClr val="tx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p:txBody>
      </p:sp>
      <p:graphicFrame>
        <p:nvGraphicFramePr>
          <p:cNvPr id="10" name="CO-PO Mapping Table"/>
          <p:cNvGraphicFramePr>
            <a:graphicFrameLocks noGrp="1"/>
          </p:cNvGraphicFramePr>
          <p:nvPr>
            <p:extLst>
              <p:ext uri="{D42A27DB-BD31-4B8C-83A1-F6EECF244321}">
                <p14:modId xmlns:p14="http://schemas.microsoft.com/office/powerpoint/2010/main" val="3698740958"/>
              </p:ext>
            </p:extLst>
          </p:nvPr>
        </p:nvGraphicFramePr>
        <p:xfrm>
          <a:off x="0" y="943756"/>
          <a:ext cx="12192000" cy="5503125"/>
        </p:xfrm>
        <a:graphic>
          <a:graphicData uri="http://schemas.openxmlformats.org/drawingml/2006/table">
            <a:tbl>
              <a:tblPr firstRow="1">
                <a:tableStyleId>{5940675A-B579-460E-94D1-54222C63F5DA}</a:tableStyleId>
              </a:tblPr>
              <a:tblGrid>
                <a:gridCol w="867266">
                  <a:extLst>
                    <a:ext uri="{9D8B030D-6E8A-4147-A177-3AD203B41FA5}">
                      <a16:colId xmlns:a16="http://schemas.microsoft.com/office/drawing/2014/main" val="20000"/>
                    </a:ext>
                  </a:extLst>
                </a:gridCol>
                <a:gridCol w="1933598">
                  <a:extLst>
                    <a:ext uri="{9D8B030D-6E8A-4147-A177-3AD203B41FA5}">
                      <a16:colId xmlns:a16="http://schemas.microsoft.com/office/drawing/2014/main" val="20001"/>
                    </a:ext>
                  </a:extLst>
                </a:gridCol>
                <a:gridCol w="9391136">
                  <a:extLst>
                    <a:ext uri="{9D8B030D-6E8A-4147-A177-3AD203B41FA5}">
                      <a16:colId xmlns:a16="http://schemas.microsoft.com/office/drawing/2014/main" val="20002"/>
                    </a:ext>
                  </a:extLst>
                </a:gridCol>
              </a:tblGrid>
              <a:tr h="567235">
                <a:tc>
                  <a:txBody>
                    <a:bodyPr/>
                    <a:lstStyle/>
                    <a:p>
                      <a:pPr algn="ctr"/>
                      <a:r>
                        <a:rPr lang="en-US" sz="2200" b="1" dirty="0">
                          <a:solidFill>
                            <a:srgbClr val="FFFFFF"/>
                          </a:solidFill>
                          <a:latin typeface="Times New Roman" panose="02020603050405020304" pitchFamily="18" charset="0"/>
                          <a:cs typeface="Times New Roman" panose="02020603050405020304" pitchFamily="18" charset="0"/>
                        </a:rPr>
                        <a:t>CO</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C00000"/>
                    </a:solidFill>
                  </a:tcPr>
                </a:tc>
                <a:tc>
                  <a:txBody>
                    <a:bodyPr/>
                    <a:lstStyle/>
                    <a:p>
                      <a:pPr algn="ctr"/>
                      <a:r>
                        <a:rPr lang="en-US" sz="2100" b="1" dirty="0">
                          <a:solidFill>
                            <a:srgbClr val="FFFFFF"/>
                          </a:solidFill>
                          <a:latin typeface="Times New Roman" panose="02020603050405020304" pitchFamily="18" charset="0"/>
                          <a:cs typeface="Times New Roman" panose="02020603050405020304" pitchFamily="18" charset="0"/>
                        </a:rPr>
                        <a:t>Corresponding PO(s)</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C00000"/>
                    </a:solidFill>
                  </a:tcPr>
                </a:tc>
                <a:tc>
                  <a:txBody>
                    <a:bodyPr/>
                    <a:lstStyle/>
                    <a:p>
                      <a:pPr algn="ctr"/>
                      <a:r>
                        <a:rPr lang="en-US" sz="2800" b="1" dirty="0">
                          <a:solidFill>
                            <a:srgbClr val="FFFFFF"/>
                          </a:solidFill>
                          <a:latin typeface="Times New Roman" panose="02020603050405020304" pitchFamily="18" charset="0"/>
                          <a:cs typeface="Times New Roman" panose="02020603050405020304" pitchFamily="18" charset="0"/>
                        </a:rPr>
                        <a:t>How This Lab &amp; Project Address It</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C00000"/>
                    </a:solidFill>
                  </a:tcPr>
                </a:tc>
                <a:extLst>
                  <a:ext uri="{0D108BD9-81ED-4DB2-BD59-A6C34878D82A}">
                    <a16:rowId xmlns:a16="http://schemas.microsoft.com/office/drawing/2014/main" val="10000"/>
                  </a:ext>
                </a:extLst>
              </a:tr>
              <a:tr h="74644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CO3</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PO(e)</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Used Siemens PSS®E as the core power-flow analysis tool to model, simulate and study voltage profiles and losses on the IEEE 14-Bus and 39-Bus systems.</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extLst>
                  <a:ext uri="{0D108BD9-81ED-4DB2-BD59-A6C34878D82A}">
                    <a16:rowId xmlns:a16="http://schemas.microsoft.com/office/drawing/2014/main" val="10001"/>
                  </a:ext>
                </a:extLst>
              </a:tr>
              <a:tr h="102382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CO4</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PO(c)</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Investigated the impact of modifying transformer taps and adding shunt capacitor banks, then designed the GA/PSO-based system upgrade to correct the identified deficiencies.</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extLst>
                  <a:ext uri="{0D108BD9-81ED-4DB2-BD59-A6C34878D82A}">
                    <a16:rowId xmlns:a16="http://schemas.microsoft.com/office/drawing/2014/main" val="10002"/>
                  </a:ext>
                </a:extLst>
              </a:tr>
              <a:tr h="74644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CO5</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PO(c), PO(f), PO(g)</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Weighed technical feasibility, hardware cost, and environmental/safety impact of voltage violations while formulating the optimization objectives and constraints.</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extLst>
                  <a:ext uri="{0D108BD9-81ED-4DB2-BD59-A6C34878D82A}">
                    <a16:rowId xmlns:a16="http://schemas.microsoft.com/office/drawing/2014/main" val="10003"/>
                  </a:ext>
                </a:extLst>
              </a:tr>
              <a:tr h="74644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CO6</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PO(i)</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Worked as a team, dividing GA development, PSO development, testing and result validation among members throughout the project.</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extLst>
                  <a:ext uri="{0D108BD9-81ED-4DB2-BD59-A6C34878D82A}">
                    <a16:rowId xmlns:a16="http://schemas.microsoft.com/office/drawing/2014/main" val="10004"/>
                  </a:ext>
                </a:extLst>
              </a:tr>
              <a:tr h="74644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CO7</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PO(j)</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Communicated the design, methodology and results through this final presentation and the accompanying project report.</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FFFFF"/>
                    </a:solidFill>
                  </a:tcPr>
                </a:tc>
                <a:extLst>
                  <a:ext uri="{0D108BD9-81ED-4DB2-BD59-A6C34878D82A}">
                    <a16:rowId xmlns:a16="http://schemas.microsoft.com/office/drawing/2014/main" val="10005"/>
                  </a:ext>
                </a:extLst>
              </a:tr>
              <a:tr h="746445">
                <a:tc>
                  <a:txBody>
                    <a:bodyPr/>
                    <a:lstStyle/>
                    <a:p>
                      <a:pPr algn="ctr"/>
                      <a:r>
                        <a:rPr lang="en-US" sz="2200" b="1" dirty="0">
                          <a:solidFill>
                            <a:srgbClr val="C00000"/>
                          </a:solidFill>
                          <a:latin typeface="Times New Roman" panose="02020603050405020304" pitchFamily="18" charset="0"/>
                          <a:cs typeface="Times New Roman" panose="02020603050405020304" pitchFamily="18" charset="0"/>
                        </a:rPr>
                        <a:t>CO8</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ctr"/>
                      <a:r>
                        <a:rPr lang="en-US" sz="2200" b="1" dirty="0">
                          <a:solidFill>
                            <a:srgbClr val="1F1F1F"/>
                          </a:solidFill>
                          <a:latin typeface="Times New Roman" panose="02020603050405020304" pitchFamily="18" charset="0"/>
                          <a:cs typeface="Times New Roman" panose="02020603050405020304" pitchFamily="18" charset="0"/>
                        </a:rPr>
                        <a:t>PO(k)</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tc>
                  <a:txBody>
                    <a:bodyPr/>
                    <a:lstStyle/>
                    <a:p>
                      <a:pPr algn="l"/>
                      <a:r>
                        <a:rPr lang="en-US" sz="2000" b="0" dirty="0">
                          <a:solidFill>
                            <a:srgbClr val="1F1F1F"/>
                          </a:solidFill>
                          <a:latin typeface="Times New Roman" panose="02020603050405020304" pitchFamily="18" charset="0"/>
                          <a:cs typeface="Times New Roman" panose="02020603050405020304" pitchFamily="18" charset="0"/>
                        </a:rPr>
                        <a:t>Managed project milestones and evaluated computational cost, tracking up to 14,400 load-flow evaluations across both algorithms and both test systems.</a:t>
                      </a:r>
                    </a:p>
                  </a:txBody>
                  <a:tcPr anchor="ctr">
                    <a:lnL w="6350" cap="flat" cmpd="sng" algn="ctr">
                      <a:solidFill>
                        <a:srgbClr val="D9B3B3"/>
                      </a:solidFill>
                      <a:prstDash val="solid"/>
                    </a:lnL>
                    <a:lnR w="6350" cap="flat" cmpd="sng" algn="ctr">
                      <a:solidFill>
                        <a:srgbClr val="D9B3B3"/>
                      </a:solidFill>
                      <a:prstDash val="solid"/>
                    </a:lnR>
                    <a:lnT w="6350" cap="flat" cmpd="sng" algn="ctr">
                      <a:solidFill>
                        <a:srgbClr val="D9B3B3"/>
                      </a:solidFill>
                      <a:prstDash val="solid"/>
                    </a:lnT>
                    <a:lnB w="6350" cap="flat" cmpd="sng" algn="ctr">
                      <a:solidFill>
                        <a:srgbClr val="D9B3B3"/>
                      </a:solidFill>
                      <a:prstDash val="solid"/>
                    </a:lnB>
                    <a:solidFill>
                      <a:srgbClr val="FCE4E4"/>
                    </a:solidFill>
                  </a:tcPr>
                </a:tc>
                <a:extLst>
                  <a:ext uri="{0D108BD9-81ED-4DB2-BD59-A6C34878D82A}">
                    <a16:rowId xmlns:a16="http://schemas.microsoft.com/office/drawing/2014/main" val="10006"/>
                  </a:ext>
                </a:extLst>
              </a:tr>
            </a:tbl>
          </a:graphicData>
        </a:graphic>
      </p:graphicFrame>
      <p:sp>
        <p:nvSpPr>
          <p:cNvPr id="4" name="Date Placeholder 3">
            <a:extLst>
              <a:ext uri="{FF2B5EF4-FFF2-40B4-BE49-F238E27FC236}">
                <a16:creationId xmlns:a16="http://schemas.microsoft.com/office/drawing/2014/main" id="{0EE4CD65-F7E3-85C7-2513-9C679DCD7A5F}"/>
              </a:ext>
            </a:extLst>
          </p:cNvPr>
          <p:cNvSpPr>
            <a:spLocks noGrp="1"/>
          </p:cNvSpPr>
          <p:nvPr>
            <p:ph type="dt" sz="half" idx="10"/>
          </p:nvPr>
        </p:nvSpPr>
        <p:spPr/>
        <p:txBody>
          <a:bodyPr/>
          <a:lstStyle/>
          <a:p>
            <a:r>
              <a:rPr lang="en-US" dirty="0">
                <a:latin typeface="Times New Roman"/>
              </a:rPr>
              <a:t>EEE 306 – Power System I Laboratory</a:t>
            </a:r>
            <a:endParaRPr lang="en-BD" dirty="0">
              <a:latin typeface="Times New Roman"/>
            </a:endParaRPr>
          </a:p>
        </p:txBody>
      </p:sp>
      <p:sp>
        <p:nvSpPr>
          <p:cNvPr id="6" name="Slide Number Placeholder 5">
            <a:extLst>
              <a:ext uri="{FF2B5EF4-FFF2-40B4-BE49-F238E27FC236}">
                <a16:creationId xmlns:a16="http://schemas.microsoft.com/office/drawing/2014/main" id="{989081B2-77D4-F78C-BC42-5C78C11F4A6A}"/>
              </a:ext>
            </a:extLst>
          </p:cNvPr>
          <p:cNvSpPr>
            <a:spLocks noGrp="1"/>
          </p:cNvSpPr>
          <p:nvPr>
            <p:ph type="sldNum" sz="quarter" idx="12"/>
          </p:nvPr>
        </p:nvSpPr>
        <p:spPr/>
        <p:txBody>
          <a:bodyPr/>
          <a:lstStyle/>
          <a:p>
            <a:fld id="{E9C29D53-9981-884B-B5B6-B5743DF81FD1}" type="slidenum">
              <a:rPr lang="en-BD" smtClean="0">
                <a:latin typeface="Times New Roman"/>
                <a:cs typeface="Times New Roman"/>
              </a:rPr>
              <a:pPr/>
              <a:t>25</a:t>
            </a:fld>
            <a:endParaRPr lang="en-BD" dirty="0">
              <a:latin typeface="Times New Roman"/>
              <a:cs typeface="Times New Roman"/>
            </a:endParaRPr>
          </a:p>
        </p:txBody>
      </p:sp>
    </p:spTree>
    <p:extLst>
      <p:ext uri="{BB962C8B-B14F-4D97-AF65-F5344CB8AC3E}">
        <p14:creationId xmlns:p14="http://schemas.microsoft.com/office/powerpoint/2010/main" val="3674043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F11D-A416-0F4E-9F78-0DF2456C744E}"/>
              </a:ext>
            </a:extLst>
          </p:cNvPr>
          <p:cNvSpPr>
            <a:spLocks noGrp="1"/>
          </p:cNvSpPr>
          <p:nvPr>
            <p:ph type="title"/>
          </p:nvPr>
        </p:nvSpPr>
        <p:spPr>
          <a:xfrm>
            <a:off x="4258557" y="82263"/>
            <a:ext cx="3674883" cy="729006"/>
          </a:xfrm>
        </p:spPr>
        <p:txBody>
          <a:bodyPr/>
          <a:lstStyle/>
          <a:p>
            <a:pPr algn="ctr"/>
            <a:r>
              <a:rPr lang="en-US" dirty="0">
                <a:solidFill>
                  <a:srgbClr val="C00000"/>
                </a:solidFill>
                <a:latin typeface="Times New Roman" panose="02010803020104030203" pitchFamily="2" charset="-79"/>
                <a:cs typeface="Times New Roman" panose="02010803020104030203" pitchFamily="2" charset="-79"/>
              </a:rPr>
              <a:t>9.</a:t>
            </a:r>
            <a:r>
              <a:rPr lang="en-BD" dirty="0">
                <a:solidFill>
                  <a:srgbClr val="C00000"/>
                </a:solidFill>
                <a:latin typeface="Times New Roman" panose="02010803020104030203" pitchFamily="2" charset="-79"/>
                <a:cs typeface="Times New Roman" panose="02010803020104030203" pitchFamily="2" charset="-79"/>
              </a:rPr>
              <a:t>References</a:t>
            </a:r>
          </a:p>
        </p:txBody>
      </p:sp>
      <p:sp>
        <p:nvSpPr>
          <p:cNvPr id="4" name="Date Placeholder 3">
            <a:extLst>
              <a:ext uri="{FF2B5EF4-FFF2-40B4-BE49-F238E27FC236}">
                <a16:creationId xmlns:a16="http://schemas.microsoft.com/office/drawing/2014/main" id="{0DC25CA0-776A-F245-A1EB-5693AB3E5DE2}"/>
              </a:ext>
            </a:extLst>
          </p:cNvPr>
          <p:cNvSpPr>
            <a:spLocks noGrp="1"/>
          </p:cNvSpPr>
          <p:nvPr>
            <p:ph type="dt" sz="half" idx="10"/>
          </p:nvPr>
        </p:nvSpPr>
        <p:spPr>
          <a:xfrm>
            <a:off x="432485" y="6501637"/>
            <a:ext cx="3909769" cy="356363"/>
          </a:xfrm>
        </p:spPr>
        <p:txBody>
          <a:bodyPr/>
          <a:lstStyle/>
          <a:p>
            <a:r>
              <a:rPr lang="en-US" dirty="0">
                <a:latin typeface="Times New Roman"/>
              </a:rPr>
              <a:t>EEE 306 – Power System I Laboratory</a:t>
            </a:r>
            <a:endParaRPr lang="en-BD" dirty="0">
              <a:latin typeface="Times New Roman"/>
            </a:endParaRPr>
          </a:p>
        </p:txBody>
      </p:sp>
      <p:sp>
        <p:nvSpPr>
          <p:cNvPr id="6" name="Slide Number Placeholder 5">
            <a:extLst>
              <a:ext uri="{FF2B5EF4-FFF2-40B4-BE49-F238E27FC236}">
                <a16:creationId xmlns:a16="http://schemas.microsoft.com/office/drawing/2014/main" id="{D3D3A405-BAC8-CE44-AF2C-14F0689908F8}"/>
              </a:ext>
            </a:extLst>
          </p:cNvPr>
          <p:cNvSpPr>
            <a:spLocks noGrp="1"/>
          </p:cNvSpPr>
          <p:nvPr>
            <p:ph type="sldNum" sz="quarter" idx="12"/>
          </p:nvPr>
        </p:nvSpPr>
        <p:spPr>
          <a:xfrm>
            <a:off x="11401619" y="6501638"/>
            <a:ext cx="521970" cy="308530"/>
          </a:xfrm>
        </p:spPr>
        <p:txBody>
          <a:bodyPr/>
          <a:lstStyle/>
          <a:p>
            <a:fld id="{E9C29D53-9981-884B-B5B6-B5743DF81FD1}" type="slidenum">
              <a:rPr lang="en-BD" smtClean="0">
                <a:latin typeface="Times New Roman"/>
                <a:cs typeface="Times New Roman"/>
              </a:rPr>
              <a:t>26</a:t>
            </a:fld>
            <a:endParaRPr lang="en-BD">
              <a:latin typeface="Times New Roman"/>
              <a:cs typeface="Times New Roman"/>
            </a:endParaRPr>
          </a:p>
        </p:txBody>
      </p:sp>
      <p:sp>
        <p:nvSpPr>
          <p:cNvPr id="11" name="Rectangle 10">
            <a:extLst>
              <a:ext uri="{FF2B5EF4-FFF2-40B4-BE49-F238E27FC236}">
                <a16:creationId xmlns:a16="http://schemas.microsoft.com/office/drawing/2014/main" id="{F116BB2D-DEFF-4208-7196-CC701F9F6DE2}"/>
              </a:ext>
            </a:extLst>
          </p:cNvPr>
          <p:cNvSpPr/>
          <p:nvPr/>
        </p:nvSpPr>
        <p:spPr>
          <a:xfrm>
            <a:off x="129540" y="1003118"/>
            <a:ext cx="11932919" cy="5229315"/>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latin typeface="Times New Roman"/>
              <a:cs typeface="Times New Roman"/>
            </a:endParaRPr>
          </a:p>
        </p:txBody>
      </p:sp>
      <p:sp>
        <p:nvSpPr>
          <p:cNvPr id="9" name="Content Placeholder 8">
            <a:extLst>
              <a:ext uri="{FF2B5EF4-FFF2-40B4-BE49-F238E27FC236}">
                <a16:creationId xmlns:a16="http://schemas.microsoft.com/office/drawing/2014/main" id="{055F71E6-41A6-2671-68F1-9F51C96A02EE}"/>
              </a:ext>
            </a:extLst>
          </p:cNvPr>
          <p:cNvSpPr>
            <a:spLocks noGrp="1"/>
          </p:cNvSpPr>
          <p:nvPr>
            <p:ph idx="1"/>
          </p:nvPr>
        </p:nvSpPr>
        <p:spPr>
          <a:xfrm>
            <a:off x="129540" y="1003118"/>
            <a:ext cx="11932919" cy="5616490"/>
          </a:xfrm>
        </p:spPr>
        <p:txBody>
          <a:bodyPr>
            <a:normAutofit lnSpcReduction="10000"/>
          </a:bodyPr>
          <a:lstStyle/>
          <a:p>
            <a:pPr algn="just">
              <a:buClr>
                <a:schemeClr val="accent2">
                  <a:lumMod val="50000"/>
                </a:schemeClr>
              </a:buClr>
              <a:buFont typeface="Wingdings" panose="05000000000000000000" pitchFamily="2" charset="2"/>
              <a:buChar char="q"/>
            </a:pPr>
            <a:r>
              <a:rPr lang="en-US" sz="2800" spc="-150" dirty="0">
                <a:latin typeface="Times New Roman" panose="02020603050405020304" pitchFamily="18" charset="0"/>
                <a:cs typeface="Times New Roman" panose="02020603050405020304" pitchFamily="18" charset="0"/>
              </a:rPr>
              <a:t>I. </a:t>
            </a:r>
            <a:r>
              <a:rPr lang="en-US" sz="2800" spc="-150" dirty="0" err="1">
                <a:latin typeface="Times New Roman" panose="02020603050405020304" pitchFamily="18" charset="0"/>
                <a:cs typeface="Times New Roman" panose="02020603050405020304" pitchFamily="18" charset="0"/>
              </a:rPr>
              <a:t>Musirin</a:t>
            </a:r>
            <a:r>
              <a:rPr lang="en-US" sz="2800" spc="-150" dirty="0">
                <a:latin typeface="Times New Roman" panose="02020603050405020304" pitchFamily="18" charset="0"/>
                <a:cs typeface="Times New Roman" panose="02020603050405020304" pitchFamily="18" charset="0"/>
              </a:rPr>
              <a:t> and T. K. Abdul Rahman, "Voltage Stability Margin Enhancement Using Evolutionary Programming," IEEE Power Engineering Society General Meeting, pp. 1-6, 2007. </a:t>
            </a:r>
          </a:p>
          <a:p>
            <a:pPr algn="just">
              <a:buClr>
                <a:schemeClr val="accent2">
                  <a:lumMod val="50000"/>
                </a:schemeClr>
              </a:buClr>
              <a:buFont typeface="Wingdings" panose="05000000000000000000" pitchFamily="2" charset="2"/>
              <a:buChar char="q"/>
            </a:pPr>
            <a:r>
              <a:rPr lang="en-US" sz="2800" spc="-150" dirty="0">
                <a:latin typeface="Times New Roman" panose="02020603050405020304" pitchFamily="18" charset="0"/>
                <a:cs typeface="Times New Roman" panose="02020603050405020304" pitchFamily="18" charset="0"/>
              </a:rPr>
              <a:t> I. </a:t>
            </a:r>
            <a:r>
              <a:rPr lang="en-US" sz="2800" spc="-150" dirty="0" err="1">
                <a:latin typeface="Times New Roman" panose="02020603050405020304" pitchFamily="18" charset="0"/>
                <a:cs typeface="Times New Roman" panose="02020603050405020304" pitchFamily="18" charset="0"/>
              </a:rPr>
              <a:t>Musirin</a:t>
            </a:r>
            <a:r>
              <a:rPr lang="en-US" sz="2800" spc="-150" dirty="0">
                <a:latin typeface="Times New Roman" panose="02020603050405020304" pitchFamily="18" charset="0"/>
                <a:cs typeface="Times New Roman" panose="02020603050405020304" pitchFamily="18" charset="0"/>
              </a:rPr>
              <a:t> et al., "Improved genetic algorithms for loss </a:t>
            </a:r>
            <a:r>
              <a:rPr lang="en-US" sz="2800" spc="-150" dirty="0" err="1">
                <a:latin typeface="Times New Roman" panose="02020603050405020304" pitchFamily="18" charset="0"/>
                <a:cs typeface="Times New Roman" panose="02020603050405020304" pitchFamily="18" charset="0"/>
              </a:rPr>
              <a:t>minimisation</a:t>
            </a:r>
            <a:r>
              <a:rPr lang="en-US" sz="2800" spc="-150" dirty="0">
                <a:latin typeface="Times New Roman" panose="02020603050405020304" pitchFamily="18" charset="0"/>
                <a:cs typeface="Times New Roman" panose="02020603050405020304" pitchFamily="18" charset="0"/>
              </a:rPr>
              <a:t> in power system," International Journal of Power and Energy Systems, 2008. </a:t>
            </a:r>
          </a:p>
          <a:p>
            <a:pPr algn="just">
              <a:buClr>
                <a:schemeClr val="accent2">
                  <a:lumMod val="50000"/>
                </a:schemeClr>
              </a:buClr>
              <a:buFont typeface="Wingdings" panose="05000000000000000000" pitchFamily="2" charset="2"/>
              <a:buChar char="q"/>
            </a:pPr>
            <a:r>
              <a:rPr lang="en-US" sz="2800" spc="-150" dirty="0">
                <a:latin typeface="Times New Roman" panose="02020603050405020304" pitchFamily="18" charset="0"/>
                <a:cs typeface="Times New Roman" panose="02020603050405020304" pitchFamily="18" charset="0"/>
              </a:rPr>
              <a:t> Siemens PTI, PSS®E 36.0 Program Application Guide, Siemens Power Technologies International, 2024.</a:t>
            </a:r>
          </a:p>
          <a:p>
            <a:pPr algn="just">
              <a:buClr>
                <a:schemeClr val="accent2">
                  <a:lumMod val="50000"/>
                </a:schemeClr>
              </a:buClr>
              <a:buFont typeface="Wingdings" panose="05000000000000000000" pitchFamily="2" charset="2"/>
              <a:buChar char="q"/>
            </a:pPr>
            <a:r>
              <a:rPr lang="en-US" sz="2800" spc="-150" dirty="0">
                <a:latin typeface="Times New Roman" panose="02020603050405020304" pitchFamily="18" charset="0"/>
                <a:cs typeface="Times New Roman" panose="02020603050405020304" pitchFamily="18" charset="0"/>
              </a:rPr>
              <a:t> M. Clerc and J. Kennedy, "The particle swarm - explosion, stability, and convergence in a multidimensional complex space," IEEE Transactions on Evolutionary Computation, vol. 6, no. 1, pp. 58-73, Feb. 2002.</a:t>
            </a:r>
          </a:p>
          <a:p>
            <a:pPr algn="just">
              <a:buClr>
                <a:schemeClr val="accent2">
                  <a:lumMod val="50000"/>
                </a:schemeClr>
              </a:buClr>
              <a:buFont typeface="Wingdings" panose="05000000000000000000" pitchFamily="2" charset="2"/>
              <a:buChar char="q"/>
            </a:pPr>
            <a:r>
              <a:rPr lang="en-US" sz="2800" spc="-150" dirty="0">
                <a:latin typeface="Times New Roman" panose="02020603050405020304" pitchFamily="18" charset="0"/>
                <a:cs typeface="Times New Roman" panose="02020603050405020304" pitchFamily="18" charset="0"/>
              </a:rPr>
              <a:t>J. J. Grainger and W. D. Stevenson, Power System Analysis. New York, NY, USA: McGraw-Hill, 1994.</a:t>
            </a:r>
          </a:p>
          <a:p>
            <a:pPr algn="just">
              <a:buClr>
                <a:schemeClr val="accent2">
                  <a:lumMod val="50000"/>
                </a:schemeClr>
              </a:buClr>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5547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Times New Roman"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imes New Roman"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{05D23346-88B9-1E48-85E6-2D29E7791F05}tf10001067</Template>
  <TotalTime>2886</TotalTime>
  <Words>2140</Words>
  <Application>Microsoft Office PowerPoint</Application>
  <PresentationFormat>Widescreen</PresentationFormat>
  <Paragraphs>254</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Aharoni</vt:lpstr>
      <vt:lpstr>Arial</vt:lpstr>
      <vt:lpstr>Cambria Math</vt:lpstr>
      <vt:lpstr>Garamond</vt:lpstr>
      <vt:lpstr>Times New Roman</vt:lpstr>
      <vt:lpstr>Wingdings</vt:lpstr>
      <vt:lpstr>Savon</vt:lpstr>
      <vt:lpstr>Mitigating Transmission Losses and Fast Voltage Stability Index (FVSI) Evaluated Collapse using Genetic Algorithm and Particle Swarm Optimization in PSS®E</vt:lpstr>
      <vt:lpstr>Outline</vt:lpstr>
      <vt:lpstr>1. Summary</vt:lpstr>
      <vt:lpstr>2. Introduction</vt:lpstr>
      <vt:lpstr>3.1 Design: Problem Formulation (PO(b))</vt:lpstr>
      <vt:lpstr>PowerPoint Presentation</vt:lpstr>
      <vt:lpstr>3.2 Design Methods (PO(a))</vt:lpstr>
      <vt:lpstr>3.3 Design Consideration: Circuit Diagram ((PO(c))</vt:lpstr>
      <vt:lpstr>3.4 Design: Simulation - Fast Voltage Stability Index (FVSI) </vt:lpstr>
      <vt:lpstr>3.4 Design: Simulation- Genetic Algorithm (GA)</vt:lpstr>
      <vt:lpstr>3.4 Design: Simulation- Particle Swarm Optimization (PSO)Algorithm</vt:lpstr>
      <vt:lpstr>4. Investigation: Results and Analysis(PO(d))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Results and Analysis</vt:lpstr>
      <vt:lpstr>PowerPoint Presentation</vt:lpstr>
      <vt:lpstr> Limitations of Tools (PO(e))</vt:lpstr>
      <vt:lpstr>PowerPoint Presentation</vt:lpstr>
      <vt:lpstr>7. Future Work</vt:lpstr>
      <vt:lpstr>8.Course Outcomes (CO) &amp; Program Outcomes (PO) Mapping</vt:lpstr>
      <vt:lpstr>9.References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Sajid Muhaimin Choudhury</dc:creator>
  <cp:lastModifiedBy>2206122 - Md. Kawsar Ahmed</cp:lastModifiedBy>
  <cp:revision>227</cp:revision>
  <cp:lastPrinted>2023-06-08T10:53:35Z</cp:lastPrinted>
  <dcterms:created xsi:type="dcterms:W3CDTF">2021-07-11T09:27:00Z</dcterms:created>
  <dcterms:modified xsi:type="dcterms:W3CDTF">2026-09-28T08:09:30Z</dcterms:modified>
</cp:coreProperties>
</file>